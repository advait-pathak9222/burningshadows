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 cy="6858000"/>
          </a:xfrm>
          <a:prstGeom prst="rect">
            <a:avLst/>
          </a:prstGeom>
          <a:solidFill>
            <a:srgbClr val="3B07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51560"/>
            <a:ext cx="9144000" cy="274320"/>
          </a:xfrm>
          <a:prstGeom prst="rect">
            <a:avLst/>
          </a:prstGeom>
          <a:noFill/>
        </p:spPr>
        <p:txBody>
          <a:bodyPr wrap="square" lIns="0" rIns="0" tIns="0" bIns="0">
            <a:spAutoFit/>
          </a:bodyPr>
          <a:lstStyle/>
          <a:p>
            <a:pPr algn="l">
              <a:lnSpc>
                <a:spcPct val="100000"/>
              </a:lnSpc>
              <a:spcAft>
                <a:spcPts val="0"/>
              </a:spcAft>
            </a:pPr>
            <a:r>
              <a:rPr sz="1200" b="1">
                <a:solidFill>
                  <a:srgbClr val="6D28D9"/>
                </a:solidFill>
                <a:latin typeface="Segoe UI"/>
              </a:rPr>
              <a:t>ACCENTURE INNOVATION CHALLENGE 2026  .  ROUND 2  .  TRACK 1</a:t>
            </a:r>
          </a:p>
        </p:txBody>
      </p:sp>
      <p:sp>
        <p:nvSpPr>
          <p:cNvPr id="5" name="TextBox 4"/>
          <p:cNvSpPr txBox="1"/>
          <p:nvPr/>
        </p:nvSpPr>
        <p:spPr>
          <a:xfrm>
            <a:off x="1005840" y="1572768"/>
            <a:ext cx="9144000" cy="1005840"/>
          </a:xfrm>
          <a:prstGeom prst="rect">
            <a:avLst/>
          </a:prstGeom>
          <a:noFill/>
        </p:spPr>
        <p:txBody>
          <a:bodyPr wrap="square" lIns="0" rIns="0" tIns="0" bIns="0">
            <a:spAutoFit/>
          </a:bodyPr>
          <a:lstStyle/>
          <a:p>
            <a:pPr algn="l">
              <a:lnSpc>
                <a:spcPct val="100000"/>
              </a:lnSpc>
              <a:spcAft>
                <a:spcPts val="0"/>
              </a:spcAft>
            </a:pPr>
            <a:r>
              <a:rPr sz="6000" b="1">
                <a:solidFill>
                  <a:srgbClr val="17121F"/>
                </a:solidFill>
                <a:latin typeface="Segoe UI"/>
              </a:rPr>
              <a:t>ControlPlane</a:t>
            </a:r>
          </a:p>
        </p:txBody>
      </p:sp>
      <p:sp>
        <p:nvSpPr>
          <p:cNvPr id="6" name="TextBox 5"/>
          <p:cNvSpPr txBox="1"/>
          <p:nvPr/>
        </p:nvSpPr>
        <p:spPr>
          <a:xfrm>
            <a:off x="1005840" y="2578608"/>
            <a:ext cx="9144000" cy="457200"/>
          </a:xfrm>
          <a:prstGeom prst="rect">
            <a:avLst/>
          </a:prstGeom>
          <a:noFill/>
        </p:spPr>
        <p:txBody>
          <a:bodyPr wrap="square" lIns="0" rIns="0" tIns="0" bIns="0">
            <a:spAutoFit/>
          </a:bodyPr>
          <a:lstStyle/>
          <a:p>
            <a:pPr algn="l">
              <a:lnSpc>
                <a:spcPct val="100000"/>
              </a:lnSpc>
              <a:spcAft>
                <a:spcPts val="0"/>
              </a:spcAft>
            </a:pPr>
            <a:r>
              <a:rPr sz="2500" b="0">
                <a:solidFill>
                  <a:srgbClr val="6D28D9"/>
                </a:solidFill>
                <a:latin typeface="Segoe UI"/>
              </a:rPr>
              <a:t>Business Proposal</a:t>
            </a:r>
          </a:p>
        </p:txBody>
      </p:sp>
      <p:sp>
        <p:nvSpPr>
          <p:cNvPr id="7" name="Rectangle 6"/>
          <p:cNvSpPr/>
          <p:nvPr/>
        </p:nvSpPr>
        <p:spPr>
          <a:xfrm>
            <a:off x="1005840" y="3163824"/>
            <a:ext cx="1920240" cy="4318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456432"/>
            <a:ext cx="8778240" cy="1005840"/>
          </a:xfrm>
          <a:prstGeom prst="rect">
            <a:avLst/>
          </a:prstGeom>
          <a:noFill/>
        </p:spPr>
        <p:txBody>
          <a:bodyPr wrap="square" lIns="0" rIns="0" tIns="0" bIns="0">
            <a:spAutoFit/>
          </a:bodyPr>
          <a:lstStyle/>
          <a:p>
            <a:pPr algn="l">
              <a:lnSpc>
                <a:spcPct val="130000"/>
              </a:lnSpc>
              <a:spcAft>
                <a:spcPts val="0"/>
              </a:spcAft>
            </a:pPr>
            <a:r>
              <a:rPr sz="1500" b="0">
                <a:solidFill>
                  <a:srgbClr val="2E2838"/>
                </a:solidFill>
                <a:latin typeface="Segoe UI"/>
              </a:rPr>
              <a:t>Enterprises are putting AI in front of customers, staff and money. The cost of checking what it says is becoming a line item nobody planned for, and most of that line item is people. This is a proposal to spend it deliberately.</a:t>
            </a:r>
          </a:p>
        </p:txBody>
      </p:sp>
      <p:sp>
        <p:nvSpPr>
          <p:cNvPr id="9" name="Rectangle 8"/>
          <p:cNvSpPr/>
          <p:nvPr/>
        </p:nvSpPr>
        <p:spPr>
          <a:xfrm>
            <a:off x="1005840" y="4800600"/>
            <a:ext cx="2455164"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928616"/>
            <a:ext cx="2455164"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81 to 98%</a:t>
            </a:r>
          </a:p>
        </p:txBody>
      </p:sp>
      <p:sp>
        <p:nvSpPr>
          <p:cNvPr id="11" name="TextBox 10"/>
          <p:cNvSpPr txBox="1"/>
          <p:nvPr/>
        </p:nvSpPr>
        <p:spPr>
          <a:xfrm>
            <a:off x="1005840" y="5367528"/>
            <a:ext cx="2455164"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of the assurance bill is human review time, not compute</a:t>
            </a:r>
          </a:p>
        </p:txBody>
      </p:sp>
      <p:sp>
        <p:nvSpPr>
          <p:cNvPr id="12" name="Rectangle 11"/>
          <p:cNvSpPr/>
          <p:nvPr/>
        </p:nvSpPr>
        <p:spPr>
          <a:xfrm>
            <a:off x="3662172" y="4800600"/>
            <a:ext cx="2455164"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62172" y="4928616"/>
            <a:ext cx="2455164"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37.5x</a:t>
            </a:r>
          </a:p>
        </p:txBody>
      </p:sp>
      <p:sp>
        <p:nvSpPr>
          <p:cNvPr id="14" name="TextBox 13"/>
          <p:cNvSpPr txBox="1"/>
          <p:nvPr/>
        </p:nvSpPr>
        <p:spPr>
          <a:xfrm>
            <a:off x="3662172" y="5367528"/>
            <a:ext cx="2455164"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what one review costs against the dearest automated check</a:t>
            </a:r>
          </a:p>
        </p:txBody>
      </p:sp>
      <p:sp>
        <p:nvSpPr>
          <p:cNvPr id="15" name="Rectangle 14"/>
          <p:cNvSpPr/>
          <p:nvPr/>
        </p:nvSpPr>
        <p:spPr>
          <a:xfrm>
            <a:off x="6318504" y="4800600"/>
            <a:ext cx="2455164"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8504" y="4928616"/>
            <a:ext cx="2455164"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1.59x</a:t>
            </a:r>
          </a:p>
        </p:txBody>
      </p:sp>
      <p:sp>
        <p:nvSpPr>
          <p:cNvPr id="17" name="TextBox 16"/>
          <p:cNvSpPr txBox="1"/>
          <p:nvPr/>
        </p:nvSpPr>
        <p:spPr>
          <a:xfrm>
            <a:off x="6318504" y="5367528"/>
            <a:ext cx="2455164"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more expected loss handled from the same reviewer hours</a:t>
            </a:r>
          </a:p>
        </p:txBody>
      </p:sp>
      <p:sp>
        <p:nvSpPr>
          <p:cNvPr id="18" name="Rectangle 17"/>
          <p:cNvSpPr/>
          <p:nvPr/>
        </p:nvSpPr>
        <p:spPr>
          <a:xfrm>
            <a:off x="8974836" y="4800600"/>
            <a:ext cx="2455164"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74836" y="4928616"/>
            <a:ext cx="2455164"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8 weeks</a:t>
            </a:r>
          </a:p>
        </p:txBody>
      </p:sp>
      <p:sp>
        <p:nvSpPr>
          <p:cNvPr id="20" name="TextBox 19"/>
          <p:cNvSpPr txBox="1"/>
          <p:nvPr/>
        </p:nvSpPr>
        <p:spPr>
          <a:xfrm>
            <a:off x="8974836" y="5367528"/>
            <a:ext cx="2455164"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to a decision, on one route, with no enforcement risk</a:t>
            </a:r>
          </a:p>
        </p:txBody>
      </p:sp>
      <p:sp>
        <p:nvSpPr>
          <p:cNvPr id="21" name="TextBox 20"/>
          <p:cNvSpPr txBox="1"/>
          <p:nvPr/>
        </p:nvSpPr>
        <p:spPr>
          <a:xfrm>
            <a:off x="1005840" y="6272784"/>
            <a:ext cx="10058400" cy="274320"/>
          </a:xfrm>
          <a:prstGeom prst="rect">
            <a:avLst/>
          </a:prstGeom>
          <a:noFill/>
        </p:spPr>
        <p:txBody>
          <a:bodyPr wrap="square" lIns="0" rIns="0" tIns="0" bIns="0">
            <a:spAutoFit/>
          </a:bodyPr>
          <a:lstStyle/>
          <a:p>
            <a:pPr algn="l">
              <a:lnSpc>
                <a:spcPct val="100000"/>
              </a:lnSpc>
              <a:spcAft>
                <a:spcPts val="0"/>
              </a:spcAft>
            </a:pPr>
            <a:r>
              <a:rPr sz="1000" b="0">
                <a:solidFill>
                  <a:srgbClr val="6B6478"/>
                </a:solidFill>
                <a:latin typeface="Segoe UI"/>
              </a:rPr>
              <a:t>Team BurningShadows   .   Prepared for enterprise AI platform and risk owners   .   The ask is one route, one shadow pilot, eight weeks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THE CASE IN ONE SLIDE</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Executive summary</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2</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Business Proposal</a:t>
            </a:r>
          </a:p>
        </p:txBody>
      </p:sp>
      <p:sp>
        <p:nvSpPr>
          <p:cNvPr id="8" name="TextBox 7"/>
          <p:cNvSpPr txBox="1"/>
          <p:nvPr/>
        </p:nvSpPr>
        <p:spPr>
          <a:xfrm>
            <a:off x="685800" y="1481328"/>
            <a:ext cx="10817352" cy="731520"/>
          </a:xfrm>
          <a:prstGeom prst="rect">
            <a:avLst/>
          </a:prstGeom>
          <a:noFill/>
        </p:spPr>
        <p:txBody>
          <a:bodyPr wrap="square" lIns="0" rIns="0" tIns="0" bIns="0">
            <a:spAutoFit/>
          </a:bodyPr>
          <a:lstStyle/>
          <a:p>
            <a:pPr algn="l">
              <a:lnSpc>
                <a:spcPct val="128000"/>
              </a:lnSpc>
              <a:spcAft>
                <a:spcPts val="0"/>
              </a:spcAft>
            </a:pPr>
            <a:r>
              <a:rPr sz="1600" b="0">
                <a:solidFill>
                  <a:srgbClr val="2E2838"/>
                </a:solidFill>
                <a:latin typeface="Segoe UI"/>
              </a:rPr>
              <a:t>Every enterprise deploying AI assistants has quietly acquired a new operating cost. Somebody has to check what the model says before it reaches a customer or moves money. That cost is growing faster than the AI spend it protects, and almost nobody is managing it.</a:t>
            </a:r>
          </a:p>
        </p:txBody>
      </p:sp>
      <p:sp>
        <p:nvSpPr>
          <p:cNvPr id="9" name="TextBox 8"/>
          <p:cNvSpPr txBox="1"/>
          <p:nvPr/>
        </p:nvSpPr>
        <p:spPr>
          <a:xfrm>
            <a:off x="685800" y="2432304"/>
            <a:ext cx="10817352" cy="777240"/>
          </a:xfrm>
          <a:prstGeom prst="rect">
            <a:avLst/>
          </a:prstGeom>
          <a:noFill/>
        </p:spPr>
        <p:txBody>
          <a:bodyPr wrap="square" lIns="0" rIns="0" tIns="0" bIns="0">
            <a:spAutoFit/>
          </a:bodyPr>
          <a:lstStyle/>
          <a:p>
            <a:pPr>
              <a:lnSpc>
                <a:spcPct val="128000"/>
              </a:lnSpc>
            </a:pPr>
            <a:r>
              <a:rPr sz="1600" b="1">
                <a:solidFill>
                  <a:srgbClr val="17121F"/>
                </a:solidFill>
                <a:latin typeface="Segoe UI"/>
              </a:rPr>
              <a:t>ControlPlane prices the difference. </a:t>
            </a:r>
            <a:r>
              <a:rPr sz="1600" b="0">
                <a:solidFill>
                  <a:srgbClr val="2E2838"/>
                </a:solidFill>
                <a:latin typeface="Segoe UI"/>
              </a:rPr>
              <a:t>It estimates what it would cost the business if a given answer were wrong, and buys checking only where the loss prevented is worth more than the check. A safety floor sits underneath that the budget cannot switch off.</a:t>
            </a:r>
          </a:p>
        </p:txBody>
      </p:sp>
      <p:sp>
        <p:nvSpPr>
          <p:cNvPr id="10" name="Rectangle 9"/>
          <p:cNvSpPr/>
          <p:nvPr/>
        </p:nvSpPr>
        <p:spPr>
          <a:xfrm>
            <a:off x="685800" y="3520440"/>
            <a:ext cx="255346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648456"/>
            <a:ext cx="255346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92.8%</a:t>
            </a:r>
          </a:p>
        </p:txBody>
      </p:sp>
      <p:sp>
        <p:nvSpPr>
          <p:cNvPr id="12" name="TextBox 11"/>
          <p:cNvSpPr txBox="1"/>
          <p:nvPr/>
        </p:nvSpPr>
        <p:spPr>
          <a:xfrm>
            <a:off x="685800" y="4087368"/>
            <a:ext cx="255346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of the protection of checking every answer, for 10% of the compute</a:t>
            </a:r>
          </a:p>
        </p:txBody>
      </p:sp>
      <p:sp>
        <p:nvSpPr>
          <p:cNvPr id="13" name="Rectangle 12"/>
          <p:cNvSpPr/>
          <p:nvPr/>
        </p:nvSpPr>
        <p:spPr>
          <a:xfrm>
            <a:off x="3440430" y="3520440"/>
            <a:ext cx="255346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40430" y="3648456"/>
            <a:ext cx="255346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4.29x</a:t>
            </a:r>
          </a:p>
        </p:txBody>
      </p:sp>
      <p:sp>
        <p:nvSpPr>
          <p:cNvPr id="15" name="TextBox 14"/>
          <p:cNvSpPr txBox="1"/>
          <p:nvPr/>
        </p:nvSpPr>
        <p:spPr>
          <a:xfrm>
            <a:off x="3440430" y="4087368"/>
            <a:ext cx="255346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more loss left on the table by doing nothing at all</a:t>
            </a:r>
          </a:p>
        </p:txBody>
      </p:sp>
      <p:sp>
        <p:nvSpPr>
          <p:cNvPr id="16" name="Rectangle 15"/>
          <p:cNvSpPr/>
          <p:nvPr/>
        </p:nvSpPr>
        <p:spPr>
          <a:xfrm>
            <a:off x="6195060" y="3520440"/>
            <a:ext cx="255346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5060" y="3648456"/>
            <a:ext cx="255346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2 of 15</a:t>
            </a:r>
          </a:p>
        </p:txBody>
      </p:sp>
      <p:sp>
        <p:nvSpPr>
          <p:cNvPr id="18" name="TextBox 17"/>
          <p:cNvSpPr txBox="1"/>
          <p:nvPr/>
        </p:nvSpPr>
        <p:spPr>
          <a:xfrm>
            <a:off x="6195060" y="4087368"/>
            <a:ext cx="255346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high value cases dropped by our review order, against 15 by first in first out</a:t>
            </a:r>
          </a:p>
        </p:txBody>
      </p:sp>
      <p:sp>
        <p:nvSpPr>
          <p:cNvPr id="19" name="Rectangle 18"/>
          <p:cNvSpPr/>
          <p:nvPr/>
        </p:nvSpPr>
        <p:spPr>
          <a:xfrm>
            <a:off x="8949690" y="3520440"/>
            <a:ext cx="255346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49690" y="3648456"/>
            <a:ext cx="255346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0%</a:t>
            </a:r>
          </a:p>
        </p:txBody>
      </p:sp>
      <p:sp>
        <p:nvSpPr>
          <p:cNvPr id="21" name="TextBox 20"/>
          <p:cNvSpPr txBox="1"/>
          <p:nvPr/>
        </p:nvSpPr>
        <p:spPr>
          <a:xfrm>
            <a:off x="8949690" y="4087368"/>
            <a:ext cx="255346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of verdicts change when every price assumption is swung four fold</a:t>
            </a:r>
          </a:p>
        </p:txBody>
      </p:sp>
      <p:sp>
        <p:nvSpPr>
          <p:cNvPr id="22" name="Rectangle 21"/>
          <p:cNvSpPr/>
          <p:nvPr/>
        </p:nvSpPr>
        <p:spPr>
          <a:xfrm>
            <a:off x="685800" y="5074920"/>
            <a:ext cx="10817352" cy="868680"/>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 y="5074920"/>
            <a:ext cx="43180" cy="8686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5193792"/>
            <a:ext cx="10415016" cy="649224"/>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What we are asking for. </a:t>
            </a:r>
          </a:p>
          <a:p>
            <a:pPr algn="l">
              <a:lnSpc>
                <a:spcPct val="116000"/>
              </a:lnSpc>
              <a:spcAft>
                <a:spcPts val="0"/>
              </a:spcAft>
            </a:pPr>
            <a:r>
              <a:rPr sz="1200" b="0">
                <a:solidFill>
                  <a:srgbClr val="2E2838"/>
                </a:solidFill>
                <a:latin typeface="Segoe UI"/>
              </a:rPr>
              <a:t>One customer facing route, in shadow mode, for eight weeks. No enforcement, no latency risk, no change to the existing model. At the end you will have your own numbers for what assurance costs you today and what it would cost run this 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WHY THIS HAS NO OWNER TODAY</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Problem framing</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3</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Business Proposal</a:t>
            </a:r>
          </a:p>
        </p:txBody>
      </p:sp>
      <p:sp>
        <p:nvSpPr>
          <p:cNvPr id="8" name="TextBox 7"/>
          <p:cNvSpPr txBox="1"/>
          <p:nvPr/>
        </p:nvSpPr>
        <p:spPr>
          <a:xfrm>
            <a:off x="685800" y="1481328"/>
            <a:ext cx="10817352" cy="365760"/>
          </a:xfrm>
          <a:prstGeom prst="rect">
            <a:avLst/>
          </a:prstGeom>
          <a:noFill/>
        </p:spPr>
        <p:txBody>
          <a:bodyPr wrap="square" lIns="0" rIns="0" tIns="0" bIns="0">
            <a:spAutoFit/>
          </a:bodyPr>
          <a:lstStyle/>
          <a:p>
            <a:pPr algn="l">
              <a:lnSpc>
                <a:spcPct val="100000"/>
              </a:lnSpc>
              <a:spcAft>
                <a:spcPts val="0"/>
              </a:spcAft>
            </a:pPr>
            <a:r>
              <a:rPr sz="1600" b="0">
                <a:solidFill>
                  <a:srgbClr val="2E2838"/>
                </a:solidFill>
                <a:latin typeface="Segoe UI"/>
              </a:rPr>
              <a:t>The problem is not that AI makes mistakes. It is that checking for mistakes has no budget, no owner and no way to prove it worked.</a:t>
            </a:r>
          </a:p>
        </p:txBody>
      </p:sp>
      <p:sp>
        <p:nvSpPr>
          <p:cNvPr id="9" name="Rectangle 8"/>
          <p:cNvSpPr/>
          <p:nvPr/>
        </p:nvSpPr>
        <p:spPr>
          <a:xfrm>
            <a:off x="685800" y="2103120"/>
            <a:ext cx="3456432" cy="1691640"/>
          </a:xfrm>
          <a:prstGeom prst="rect">
            <a:avLst/>
          </a:prstGeom>
          <a:solidFill>
            <a:srgbClr val="FFFFFF"/>
          </a:solidFill>
          <a:ln w="11430">
            <a:solidFill>
              <a:srgbClr val="E3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103120"/>
            <a:ext cx="345643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 y="2286000"/>
            <a:ext cx="3017520" cy="201168"/>
          </a:xfrm>
          <a:prstGeom prst="rect">
            <a:avLst/>
          </a:prstGeom>
          <a:noFill/>
        </p:spPr>
        <p:txBody>
          <a:bodyPr wrap="square" lIns="0" rIns="0" tIns="0" bIns="0">
            <a:spAutoFit/>
          </a:bodyPr>
          <a:lstStyle/>
          <a:p>
            <a:pPr algn="l">
              <a:lnSpc>
                <a:spcPct val="100000"/>
              </a:lnSpc>
              <a:spcAft>
                <a:spcPts val="0"/>
              </a:spcAft>
            </a:pPr>
            <a:r>
              <a:rPr sz="950" b="1">
                <a:solidFill>
                  <a:srgbClr val="6D28D9"/>
                </a:solidFill>
                <a:latin typeface="Segoe UI"/>
              </a:rPr>
              <a:t>OVERSPENDING</a:t>
            </a:r>
          </a:p>
        </p:txBody>
      </p:sp>
      <p:sp>
        <p:nvSpPr>
          <p:cNvPr id="12" name="TextBox 11"/>
          <p:cNvSpPr txBox="1"/>
          <p:nvPr/>
        </p:nvSpPr>
        <p:spPr>
          <a:xfrm>
            <a:off x="905256" y="2542032"/>
            <a:ext cx="3017520" cy="274320"/>
          </a:xfrm>
          <a:prstGeom prst="rect">
            <a:avLst/>
          </a:prstGeom>
          <a:noFill/>
        </p:spPr>
        <p:txBody>
          <a:bodyPr wrap="square" lIns="0" rIns="0" tIns="0" bIns="0">
            <a:spAutoFit/>
          </a:bodyPr>
          <a:lstStyle/>
          <a:p>
            <a:pPr algn="l">
              <a:lnSpc>
                <a:spcPct val="100000"/>
              </a:lnSpc>
              <a:spcAft>
                <a:spcPts val="0"/>
              </a:spcAft>
            </a:pPr>
            <a:r>
              <a:rPr sz="1500" b="1">
                <a:solidFill>
                  <a:srgbClr val="3B0764"/>
                </a:solidFill>
                <a:latin typeface="Segoe UI"/>
              </a:rPr>
              <a:t>Checking everything</a:t>
            </a:r>
          </a:p>
        </p:txBody>
      </p:sp>
      <p:sp>
        <p:nvSpPr>
          <p:cNvPr id="13" name="TextBox 12"/>
          <p:cNvSpPr txBox="1"/>
          <p:nvPr/>
        </p:nvSpPr>
        <p:spPr>
          <a:xfrm>
            <a:off x="905256" y="2880360"/>
            <a:ext cx="3017520" cy="914400"/>
          </a:xfrm>
          <a:prstGeom prst="rect">
            <a:avLst/>
          </a:prstGeom>
          <a:noFill/>
        </p:spPr>
        <p:txBody>
          <a:bodyPr wrap="square" lIns="0" rIns="0" tIns="0" bIns="0">
            <a:spAutoFit/>
          </a:bodyPr>
          <a:lstStyle/>
          <a:p>
            <a:pPr algn="l">
              <a:lnSpc>
                <a:spcPct val="120000"/>
              </a:lnSpc>
              <a:spcAft>
                <a:spcPts val="0"/>
              </a:spcAft>
            </a:pPr>
            <a:r>
              <a:rPr sz="1150" b="0">
                <a:solidFill>
                  <a:srgbClr val="2E2838"/>
                </a:solidFill>
                <a:latin typeface="Segoe UI"/>
              </a:rPr>
              <a:t>Adds 900 milliseconds to every answer and, at two million interactions a year, costs Rs 64 lakh in compute before a single reviewer is paid.</a:t>
            </a:r>
          </a:p>
        </p:txBody>
      </p:sp>
      <p:sp>
        <p:nvSpPr>
          <p:cNvPr id="14" name="Rectangle 13"/>
          <p:cNvSpPr/>
          <p:nvPr/>
        </p:nvSpPr>
        <p:spPr>
          <a:xfrm>
            <a:off x="4370832" y="2103120"/>
            <a:ext cx="3456432" cy="1691640"/>
          </a:xfrm>
          <a:prstGeom prst="rect">
            <a:avLst/>
          </a:prstGeom>
          <a:solidFill>
            <a:srgbClr val="FFFFFF"/>
          </a:solidFill>
          <a:ln w="11430">
            <a:solidFill>
              <a:srgbClr val="E3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0832" y="2103120"/>
            <a:ext cx="345643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2286000"/>
            <a:ext cx="3017520" cy="201168"/>
          </a:xfrm>
          <a:prstGeom prst="rect">
            <a:avLst/>
          </a:prstGeom>
          <a:noFill/>
        </p:spPr>
        <p:txBody>
          <a:bodyPr wrap="square" lIns="0" rIns="0" tIns="0" bIns="0">
            <a:spAutoFit/>
          </a:bodyPr>
          <a:lstStyle/>
          <a:p>
            <a:pPr algn="l">
              <a:lnSpc>
                <a:spcPct val="100000"/>
              </a:lnSpc>
              <a:spcAft>
                <a:spcPts val="0"/>
              </a:spcAft>
            </a:pPr>
            <a:r>
              <a:rPr sz="950" b="1">
                <a:solidFill>
                  <a:srgbClr val="6D28D9"/>
                </a:solidFill>
                <a:latin typeface="Segoe UI"/>
              </a:rPr>
              <a:t>UNDERSPENDING</a:t>
            </a:r>
          </a:p>
        </p:txBody>
      </p:sp>
      <p:sp>
        <p:nvSpPr>
          <p:cNvPr id="17" name="TextBox 16"/>
          <p:cNvSpPr txBox="1"/>
          <p:nvPr/>
        </p:nvSpPr>
        <p:spPr>
          <a:xfrm>
            <a:off x="4590288" y="2542032"/>
            <a:ext cx="3017520" cy="274320"/>
          </a:xfrm>
          <a:prstGeom prst="rect">
            <a:avLst/>
          </a:prstGeom>
          <a:noFill/>
        </p:spPr>
        <p:txBody>
          <a:bodyPr wrap="square" lIns="0" rIns="0" tIns="0" bIns="0">
            <a:spAutoFit/>
          </a:bodyPr>
          <a:lstStyle/>
          <a:p>
            <a:pPr algn="l">
              <a:lnSpc>
                <a:spcPct val="100000"/>
              </a:lnSpc>
              <a:spcAft>
                <a:spcPts val="0"/>
              </a:spcAft>
            </a:pPr>
            <a:r>
              <a:rPr sz="1500" b="1">
                <a:solidFill>
                  <a:srgbClr val="3B0764"/>
                </a:solidFill>
                <a:latin typeface="Segoe UI"/>
              </a:rPr>
              <a:t>Sampling blindly</a:t>
            </a:r>
          </a:p>
        </p:txBody>
      </p:sp>
      <p:sp>
        <p:nvSpPr>
          <p:cNvPr id="18" name="TextBox 17"/>
          <p:cNvSpPr txBox="1"/>
          <p:nvPr/>
        </p:nvSpPr>
        <p:spPr>
          <a:xfrm>
            <a:off x="4590288" y="2880360"/>
            <a:ext cx="3017520" cy="914400"/>
          </a:xfrm>
          <a:prstGeom prst="rect">
            <a:avLst/>
          </a:prstGeom>
          <a:noFill/>
        </p:spPr>
        <p:txBody>
          <a:bodyPr wrap="square" lIns="0" rIns="0" tIns="0" bIns="0">
            <a:spAutoFit/>
          </a:bodyPr>
          <a:lstStyle/>
          <a:p>
            <a:pPr algn="l">
              <a:lnSpc>
                <a:spcPct val="120000"/>
              </a:lnSpc>
              <a:spcAft>
                <a:spcPts val="0"/>
              </a:spcAft>
            </a:pPr>
            <a:r>
              <a:rPr sz="1150" b="0">
                <a:solidFill>
                  <a:srgbClr val="2E2838"/>
                </a:solidFill>
                <a:latin typeface="Segoe UI"/>
              </a:rPr>
              <a:t>A fixed sample cannot tell a question about opening hours from an instruction to move money, so it protects the cheap and misses the expensive.</a:t>
            </a:r>
          </a:p>
        </p:txBody>
      </p:sp>
      <p:sp>
        <p:nvSpPr>
          <p:cNvPr id="19" name="Rectangle 18"/>
          <p:cNvSpPr/>
          <p:nvPr/>
        </p:nvSpPr>
        <p:spPr>
          <a:xfrm>
            <a:off x="8055864" y="2103120"/>
            <a:ext cx="3456432" cy="1691640"/>
          </a:xfrm>
          <a:prstGeom prst="rect">
            <a:avLst/>
          </a:prstGeom>
          <a:solidFill>
            <a:srgbClr val="FFFFFF"/>
          </a:solidFill>
          <a:ln w="11430">
            <a:solidFill>
              <a:srgbClr val="E3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5864" y="2103120"/>
            <a:ext cx="345643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286000"/>
            <a:ext cx="3017520" cy="201168"/>
          </a:xfrm>
          <a:prstGeom prst="rect">
            <a:avLst/>
          </a:prstGeom>
          <a:noFill/>
        </p:spPr>
        <p:txBody>
          <a:bodyPr wrap="square" lIns="0" rIns="0" tIns="0" bIns="0">
            <a:spAutoFit/>
          </a:bodyPr>
          <a:lstStyle/>
          <a:p>
            <a:pPr algn="l">
              <a:lnSpc>
                <a:spcPct val="100000"/>
              </a:lnSpc>
              <a:spcAft>
                <a:spcPts val="0"/>
              </a:spcAft>
            </a:pPr>
            <a:r>
              <a:rPr sz="950" b="1">
                <a:solidFill>
                  <a:srgbClr val="6D28D9"/>
                </a:solidFill>
                <a:latin typeface="Segoe UI"/>
              </a:rPr>
              <a:t>UNPROVABLE</a:t>
            </a:r>
          </a:p>
        </p:txBody>
      </p:sp>
      <p:sp>
        <p:nvSpPr>
          <p:cNvPr id="22" name="TextBox 21"/>
          <p:cNvSpPr txBox="1"/>
          <p:nvPr/>
        </p:nvSpPr>
        <p:spPr>
          <a:xfrm>
            <a:off x="8275320" y="2542032"/>
            <a:ext cx="3017520" cy="274320"/>
          </a:xfrm>
          <a:prstGeom prst="rect">
            <a:avLst/>
          </a:prstGeom>
          <a:noFill/>
        </p:spPr>
        <p:txBody>
          <a:bodyPr wrap="square" lIns="0" rIns="0" tIns="0" bIns="0">
            <a:spAutoFit/>
          </a:bodyPr>
          <a:lstStyle/>
          <a:p>
            <a:pPr algn="l">
              <a:lnSpc>
                <a:spcPct val="100000"/>
              </a:lnSpc>
              <a:spcAft>
                <a:spcPts val="0"/>
              </a:spcAft>
            </a:pPr>
            <a:r>
              <a:rPr sz="1500" b="1">
                <a:solidFill>
                  <a:srgbClr val="3B0764"/>
                </a:solidFill>
                <a:latin typeface="Segoe UI"/>
              </a:rPr>
              <a:t>No defensible record</a:t>
            </a:r>
          </a:p>
        </p:txBody>
      </p:sp>
      <p:sp>
        <p:nvSpPr>
          <p:cNvPr id="23" name="TextBox 22"/>
          <p:cNvSpPr txBox="1"/>
          <p:nvPr/>
        </p:nvSpPr>
        <p:spPr>
          <a:xfrm>
            <a:off x="8275320" y="2880360"/>
            <a:ext cx="3017520" cy="914400"/>
          </a:xfrm>
          <a:prstGeom prst="rect">
            <a:avLst/>
          </a:prstGeom>
          <a:noFill/>
        </p:spPr>
        <p:txBody>
          <a:bodyPr wrap="square" lIns="0" rIns="0" tIns="0" bIns="0">
            <a:spAutoFit/>
          </a:bodyPr>
          <a:lstStyle/>
          <a:p>
            <a:pPr algn="l">
              <a:lnSpc>
                <a:spcPct val="120000"/>
              </a:lnSpc>
              <a:spcAft>
                <a:spcPts val="0"/>
              </a:spcAft>
            </a:pPr>
            <a:r>
              <a:rPr sz="1150" b="0">
                <a:solidFill>
                  <a:srgbClr val="2E2838"/>
                </a:solidFill>
                <a:latin typeface="Segoe UI"/>
              </a:rPr>
              <a:t>When a regulator asks why one answer was released, a log line is not an answer. The arithmetic behind the decision is what is needed.</a:t>
            </a:r>
          </a:p>
        </p:txBody>
      </p:sp>
      <p:sp>
        <p:nvSpPr>
          <p:cNvPr id="24" name="TextBox 23"/>
          <p:cNvSpPr txBox="1"/>
          <p:nvPr/>
        </p:nvSpPr>
        <p:spPr>
          <a:xfrm>
            <a:off x="685800" y="4041648"/>
            <a:ext cx="10817352" cy="274320"/>
          </a:xfrm>
          <a:prstGeom prst="rect">
            <a:avLst/>
          </a:prstGeom>
          <a:noFill/>
        </p:spPr>
        <p:txBody>
          <a:bodyPr wrap="square" lIns="0" rIns="0" tIns="0" bIns="0">
            <a:spAutoFit/>
          </a:bodyPr>
          <a:lstStyle/>
          <a:p>
            <a:pPr algn="l">
              <a:lnSpc>
                <a:spcPct val="100000"/>
              </a:lnSpc>
              <a:spcAft>
                <a:spcPts val="0"/>
              </a:spcAft>
            </a:pPr>
            <a:r>
              <a:rPr sz="1500" b="1">
                <a:solidFill>
                  <a:srgbClr val="3B0764"/>
                </a:solidFill>
                <a:latin typeface="Segoe UI"/>
              </a:rPr>
              <a:t>The cost nobody planned for</a:t>
            </a:r>
          </a:p>
        </p:txBody>
      </p:sp>
      <p:sp>
        <p:nvSpPr>
          <p:cNvPr id="25" name="Rectangle 24"/>
          <p:cNvSpPr/>
          <p:nvPr/>
        </p:nvSpPr>
        <p:spPr>
          <a:xfrm>
            <a:off x="685800" y="4407408"/>
            <a:ext cx="10817352" cy="310896"/>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4475988"/>
            <a:ext cx="4962502"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What it costs to check one answer</a:t>
            </a:r>
          </a:p>
        </p:txBody>
      </p:sp>
      <p:sp>
        <p:nvSpPr>
          <p:cNvPr id="27" name="TextBox 26"/>
          <p:cNvSpPr txBox="1"/>
          <p:nvPr/>
        </p:nvSpPr>
        <p:spPr>
          <a:xfrm>
            <a:off x="5858614" y="4475988"/>
            <a:ext cx="2599047"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Price</a:t>
            </a:r>
          </a:p>
        </p:txBody>
      </p:sp>
      <p:sp>
        <p:nvSpPr>
          <p:cNvPr id="28" name="TextBox 27"/>
          <p:cNvSpPr txBox="1"/>
          <p:nvPr/>
        </p:nvSpPr>
        <p:spPr>
          <a:xfrm>
            <a:off x="8585677" y="4475988"/>
            <a:ext cx="2871753"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Who pays it</a:t>
            </a:r>
          </a:p>
        </p:txBody>
      </p:sp>
      <p:sp>
        <p:nvSpPr>
          <p:cNvPr id="29" name="Rectangle 28"/>
          <p:cNvSpPr/>
          <p:nvPr/>
        </p:nvSpPr>
        <p:spPr>
          <a:xfrm>
            <a:off x="685800" y="4718304"/>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4790948"/>
            <a:ext cx="4962502"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Rules and pattern scan</a:t>
            </a:r>
          </a:p>
        </p:txBody>
      </p:sp>
      <p:sp>
        <p:nvSpPr>
          <p:cNvPr id="31" name="TextBox 30"/>
          <p:cNvSpPr txBox="1"/>
          <p:nvPr/>
        </p:nvSpPr>
        <p:spPr>
          <a:xfrm>
            <a:off x="5858614" y="4790948"/>
            <a:ext cx="2599047"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Rs 0.02</a:t>
            </a:r>
          </a:p>
        </p:txBody>
      </p:sp>
      <p:sp>
        <p:nvSpPr>
          <p:cNvPr id="32" name="TextBox 31"/>
          <p:cNvSpPr txBox="1"/>
          <p:nvPr/>
        </p:nvSpPr>
        <p:spPr>
          <a:xfrm>
            <a:off x="8585677" y="4790948"/>
            <a:ext cx="2871753"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Compute budget</a:t>
            </a:r>
          </a:p>
        </p:txBody>
      </p:sp>
      <p:sp>
        <p:nvSpPr>
          <p:cNvPr id="33" name="Rectangle 32"/>
          <p:cNvSpPr/>
          <p:nvPr/>
        </p:nvSpPr>
        <p:spPr>
          <a:xfrm>
            <a:off x="685800" y="5046980"/>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5800" y="5054600"/>
            <a:ext cx="10817352" cy="310896"/>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109464"/>
            <a:ext cx="4962502"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Small model checks</a:t>
            </a:r>
          </a:p>
        </p:txBody>
      </p:sp>
      <p:sp>
        <p:nvSpPr>
          <p:cNvPr id="36" name="TextBox 35"/>
          <p:cNvSpPr txBox="1"/>
          <p:nvPr/>
        </p:nvSpPr>
        <p:spPr>
          <a:xfrm>
            <a:off x="5858614" y="5109464"/>
            <a:ext cx="2599047"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Rs 0.18</a:t>
            </a:r>
          </a:p>
        </p:txBody>
      </p:sp>
      <p:sp>
        <p:nvSpPr>
          <p:cNvPr id="37" name="TextBox 36"/>
          <p:cNvSpPr txBox="1"/>
          <p:nvPr/>
        </p:nvSpPr>
        <p:spPr>
          <a:xfrm>
            <a:off x="8585677" y="5109464"/>
            <a:ext cx="2871753"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Compute budget</a:t>
            </a:r>
          </a:p>
        </p:txBody>
      </p:sp>
      <p:sp>
        <p:nvSpPr>
          <p:cNvPr id="38" name="Rectangle 37"/>
          <p:cNvSpPr/>
          <p:nvPr/>
        </p:nvSpPr>
        <p:spPr>
          <a:xfrm>
            <a:off x="685800" y="5365496"/>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5427980"/>
            <a:ext cx="4962502"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Language model judge</a:t>
            </a:r>
          </a:p>
        </p:txBody>
      </p:sp>
      <p:sp>
        <p:nvSpPr>
          <p:cNvPr id="40" name="TextBox 39"/>
          <p:cNvSpPr txBox="1"/>
          <p:nvPr/>
        </p:nvSpPr>
        <p:spPr>
          <a:xfrm>
            <a:off x="5858614" y="5427980"/>
            <a:ext cx="2599047"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Rs 3.20</a:t>
            </a:r>
          </a:p>
        </p:txBody>
      </p:sp>
      <p:sp>
        <p:nvSpPr>
          <p:cNvPr id="41" name="TextBox 40"/>
          <p:cNvSpPr txBox="1"/>
          <p:nvPr/>
        </p:nvSpPr>
        <p:spPr>
          <a:xfrm>
            <a:off x="8585677" y="5427980"/>
            <a:ext cx="2871753"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Compute budget</a:t>
            </a:r>
          </a:p>
        </p:txBody>
      </p:sp>
      <p:sp>
        <p:nvSpPr>
          <p:cNvPr id="42" name="Rectangle 41"/>
          <p:cNvSpPr/>
          <p:nvPr/>
        </p:nvSpPr>
        <p:spPr>
          <a:xfrm>
            <a:off x="685800" y="568401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85800" y="5691632"/>
            <a:ext cx="10817352" cy="310896"/>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5746496"/>
            <a:ext cx="4962502" cy="237744"/>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One completed human review</a:t>
            </a:r>
          </a:p>
        </p:txBody>
      </p:sp>
      <p:sp>
        <p:nvSpPr>
          <p:cNvPr id="45" name="TextBox 44"/>
          <p:cNvSpPr txBox="1"/>
          <p:nvPr/>
        </p:nvSpPr>
        <p:spPr>
          <a:xfrm>
            <a:off x="5858614" y="5746496"/>
            <a:ext cx="2599047" cy="237744"/>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Rs 120.00</a:t>
            </a:r>
          </a:p>
        </p:txBody>
      </p:sp>
      <p:sp>
        <p:nvSpPr>
          <p:cNvPr id="46" name="TextBox 45"/>
          <p:cNvSpPr txBox="1"/>
          <p:nvPr/>
        </p:nvSpPr>
        <p:spPr>
          <a:xfrm>
            <a:off x="8585677" y="5746496"/>
            <a:ext cx="2871753" cy="237744"/>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Headcount budget</a:t>
            </a:r>
          </a:p>
        </p:txBody>
      </p:sp>
      <p:sp>
        <p:nvSpPr>
          <p:cNvPr id="47" name="Rectangle 46"/>
          <p:cNvSpPr/>
          <p:nvPr/>
        </p:nvSpPr>
        <p:spPr>
          <a:xfrm>
            <a:off x="685800" y="600252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BUSINESS OPPORTUNITY</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The finding that shapes this proposal</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4</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Business Proposal</a:t>
            </a:r>
          </a:p>
        </p:txBody>
      </p:sp>
      <p:sp>
        <p:nvSpPr>
          <p:cNvPr id="8" name="TextBox 7"/>
          <p:cNvSpPr txBox="1"/>
          <p:nvPr/>
        </p:nvSpPr>
        <p:spPr>
          <a:xfrm>
            <a:off x="685800" y="1554480"/>
            <a:ext cx="10817352" cy="822960"/>
          </a:xfrm>
          <a:prstGeom prst="rect">
            <a:avLst/>
          </a:prstGeom>
          <a:noFill/>
        </p:spPr>
        <p:txBody>
          <a:bodyPr wrap="square" lIns="0" rIns="0" tIns="0" bIns="0">
            <a:spAutoFit/>
          </a:bodyPr>
          <a:lstStyle/>
          <a:p>
            <a:pPr algn="l">
              <a:lnSpc>
                <a:spcPct val="125000"/>
              </a:lnSpc>
              <a:spcAft>
                <a:spcPts val="600"/>
              </a:spcAft>
            </a:pPr>
            <a:r>
              <a:rPr sz="1700" b="0">
                <a:solidFill>
                  <a:srgbClr val="2E2838"/>
                </a:solidFill>
                <a:latin typeface="Segoe UI"/>
              </a:rPr>
              <a:t>We set out to save compute. The measurement said something more useful.</a:t>
            </a:r>
          </a:p>
          <a:p>
            <a:pPr algn="l">
              <a:lnSpc>
                <a:spcPct val="125000"/>
              </a:lnSpc>
              <a:spcAft>
                <a:spcPts val="0"/>
              </a:spcAft>
            </a:pPr>
            <a:r>
              <a:rPr sz="2100" b="1">
                <a:solidFill>
                  <a:srgbClr val="3B0764"/>
                </a:solidFill>
                <a:latin typeface="Segoe UI"/>
              </a:rPr>
              <a:t>Between 81 and 98 paise in every assurance rupee is human review time, not machine time.</a:t>
            </a:r>
          </a:p>
        </p:txBody>
      </p:sp>
      <p:sp>
        <p:nvSpPr>
          <p:cNvPr id="9" name="TextBox 8"/>
          <p:cNvSpPr txBox="1"/>
          <p:nvPr/>
        </p:nvSpPr>
        <p:spPr>
          <a:xfrm>
            <a:off x="685800" y="2697480"/>
            <a:ext cx="10817352" cy="457200"/>
          </a:xfrm>
          <a:prstGeom prst="rect">
            <a:avLst/>
          </a:prstGeom>
          <a:noFill/>
        </p:spPr>
        <p:txBody>
          <a:bodyPr wrap="square" lIns="0" rIns="0" tIns="0" bIns="0">
            <a:spAutoFit/>
          </a:bodyPr>
          <a:lstStyle/>
          <a:p>
            <a:pPr algn="l">
              <a:lnSpc>
                <a:spcPct val="125000"/>
              </a:lnSpc>
              <a:spcAft>
                <a:spcPts val="0"/>
              </a:spcAft>
            </a:pPr>
            <a:r>
              <a:rPr sz="1500" b="0">
                <a:solidFill>
                  <a:srgbClr val="2E2838"/>
                </a:solidFill>
                <a:latin typeface="Segoe UI"/>
              </a:rPr>
              <a:t>Every vendor in this category competes on the 2 to 19 paise. Nobody is managing the rest. That changes what is worth buying, because review capacity is fixed and the queue is already oversubscribed.</a:t>
            </a:r>
          </a:p>
        </p:txBody>
      </p:sp>
      <p:sp>
        <p:nvSpPr>
          <p:cNvPr id="10" name="TextBox 9"/>
          <p:cNvSpPr txBox="1"/>
          <p:nvPr/>
        </p:nvSpPr>
        <p:spPr>
          <a:xfrm>
            <a:off x="685800" y="3383280"/>
            <a:ext cx="10817352" cy="274320"/>
          </a:xfrm>
          <a:prstGeom prst="rect">
            <a:avLst/>
          </a:prstGeom>
          <a:noFill/>
        </p:spPr>
        <p:txBody>
          <a:bodyPr wrap="square" lIns="0" rIns="0" tIns="0" bIns="0">
            <a:spAutoFit/>
          </a:bodyPr>
          <a:lstStyle/>
          <a:p>
            <a:pPr algn="l">
              <a:lnSpc>
                <a:spcPct val="100000"/>
              </a:lnSpc>
              <a:spcAft>
                <a:spcPts val="0"/>
              </a:spcAft>
            </a:pPr>
            <a:r>
              <a:rPr sz="1500" b="1">
                <a:solidFill>
                  <a:srgbClr val="3B0764"/>
                </a:solidFill>
                <a:latin typeface="Segoe UI"/>
              </a:rPr>
              <a:t>Where the value sits</a:t>
            </a:r>
          </a:p>
        </p:txBody>
      </p:sp>
      <p:sp>
        <p:nvSpPr>
          <p:cNvPr id="11" name="Rectangle 10"/>
          <p:cNvSpPr/>
          <p:nvPr/>
        </p:nvSpPr>
        <p:spPr>
          <a:xfrm>
            <a:off x="685800" y="3749039"/>
            <a:ext cx="10817352" cy="347472"/>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817619"/>
            <a:ext cx="2471502"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Value</a:t>
            </a:r>
          </a:p>
        </p:txBody>
      </p:sp>
      <p:sp>
        <p:nvSpPr>
          <p:cNvPr id="13" name="TextBox 12"/>
          <p:cNvSpPr txBox="1"/>
          <p:nvPr/>
        </p:nvSpPr>
        <p:spPr>
          <a:xfrm>
            <a:off x="3367614" y="3817619"/>
            <a:ext cx="5741864"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What it is worth</a:t>
            </a:r>
          </a:p>
        </p:txBody>
      </p:sp>
      <p:sp>
        <p:nvSpPr>
          <p:cNvPr id="14" name="TextBox 13"/>
          <p:cNvSpPr txBox="1"/>
          <p:nvPr/>
        </p:nvSpPr>
        <p:spPr>
          <a:xfrm>
            <a:off x="9237494" y="3817619"/>
            <a:ext cx="2219936"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Confidence today</a:t>
            </a:r>
          </a:p>
        </p:txBody>
      </p:sp>
      <p:sp>
        <p:nvSpPr>
          <p:cNvPr id="15" name="Rectangle 14"/>
          <p:cNvSpPr/>
          <p:nvPr/>
        </p:nvSpPr>
        <p:spPr>
          <a:xfrm>
            <a:off x="685800" y="4096511"/>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169155"/>
            <a:ext cx="2471502"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Reviewer hours redirected</a:t>
            </a:r>
          </a:p>
        </p:txBody>
      </p:sp>
      <p:sp>
        <p:nvSpPr>
          <p:cNvPr id="17" name="TextBox 16"/>
          <p:cNvSpPr txBox="1"/>
          <p:nvPr/>
        </p:nvSpPr>
        <p:spPr>
          <a:xfrm>
            <a:off x="3367614" y="4169155"/>
            <a:ext cx="5741864"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The same capacity handles 1.59 times more expected loss, and drops 2 high value cases instead of 15</a:t>
            </a:r>
          </a:p>
        </p:txBody>
      </p:sp>
      <p:sp>
        <p:nvSpPr>
          <p:cNvPr id="18" name="TextBox 17"/>
          <p:cNvSpPr txBox="1"/>
          <p:nvPr/>
        </p:nvSpPr>
        <p:spPr>
          <a:xfrm>
            <a:off x="9237494" y="4169155"/>
            <a:ext cx="2219936"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Measured on our corpus</a:t>
            </a:r>
          </a:p>
        </p:txBody>
      </p:sp>
      <p:sp>
        <p:nvSpPr>
          <p:cNvPr id="19" name="Rectangle 18"/>
          <p:cNvSpPr/>
          <p:nvPr/>
        </p:nvSpPr>
        <p:spPr>
          <a:xfrm>
            <a:off x="685800" y="4461763"/>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469383"/>
            <a:ext cx="10817352" cy="347472"/>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4524247"/>
            <a:ext cx="2471502"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Compute avoided</a:t>
            </a:r>
          </a:p>
        </p:txBody>
      </p:sp>
      <p:sp>
        <p:nvSpPr>
          <p:cNvPr id="22" name="TextBox 21"/>
          <p:cNvSpPr txBox="1"/>
          <p:nvPr/>
        </p:nvSpPr>
        <p:spPr>
          <a:xfrm>
            <a:off x="3367614" y="4524247"/>
            <a:ext cx="5741864"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92.8% of the protection of checking everything, for 10% of the compute</a:t>
            </a:r>
          </a:p>
        </p:txBody>
      </p:sp>
      <p:sp>
        <p:nvSpPr>
          <p:cNvPr id="23" name="TextBox 22"/>
          <p:cNvSpPr txBox="1"/>
          <p:nvPr/>
        </p:nvSpPr>
        <p:spPr>
          <a:xfrm>
            <a:off x="9237494" y="4524247"/>
            <a:ext cx="2219936"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Measured on our corpus</a:t>
            </a:r>
          </a:p>
        </p:txBody>
      </p:sp>
      <p:sp>
        <p:nvSpPr>
          <p:cNvPr id="24" name="Rectangle 23"/>
          <p:cNvSpPr/>
          <p:nvPr/>
        </p:nvSpPr>
        <p:spPr>
          <a:xfrm>
            <a:off x="685800" y="4816855"/>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4879339"/>
            <a:ext cx="2471502"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Incidents avoided</a:t>
            </a:r>
          </a:p>
        </p:txBody>
      </p:sp>
      <p:sp>
        <p:nvSpPr>
          <p:cNvPr id="26" name="TextBox 25"/>
          <p:cNvSpPr txBox="1"/>
          <p:nvPr/>
        </p:nvSpPr>
        <p:spPr>
          <a:xfrm>
            <a:off x="3367614" y="4879339"/>
            <a:ext cx="5741864"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Doing nothing leaves 4.29 times more residual loss on the same traffic</a:t>
            </a:r>
          </a:p>
        </p:txBody>
      </p:sp>
      <p:sp>
        <p:nvSpPr>
          <p:cNvPr id="27" name="TextBox 26"/>
          <p:cNvSpPr txBox="1"/>
          <p:nvPr/>
        </p:nvSpPr>
        <p:spPr>
          <a:xfrm>
            <a:off x="9237494" y="4879339"/>
            <a:ext cx="2219936"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Depends on your consequence prices</a:t>
            </a:r>
          </a:p>
        </p:txBody>
      </p:sp>
      <p:sp>
        <p:nvSpPr>
          <p:cNvPr id="28" name="Rectangle 27"/>
          <p:cNvSpPr/>
          <p:nvPr/>
        </p:nvSpPr>
        <p:spPr>
          <a:xfrm>
            <a:off x="685800" y="5171947"/>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 y="5179567"/>
            <a:ext cx="10817352" cy="347472"/>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5234431"/>
            <a:ext cx="2471502"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Audit cost avoided</a:t>
            </a:r>
          </a:p>
        </p:txBody>
      </p:sp>
      <p:sp>
        <p:nvSpPr>
          <p:cNvPr id="31" name="TextBox 30"/>
          <p:cNvSpPr txBox="1"/>
          <p:nvPr/>
        </p:nvSpPr>
        <p:spPr>
          <a:xfrm>
            <a:off x="3367614" y="5234431"/>
            <a:ext cx="5741864"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Every decision recomputable from its own record, with the policy version attached</a:t>
            </a:r>
          </a:p>
        </p:txBody>
      </p:sp>
      <p:sp>
        <p:nvSpPr>
          <p:cNvPr id="32" name="TextBox 31"/>
          <p:cNvSpPr txBox="1"/>
          <p:nvPr/>
        </p:nvSpPr>
        <p:spPr>
          <a:xfrm>
            <a:off x="9237494" y="5234431"/>
            <a:ext cx="2219936"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Built and verified</a:t>
            </a:r>
          </a:p>
        </p:txBody>
      </p:sp>
      <p:sp>
        <p:nvSpPr>
          <p:cNvPr id="33" name="Rectangle 32"/>
          <p:cNvSpPr/>
          <p:nvPr/>
        </p:nvSpPr>
        <p:spPr>
          <a:xfrm>
            <a:off x="685800" y="5527039"/>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5800" y="5486400"/>
            <a:ext cx="10817352" cy="713232"/>
          </a:xfrm>
          <a:prstGeom prst="rect">
            <a:avLst/>
          </a:prstGeom>
          <a:solidFill>
            <a:srgbClr val="FF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85800" y="5486400"/>
            <a:ext cx="43180" cy="713232"/>
          </a:xfrm>
          <a:prstGeom prst="rect">
            <a:avLst/>
          </a:prstGeom>
          <a:solidFill>
            <a:srgbClr val="9A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05272"/>
            <a:ext cx="10415016" cy="493776"/>
          </a:xfrm>
          <a:prstGeom prst="rect">
            <a:avLst/>
          </a:prstGeom>
          <a:noFill/>
        </p:spPr>
        <p:txBody>
          <a:bodyPr wrap="square" lIns="0" rIns="0" tIns="0" bIns="0">
            <a:spAutoFit/>
          </a:bodyPr>
          <a:lstStyle/>
          <a:p>
            <a:pPr algn="l">
              <a:lnSpc>
                <a:spcPct val="116000"/>
              </a:lnSpc>
              <a:spcAft>
                <a:spcPts val="300"/>
              </a:spcAft>
            </a:pPr>
            <a:r>
              <a:rPr sz="1200" b="1">
                <a:solidFill>
                  <a:srgbClr val="9A5B00"/>
                </a:solidFill>
                <a:latin typeface="Segoe UI"/>
              </a:rPr>
              <a:t>What we are not claiming. </a:t>
            </a:r>
          </a:p>
          <a:p>
            <a:pPr algn="l">
              <a:lnSpc>
                <a:spcPct val="116000"/>
              </a:lnSpc>
              <a:spcAft>
                <a:spcPts val="0"/>
              </a:spcAft>
            </a:pPr>
            <a:r>
              <a:rPr sz="1200" b="0">
                <a:solidFill>
                  <a:srgbClr val="2E2838"/>
                </a:solidFill>
                <a:latin typeface="Segoe UI"/>
              </a:rPr>
              <a:t>The rupee value of loss averted is a property of the consequence prices we assumed, not evidence of a customer saving. Those prices are the first thing a pilot replaces with yours.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WHAT IT DOES, IN THE ORDER IT DOES IT</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Proposed solution</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5</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Business Proposal</a:t>
            </a:r>
          </a:p>
        </p:txBody>
      </p:sp>
      <p:sp>
        <p:nvSpPr>
          <p:cNvPr id="8" name="Rectangle 7"/>
          <p:cNvSpPr/>
          <p:nvPr/>
        </p:nvSpPr>
        <p:spPr>
          <a:xfrm>
            <a:off x="685800" y="1536192"/>
            <a:ext cx="10817352" cy="347472"/>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604772"/>
            <a:ext cx="2303791"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Step</a:t>
            </a:r>
          </a:p>
        </p:txBody>
      </p:sp>
      <p:sp>
        <p:nvSpPr>
          <p:cNvPr id="10" name="TextBox 9"/>
          <p:cNvSpPr txBox="1"/>
          <p:nvPr/>
        </p:nvSpPr>
        <p:spPr>
          <a:xfrm>
            <a:off x="3199903" y="1604772"/>
            <a:ext cx="8257528"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What happens</a:t>
            </a:r>
          </a:p>
        </p:txBody>
      </p:sp>
      <p:sp>
        <p:nvSpPr>
          <p:cNvPr id="11" name="Rectangle 10"/>
          <p:cNvSpPr/>
          <p:nvPr/>
        </p:nvSpPr>
        <p:spPr>
          <a:xfrm>
            <a:off x="685800" y="1883664"/>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56308"/>
            <a:ext cx="2303791" cy="237744"/>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Refuse early</a:t>
            </a:r>
          </a:p>
        </p:txBody>
      </p:sp>
      <p:sp>
        <p:nvSpPr>
          <p:cNvPr id="13" name="TextBox 12"/>
          <p:cNvSpPr txBox="1"/>
          <p:nvPr/>
        </p:nvSpPr>
        <p:spPr>
          <a:xfrm>
            <a:off x="3199903" y="1956308"/>
            <a:ext cx="825752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A cheap scan reads the prompt before the model runs. An obvious attack is refused there and costs neither generation nor checking</a:t>
            </a:r>
          </a:p>
        </p:txBody>
      </p:sp>
      <p:sp>
        <p:nvSpPr>
          <p:cNvPr id="14" name="Rectangle 13"/>
          <p:cNvSpPr/>
          <p:nvPr/>
        </p:nvSpPr>
        <p:spPr>
          <a:xfrm>
            <a:off x="685800" y="2248916"/>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2256536"/>
            <a:ext cx="10817352" cy="347472"/>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2311400"/>
            <a:ext cx="2303791" cy="237744"/>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Score the answer</a:t>
            </a:r>
          </a:p>
        </p:txBody>
      </p:sp>
      <p:sp>
        <p:nvSpPr>
          <p:cNvPr id="17" name="TextBox 16"/>
          <p:cNvSpPr txBox="1"/>
          <p:nvPr/>
        </p:nvSpPr>
        <p:spPr>
          <a:xfrm>
            <a:off x="3199903" y="2311400"/>
            <a:ext cx="825752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Cheap checks score the answer on five kinds of harm for a combined 20 paise, and those scores become probabilities</a:t>
            </a:r>
          </a:p>
        </p:txBody>
      </p:sp>
      <p:sp>
        <p:nvSpPr>
          <p:cNvPr id="18" name="Rectangle 17"/>
          <p:cNvSpPr/>
          <p:nvPr/>
        </p:nvSpPr>
        <p:spPr>
          <a:xfrm>
            <a:off x="685800" y="260400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666492"/>
            <a:ext cx="2303791" cy="237744"/>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Apply the floor</a:t>
            </a:r>
          </a:p>
        </p:txBody>
      </p:sp>
      <p:sp>
        <p:nvSpPr>
          <p:cNvPr id="20" name="TextBox 19"/>
          <p:cNvSpPr txBox="1"/>
          <p:nvPr/>
        </p:nvSpPr>
        <p:spPr>
          <a:xfrm>
            <a:off x="3199903" y="2666492"/>
            <a:ext cx="825752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Each route has a safety threshold above which a check is compulsory. The budget cannot switch this off</a:t>
            </a:r>
          </a:p>
        </p:txBody>
      </p:sp>
      <p:sp>
        <p:nvSpPr>
          <p:cNvPr id="21" name="Rectangle 20"/>
          <p:cNvSpPr/>
          <p:nvPr/>
        </p:nvSpPr>
        <p:spPr>
          <a:xfrm>
            <a:off x="685800" y="2959100"/>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2966720"/>
            <a:ext cx="10817352" cy="347472"/>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3021584"/>
            <a:ext cx="2303791" cy="237744"/>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Price the choice</a:t>
            </a:r>
          </a:p>
        </p:txBody>
      </p:sp>
      <p:sp>
        <p:nvSpPr>
          <p:cNvPr id="24" name="TextBox 23"/>
          <p:cNvSpPr txBox="1"/>
          <p:nvPr/>
        </p:nvSpPr>
        <p:spPr>
          <a:xfrm>
            <a:off x="3199903" y="3021584"/>
            <a:ext cx="825752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Below the floor, the system buys the expensive check only where the loss it would prevent beats what it costs</a:t>
            </a:r>
          </a:p>
        </p:txBody>
      </p:sp>
      <p:sp>
        <p:nvSpPr>
          <p:cNvPr id="25" name="Rectangle 24"/>
          <p:cNvSpPr/>
          <p:nvPr/>
        </p:nvSpPr>
        <p:spPr>
          <a:xfrm>
            <a:off x="685800" y="331419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376676"/>
            <a:ext cx="2303791" cy="237744"/>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Split words from actions</a:t>
            </a:r>
          </a:p>
        </p:txBody>
      </p:sp>
      <p:sp>
        <p:nvSpPr>
          <p:cNvPr id="27" name="TextBox 26"/>
          <p:cNvSpPr txBox="1"/>
          <p:nvPr/>
        </p:nvSpPr>
        <p:spPr>
          <a:xfrm>
            <a:off x="3199903" y="3376676"/>
            <a:ext cx="825752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Text can be shown while checking runs. Actions that move money or change records wait behind their own gate</a:t>
            </a:r>
          </a:p>
        </p:txBody>
      </p:sp>
      <p:sp>
        <p:nvSpPr>
          <p:cNvPr id="28" name="Rectangle 27"/>
          <p:cNvSpPr/>
          <p:nvPr/>
        </p:nvSpPr>
        <p:spPr>
          <a:xfrm>
            <a:off x="685800" y="3669284"/>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 y="3676904"/>
            <a:ext cx="10817352" cy="347472"/>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3731768"/>
            <a:ext cx="2303791" cy="237744"/>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Prioritise people</a:t>
            </a:r>
          </a:p>
        </p:txBody>
      </p:sp>
      <p:sp>
        <p:nvSpPr>
          <p:cNvPr id="31" name="TextBox 30"/>
          <p:cNvSpPr txBox="1"/>
          <p:nvPr/>
        </p:nvSpPr>
        <p:spPr>
          <a:xfrm>
            <a:off x="3199903" y="3731768"/>
            <a:ext cx="825752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Whatever needs a person is queued by value per reviewer minute against the deadline, not first come first served</a:t>
            </a:r>
          </a:p>
        </p:txBody>
      </p:sp>
      <p:sp>
        <p:nvSpPr>
          <p:cNvPr id="32" name="Rectangle 31"/>
          <p:cNvSpPr/>
          <p:nvPr/>
        </p:nvSpPr>
        <p:spPr>
          <a:xfrm>
            <a:off x="685800" y="4024376"/>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 y="4086860"/>
            <a:ext cx="2303791" cy="237744"/>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Record everything</a:t>
            </a:r>
          </a:p>
        </p:txBody>
      </p:sp>
      <p:sp>
        <p:nvSpPr>
          <p:cNvPr id="34" name="TextBox 33"/>
          <p:cNvSpPr txBox="1"/>
          <p:nvPr/>
        </p:nvSpPr>
        <p:spPr>
          <a:xfrm>
            <a:off x="3199903" y="4086860"/>
            <a:ext cx="825752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Every decision, its inputs and its price go into a chained record where a later edit is detectable</a:t>
            </a:r>
          </a:p>
        </p:txBody>
      </p:sp>
      <p:sp>
        <p:nvSpPr>
          <p:cNvPr id="35" name="Rectangle 34"/>
          <p:cNvSpPr/>
          <p:nvPr/>
        </p:nvSpPr>
        <p:spPr>
          <a:xfrm>
            <a:off x="685800" y="437946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85800" y="4846320"/>
            <a:ext cx="10817352" cy="914400"/>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85800" y="4846320"/>
            <a:ext cx="43180" cy="9144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965192"/>
            <a:ext cx="10415016" cy="694944"/>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What integration actually involves. </a:t>
            </a:r>
          </a:p>
          <a:p>
            <a:pPr algn="l">
              <a:lnSpc>
                <a:spcPct val="116000"/>
              </a:lnSpc>
              <a:spcAft>
                <a:spcPts val="0"/>
              </a:spcAft>
            </a:pPr>
            <a:r>
              <a:rPr sz="1200" b="0">
                <a:solidFill>
                  <a:srgbClr val="2E2838"/>
                </a:solidFill>
                <a:latin typeface="Segoe UI"/>
              </a:rPr>
              <a:t>The gateway presents the interface your application already calls, so integration is a change of base URL. It reads only the request, the answer, any supplied context and any proposed actions, so it needs no access to model internals and can run inside your own network where data residency requires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FOUR STAKEHOLDERS, FOUR QUESTIONS</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Target users and buyers</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6</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Business Proposal</a:t>
            </a:r>
          </a:p>
        </p:txBody>
      </p:sp>
      <p:sp>
        <p:nvSpPr>
          <p:cNvPr id="8" name="Rectangle 7"/>
          <p:cNvSpPr/>
          <p:nvPr/>
        </p:nvSpPr>
        <p:spPr>
          <a:xfrm>
            <a:off x="685800" y="1554480"/>
            <a:ext cx="10817352" cy="420624"/>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623060"/>
            <a:ext cx="2615515"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Stakeholder</a:t>
            </a:r>
          </a:p>
        </p:txBody>
      </p:sp>
      <p:sp>
        <p:nvSpPr>
          <p:cNvPr id="10" name="TextBox 9"/>
          <p:cNvSpPr txBox="1"/>
          <p:nvPr/>
        </p:nvSpPr>
        <p:spPr>
          <a:xfrm>
            <a:off x="3511627" y="1623060"/>
            <a:ext cx="2537128"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Decision they own</a:t>
            </a:r>
          </a:p>
        </p:txBody>
      </p:sp>
      <p:sp>
        <p:nvSpPr>
          <p:cNvPr id="11" name="TextBox 10"/>
          <p:cNvSpPr txBox="1"/>
          <p:nvPr/>
        </p:nvSpPr>
        <p:spPr>
          <a:xfrm>
            <a:off x="6176771" y="1623060"/>
            <a:ext cx="5280659"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What this answers for them</a:t>
            </a:r>
          </a:p>
        </p:txBody>
      </p:sp>
      <p:sp>
        <p:nvSpPr>
          <p:cNvPr id="12" name="Rectangle 11"/>
          <p:cNvSpPr/>
          <p:nvPr/>
        </p:nvSpPr>
        <p:spPr>
          <a:xfrm>
            <a:off x="685800" y="1975104"/>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047748"/>
            <a:ext cx="2615515"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Economic buyer  .  CFO or FinOps</a:t>
            </a:r>
          </a:p>
        </p:txBody>
      </p:sp>
      <p:sp>
        <p:nvSpPr>
          <p:cNvPr id="14" name="TextBox 13"/>
          <p:cNvSpPr txBox="1"/>
          <p:nvPr/>
        </p:nvSpPr>
        <p:spPr>
          <a:xfrm>
            <a:off x="3511627" y="2047748"/>
            <a:ext cx="253712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The assurance budget and reviewer headcount</a:t>
            </a:r>
          </a:p>
        </p:txBody>
      </p:sp>
      <p:sp>
        <p:nvSpPr>
          <p:cNvPr id="15" name="TextBox 14"/>
          <p:cNvSpPr txBox="1"/>
          <p:nvPr/>
        </p:nvSpPr>
        <p:spPr>
          <a:xfrm>
            <a:off x="6176771" y="2047748"/>
            <a:ext cx="5280659"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Total cost of assurance split into compute and attention, with cost per thousand interactions reported</a:t>
            </a:r>
          </a:p>
        </p:txBody>
      </p:sp>
      <p:sp>
        <p:nvSpPr>
          <p:cNvPr id="16" name="Rectangle 15"/>
          <p:cNvSpPr/>
          <p:nvPr/>
        </p:nvSpPr>
        <p:spPr>
          <a:xfrm>
            <a:off x="685800" y="241350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2421128"/>
            <a:ext cx="10817352" cy="420624"/>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2475992"/>
            <a:ext cx="2615515"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Risk owner  .  Chief Risk</a:t>
            </a:r>
          </a:p>
        </p:txBody>
      </p:sp>
      <p:sp>
        <p:nvSpPr>
          <p:cNvPr id="19" name="TextBox 18"/>
          <p:cNvSpPr txBox="1"/>
          <p:nvPr/>
        </p:nvSpPr>
        <p:spPr>
          <a:xfrm>
            <a:off x="3511627" y="2475992"/>
            <a:ext cx="253712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The minimum control and audit evidence</a:t>
            </a:r>
          </a:p>
        </p:txBody>
      </p:sp>
      <p:sp>
        <p:nvSpPr>
          <p:cNvPr id="20" name="TextBox 19"/>
          <p:cNvSpPr txBox="1"/>
          <p:nvPr/>
        </p:nvSpPr>
        <p:spPr>
          <a:xfrm>
            <a:off x="6176771" y="2475992"/>
            <a:ext cx="5280659"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A per route safety floor with a stated bound, jurisdiction policy packs, every override in a verifiable chain</a:t>
            </a:r>
          </a:p>
        </p:txBody>
      </p:sp>
      <p:sp>
        <p:nvSpPr>
          <p:cNvPr id="21" name="Rectangle 20"/>
          <p:cNvSpPr/>
          <p:nvPr/>
        </p:nvSpPr>
        <p:spPr>
          <a:xfrm>
            <a:off x="685800" y="284175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904236"/>
            <a:ext cx="2615515"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Technical owner  .  AI Platform</a:t>
            </a:r>
          </a:p>
        </p:txBody>
      </p:sp>
      <p:sp>
        <p:nvSpPr>
          <p:cNvPr id="23" name="TextBox 22"/>
          <p:cNvSpPr txBox="1"/>
          <p:nvPr/>
        </p:nvSpPr>
        <p:spPr>
          <a:xfrm>
            <a:off x="3511627" y="2904236"/>
            <a:ext cx="253712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Integration, portability and reliability</a:t>
            </a:r>
          </a:p>
        </p:txBody>
      </p:sp>
      <p:sp>
        <p:nvSpPr>
          <p:cNvPr id="24" name="TextBox 23"/>
          <p:cNvSpPr txBox="1"/>
          <p:nvPr/>
        </p:nvSpPr>
        <p:spPr>
          <a:xfrm>
            <a:off x="6176771" y="2904236"/>
            <a:ext cx="5280659"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A drop in gateway on the interface you already use, detector adapters that are one method, load tested</a:t>
            </a:r>
          </a:p>
        </p:txBody>
      </p:sp>
      <p:sp>
        <p:nvSpPr>
          <p:cNvPr id="25" name="Rectangle 24"/>
          <p:cNvSpPr/>
          <p:nvPr/>
        </p:nvSpPr>
        <p:spPr>
          <a:xfrm>
            <a:off x="685800" y="3269996"/>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3277616"/>
            <a:ext cx="10817352" cy="420624"/>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3332480"/>
            <a:ext cx="2615515"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Operational user  .  Head of Review</a:t>
            </a:r>
          </a:p>
        </p:txBody>
      </p:sp>
      <p:sp>
        <p:nvSpPr>
          <p:cNvPr id="28" name="TextBox 27"/>
          <p:cNvSpPr txBox="1"/>
          <p:nvPr/>
        </p:nvSpPr>
        <p:spPr>
          <a:xfrm>
            <a:off x="3511627" y="3332480"/>
            <a:ext cx="253712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Reviewer workload and what gets dropped</a:t>
            </a:r>
          </a:p>
        </p:txBody>
      </p:sp>
      <p:sp>
        <p:nvSpPr>
          <p:cNvPr id="29" name="TextBox 28"/>
          <p:cNvSpPr txBox="1"/>
          <p:nvPr/>
        </p:nvSpPr>
        <p:spPr>
          <a:xfrm>
            <a:off x="6176771" y="3332480"/>
            <a:ext cx="5280659"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A queue ordered by value against deadline, with shed rate and deadline misses reported rather than hidden</a:t>
            </a:r>
          </a:p>
        </p:txBody>
      </p:sp>
      <p:sp>
        <p:nvSpPr>
          <p:cNvPr id="30" name="Rectangle 29"/>
          <p:cNvSpPr/>
          <p:nvPr/>
        </p:nvSpPr>
        <p:spPr>
          <a:xfrm>
            <a:off x="685800" y="3698240"/>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3977639"/>
            <a:ext cx="10817352" cy="457200"/>
          </a:xfrm>
          <a:prstGeom prst="rect">
            <a:avLst/>
          </a:prstGeom>
          <a:noFill/>
        </p:spPr>
        <p:txBody>
          <a:bodyPr wrap="square" lIns="0" rIns="0" tIns="0" bIns="0">
            <a:spAutoFit/>
          </a:bodyPr>
          <a:lstStyle/>
          <a:p>
            <a:pPr algn="l">
              <a:lnSpc>
                <a:spcPct val="125000"/>
              </a:lnSpc>
              <a:spcAft>
                <a:spcPts val="0"/>
              </a:spcAft>
            </a:pPr>
            <a:r>
              <a:rPr sz="1400" b="0">
                <a:solidFill>
                  <a:srgbClr val="2E2838"/>
                </a:solidFill>
                <a:latin typeface="Segoe UI"/>
              </a:rPr>
              <a:t>The budget usually already exists as manual review headcount rather than as a tooling line. That matters for how this is sold. It is a reallocation of an existing cost, not a new one.</a:t>
            </a:r>
          </a:p>
        </p:txBody>
      </p:sp>
      <p:sp>
        <p:nvSpPr>
          <p:cNvPr id="32" name="Rectangle 31"/>
          <p:cNvSpPr/>
          <p:nvPr/>
        </p:nvSpPr>
        <p:spPr>
          <a:xfrm>
            <a:off x="685800" y="4709160"/>
            <a:ext cx="10817352" cy="914400"/>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5800" y="4709160"/>
            <a:ext cx="43180" cy="9144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6968" y="4828032"/>
            <a:ext cx="10415016" cy="694944"/>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Where it fits first. </a:t>
            </a:r>
          </a:p>
          <a:p>
            <a:pPr algn="l">
              <a:lnSpc>
                <a:spcPct val="116000"/>
              </a:lnSpc>
              <a:spcAft>
                <a:spcPts val="0"/>
              </a:spcAft>
            </a:pPr>
            <a:r>
              <a:rPr sz="1200" b="0">
                <a:solidFill>
                  <a:srgbClr val="2E2838"/>
                </a:solidFill>
                <a:latin typeface="Segoe UI"/>
              </a:rPr>
              <a:t>A regulated enterprise running a customer facing assistant alongside an assistant that can take an action. Banking, insurance, telecom and large scale consumer support all have the same shape. High volume, a real consequence table, an existing review desk, and a regulator who will eventually ask for evidence.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TWO REQUESTS, ONE MINUTE APART, SAME ASSISTANT</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Customer use case</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7</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Business Proposal</a:t>
            </a:r>
          </a:p>
        </p:txBody>
      </p:sp>
      <p:sp>
        <p:nvSpPr>
          <p:cNvPr id="8" name="Rectangle 7"/>
          <p:cNvSpPr/>
          <p:nvPr/>
        </p:nvSpPr>
        <p:spPr>
          <a:xfrm>
            <a:off x="685800" y="1554480"/>
            <a:ext cx="5212080" cy="2834640"/>
          </a:xfrm>
          <a:prstGeom prst="rect">
            <a:avLst/>
          </a:prstGeom>
          <a:solidFill>
            <a:srgbClr val="FFFFFF"/>
          </a:solidFill>
          <a:ln w="11430">
            <a:solidFill>
              <a:srgbClr val="E3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554480"/>
            <a:ext cx="5212080"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755648"/>
            <a:ext cx="4663440" cy="201168"/>
          </a:xfrm>
          <a:prstGeom prst="rect">
            <a:avLst/>
          </a:prstGeom>
          <a:noFill/>
        </p:spPr>
        <p:txBody>
          <a:bodyPr wrap="square" lIns="0" rIns="0" tIns="0" bIns="0">
            <a:spAutoFit/>
          </a:bodyPr>
          <a:lstStyle/>
          <a:p>
            <a:pPr algn="l">
              <a:lnSpc>
                <a:spcPct val="100000"/>
              </a:lnSpc>
              <a:spcAft>
                <a:spcPts val="0"/>
              </a:spcAft>
            </a:pPr>
            <a:r>
              <a:rPr sz="950" b="1">
                <a:solidFill>
                  <a:srgbClr val="6D28D9"/>
                </a:solidFill>
                <a:latin typeface="Segoe UI"/>
              </a:rPr>
              <a:t>REQUEST ONE</a:t>
            </a:r>
          </a:p>
        </p:txBody>
      </p:sp>
      <p:sp>
        <p:nvSpPr>
          <p:cNvPr id="11" name="TextBox 10"/>
          <p:cNvSpPr txBox="1"/>
          <p:nvPr/>
        </p:nvSpPr>
        <p:spPr>
          <a:xfrm>
            <a:off x="941832" y="2011680"/>
            <a:ext cx="4663440" cy="292608"/>
          </a:xfrm>
          <a:prstGeom prst="rect">
            <a:avLst/>
          </a:prstGeom>
          <a:noFill/>
        </p:spPr>
        <p:txBody>
          <a:bodyPr wrap="square" lIns="0" rIns="0" tIns="0" bIns="0">
            <a:spAutoFit/>
          </a:bodyPr>
          <a:lstStyle/>
          <a:p>
            <a:pPr algn="l">
              <a:lnSpc>
                <a:spcPct val="100000"/>
              </a:lnSpc>
              <a:spcAft>
                <a:spcPts val="0"/>
              </a:spcAft>
            </a:pPr>
            <a:r>
              <a:rPr sz="1700" b="1">
                <a:solidFill>
                  <a:srgbClr val="3B0764"/>
                </a:solidFill>
                <a:latin typeface="Segoe UI"/>
              </a:rPr>
              <a:t>A routine ticket lookup</a:t>
            </a:r>
          </a:p>
        </p:txBody>
      </p:sp>
      <p:sp>
        <p:nvSpPr>
          <p:cNvPr id="12" name="TextBox 11"/>
          <p:cNvSpPr txBox="1"/>
          <p:nvPr/>
        </p:nvSpPr>
        <p:spPr>
          <a:xfrm>
            <a:off x="941832" y="2432304"/>
            <a:ext cx="4663440" cy="1371600"/>
          </a:xfrm>
          <a:prstGeom prst="rect">
            <a:avLst/>
          </a:prstGeom>
          <a:noFill/>
        </p:spPr>
        <p:txBody>
          <a:bodyPr wrap="square" lIns="0" rIns="0" tIns="0" bIns="0">
            <a:spAutoFit/>
          </a:bodyPr>
          <a:lstStyle/>
          <a:p>
            <a:pPr algn="l">
              <a:lnSpc>
                <a:spcPct val="122000"/>
              </a:lnSpc>
              <a:spcAft>
                <a:spcPts val="0"/>
              </a:spcAft>
            </a:pPr>
            <a:r>
              <a:rPr sz="1250" b="0">
                <a:solidFill>
                  <a:srgbClr val="2E2838"/>
                </a:solidFill>
                <a:latin typeface="Segoe UI"/>
              </a:rPr>
              <a:t>A customer asks for the status of an open ticket. The cheap checks score the answer well below the safety threshold. The expensive judge would prevent very little extra loss and would cost far more than that, so it is not bought. The answer is released.</a:t>
            </a:r>
          </a:p>
        </p:txBody>
      </p:sp>
      <p:sp>
        <p:nvSpPr>
          <p:cNvPr id="13" name="TextBox 12"/>
          <p:cNvSpPr txBox="1"/>
          <p:nvPr/>
        </p:nvSpPr>
        <p:spPr>
          <a:xfrm>
            <a:off x="941832" y="3931920"/>
            <a:ext cx="4663440" cy="274320"/>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Cost of assurance 20 paise.   Delay added, none the customer notices.</a:t>
            </a:r>
          </a:p>
        </p:txBody>
      </p:sp>
      <p:sp>
        <p:nvSpPr>
          <p:cNvPr id="14" name="Rectangle 13"/>
          <p:cNvSpPr/>
          <p:nvPr/>
        </p:nvSpPr>
        <p:spPr>
          <a:xfrm>
            <a:off x="6291072" y="1554480"/>
            <a:ext cx="5212080" cy="2834640"/>
          </a:xfrm>
          <a:prstGeom prst="rect">
            <a:avLst/>
          </a:prstGeom>
          <a:solidFill>
            <a:srgbClr val="FFFFFF"/>
          </a:solidFill>
          <a:ln w="11430">
            <a:solidFill>
              <a:srgbClr val="E3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91072" y="1554480"/>
            <a:ext cx="5212080"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7104" y="1755648"/>
            <a:ext cx="4663440" cy="201168"/>
          </a:xfrm>
          <a:prstGeom prst="rect">
            <a:avLst/>
          </a:prstGeom>
          <a:noFill/>
        </p:spPr>
        <p:txBody>
          <a:bodyPr wrap="square" lIns="0" rIns="0" tIns="0" bIns="0">
            <a:spAutoFit/>
          </a:bodyPr>
          <a:lstStyle/>
          <a:p>
            <a:pPr algn="l">
              <a:lnSpc>
                <a:spcPct val="100000"/>
              </a:lnSpc>
              <a:spcAft>
                <a:spcPts val="0"/>
              </a:spcAft>
            </a:pPr>
            <a:r>
              <a:rPr sz="950" b="1">
                <a:solidFill>
                  <a:srgbClr val="6D28D9"/>
                </a:solidFill>
                <a:latin typeface="Segoe UI"/>
              </a:rPr>
              <a:t>REQUEST TWO</a:t>
            </a:r>
          </a:p>
        </p:txBody>
      </p:sp>
      <p:sp>
        <p:nvSpPr>
          <p:cNvPr id="17" name="TextBox 16"/>
          <p:cNvSpPr txBox="1"/>
          <p:nvPr/>
        </p:nvSpPr>
        <p:spPr>
          <a:xfrm>
            <a:off x="6547104" y="2011680"/>
            <a:ext cx="4663440" cy="292608"/>
          </a:xfrm>
          <a:prstGeom prst="rect">
            <a:avLst/>
          </a:prstGeom>
          <a:noFill/>
        </p:spPr>
        <p:txBody>
          <a:bodyPr wrap="square" lIns="0" rIns="0" tIns="0" bIns="0">
            <a:spAutoFit/>
          </a:bodyPr>
          <a:lstStyle/>
          <a:p>
            <a:pPr algn="l">
              <a:lnSpc>
                <a:spcPct val="100000"/>
              </a:lnSpc>
              <a:spcAft>
                <a:spcPts val="0"/>
              </a:spcAft>
            </a:pPr>
            <a:r>
              <a:rPr sz="1700" b="1">
                <a:solidFill>
                  <a:srgbClr val="3B0764"/>
                </a:solidFill>
                <a:latin typeface="Segoe UI"/>
              </a:rPr>
              <a:t>A payment instruction</a:t>
            </a:r>
          </a:p>
        </p:txBody>
      </p:sp>
      <p:sp>
        <p:nvSpPr>
          <p:cNvPr id="18" name="TextBox 17"/>
          <p:cNvSpPr txBox="1"/>
          <p:nvPr/>
        </p:nvSpPr>
        <p:spPr>
          <a:xfrm>
            <a:off x="6547104" y="2432304"/>
            <a:ext cx="4663440" cy="1371600"/>
          </a:xfrm>
          <a:prstGeom prst="rect">
            <a:avLst/>
          </a:prstGeom>
          <a:noFill/>
        </p:spPr>
        <p:txBody>
          <a:bodyPr wrap="square" lIns="0" rIns="0" tIns="0" bIns="0">
            <a:spAutoFit/>
          </a:bodyPr>
          <a:lstStyle/>
          <a:p>
            <a:pPr algn="l">
              <a:lnSpc>
                <a:spcPct val="122000"/>
              </a:lnSpc>
              <a:spcAft>
                <a:spcPts val="0"/>
              </a:spcAft>
            </a:pPr>
            <a:r>
              <a:rPr sz="1250" b="0">
                <a:solidFill>
                  <a:srgbClr val="2E2838"/>
                </a:solidFill>
                <a:latin typeface="Segoe UI"/>
              </a:rPr>
              <a:t>A request on the finance route carries a transfer, and the model echoes a secret its source said must never be repeated. Risk lands above the safety threshold, so a check is compulsory before any price is considered. The judge is bought, the answer is blocked, the transfer is denied, and the case is queued for a person.</a:t>
            </a:r>
          </a:p>
        </p:txBody>
      </p:sp>
      <p:sp>
        <p:nvSpPr>
          <p:cNvPr id="19" name="TextBox 18"/>
          <p:cNvSpPr txBox="1"/>
          <p:nvPr/>
        </p:nvSpPr>
        <p:spPr>
          <a:xfrm>
            <a:off x="6547104" y="3931920"/>
            <a:ext cx="4663440" cy="274320"/>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Cost of assurance Rs 3.20.   Loss on the table Rs 69,357.</a:t>
            </a:r>
          </a:p>
        </p:txBody>
      </p:sp>
      <p:sp>
        <p:nvSpPr>
          <p:cNvPr id="20" name="Rectangle 19"/>
          <p:cNvSpPr/>
          <p:nvPr/>
        </p:nvSpPr>
        <p:spPr>
          <a:xfrm>
            <a:off x="685800" y="4617720"/>
            <a:ext cx="10817352" cy="777240"/>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5800" y="4617720"/>
            <a:ext cx="43180" cy="7772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736592"/>
            <a:ext cx="10415016" cy="557784"/>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The point of the pair. </a:t>
            </a:r>
          </a:p>
          <a:p>
            <a:pPr algn="l">
              <a:lnSpc>
                <a:spcPct val="116000"/>
              </a:lnSpc>
              <a:spcAft>
                <a:spcPts val="0"/>
              </a:spcAft>
            </a:pPr>
            <a:r>
              <a:rPr sz="1200" b="0">
                <a:solidFill>
                  <a:srgbClr val="2E2838"/>
                </a:solidFill>
                <a:latin typeface="Segoe UI"/>
              </a:rPr>
              <a:t>Neither request was treated as average. The first was cheap because nothing was at stake. The second was expensive because a great deal was, and the system could afford it precisely because the first one did not spend.</a:t>
            </a:r>
          </a:p>
        </p:txBody>
      </p:sp>
      <p:sp>
        <p:nvSpPr>
          <p:cNvPr id="23" name="TextBox 22"/>
          <p:cNvSpPr txBox="1"/>
          <p:nvPr/>
        </p:nvSpPr>
        <p:spPr>
          <a:xfrm>
            <a:off x="685800" y="5577840"/>
            <a:ext cx="10817352" cy="457200"/>
          </a:xfrm>
          <a:prstGeom prst="rect">
            <a:avLst/>
          </a:prstGeom>
          <a:noFill/>
        </p:spPr>
        <p:txBody>
          <a:bodyPr wrap="square" lIns="0" rIns="0" tIns="0" bIns="0">
            <a:spAutoFit/>
          </a:bodyPr>
          <a:lstStyle/>
          <a:p>
            <a:pPr algn="l">
              <a:lnSpc>
                <a:spcPct val="100000"/>
              </a:lnSpc>
              <a:spcAft>
                <a:spcPts val="0"/>
              </a:spcAft>
            </a:pPr>
            <a:r>
              <a:rPr sz="1300" b="1">
                <a:solidFill>
                  <a:srgbClr val="17121F"/>
                </a:solidFill>
                <a:latin typeface="Segoe UI"/>
              </a:rPr>
              <a:t>What the customer never sees. </a:t>
            </a:r>
          </a:p>
        </p:txBody>
      </p:sp>
      <p:sp>
        <p:nvSpPr>
          <p:cNvPr id="24" name="TextBox 23"/>
          <p:cNvSpPr txBox="1"/>
          <p:nvPr/>
        </p:nvSpPr>
        <p:spPr>
          <a:xfrm>
            <a:off x="2743200" y="5577840"/>
            <a:ext cx="8778240" cy="457200"/>
          </a:xfrm>
          <a:prstGeom prst="rect">
            <a:avLst/>
          </a:prstGeom>
          <a:noFill/>
        </p:spPr>
        <p:txBody>
          <a:bodyPr wrap="square" lIns="0" rIns="0" tIns="0" bIns="0">
            <a:spAutoFit/>
          </a:bodyPr>
          <a:lstStyle/>
          <a:p>
            <a:pPr algn="l">
              <a:lnSpc>
                <a:spcPct val="120000"/>
              </a:lnSpc>
              <a:spcAft>
                <a:spcPts val="0"/>
              </a:spcAft>
            </a:pPr>
            <a:r>
              <a:rPr sz="1300" b="0">
                <a:solidFill>
                  <a:srgbClr val="2E2838"/>
                </a:solidFill>
                <a:latin typeface="Segoe UI"/>
              </a:rPr>
              <a:t>In the second case the customer receives a message saying the request has been passed to a colleague. The business does not lose the money, and the review desk receives a case tagged with what it is worth.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EVERY INPUT IS EXPOSED SO IT CAN BE CHALLENGED</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Business case</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8</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Business Proposal</a:t>
            </a:r>
          </a:p>
        </p:txBody>
      </p:sp>
      <p:sp>
        <p:nvSpPr>
          <p:cNvPr id="8" name="Rectangle 7"/>
          <p:cNvSpPr/>
          <p:nvPr/>
        </p:nvSpPr>
        <p:spPr>
          <a:xfrm>
            <a:off x="685800" y="1536192"/>
            <a:ext cx="10817352" cy="384048"/>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604772"/>
            <a:ext cx="2537128"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Input</a:t>
            </a:r>
          </a:p>
        </p:txBody>
      </p:sp>
      <p:sp>
        <p:nvSpPr>
          <p:cNvPr id="10" name="TextBox 9"/>
          <p:cNvSpPr txBox="1"/>
          <p:nvPr/>
        </p:nvSpPr>
        <p:spPr>
          <a:xfrm>
            <a:off x="3433240" y="1604772"/>
            <a:ext cx="2380355"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Where it comes from</a:t>
            </a:r>
          </a:p>
        </p:txBody>
      </p:sp>
      <p:sp>
        <p:nvSpPr>
          <p:cNvPr id="11" name="TextBox 10"/>
          <p:cNvSpPr txBox="1"/>
          <p:nvPr/>
        </p:nvSpPr>
        <p:spPr>
          <a:xfrm>
            <a:off x="5941611" y="1604772"/>
            <a:ext cx="5515819"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Status today</a:t>
            </a:r>
          </a:p>
        </p:txBody>
      </p:sp>
      <p:sp>
        <p:nvSpPr>
          <p:cNvPr id="12" name="Rectangle 11"/>
          <p:cNvSpPr/>
          <p:nvPr/>
        </p:nvSpPr>
        <p:spPr>
          <a:xfrm>
            <a:off x="685800" y="1920240"/>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1992884"/>
            <a:ext cx="2537128"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Reviewer rate and handling time</a:t>
            </a:r>
          </a:p>
        </p:txBody>
      </p:sp>
      <p:sp>
        <p:nvSpPr>
          <p:cNvPr id="14" name="TextBox 13"/>
          <p:cNvSpPr txBox="1"/>
          <p:nvPr/>
        </p:nvSpPr>
        <p:spPr>
          <a:xfrm>
            <a:off x="3433240" y="1992884"/>
            <a:ext cx="2380355"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Invoice and queue study</a:t>
            </a:r>
          </a:p>
        </p:txBody>
      </p:sp>
      <p:sp>
        <p:nvSpPr>
          <p:cNvPr id="15" name="TextBox 14"/>
          <p:cNvSpPr txBox="1"/>
          <p:nvPr/>
        </p:nvSpPr>
        <p:spPr>
          <a:xfrm>
            <a:off x="5941611" y="1992884"/>
            <a:ext cx="5515819"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Defensible. This is a real number a CFO already owns</a:t>
            </a:r>
          </a:p>
        </p:txBody>
      </p:sp>
      <p:sp>
        <p:nvSpPr>
          <p:cNvPr id="16" name="Rectangle 15"/>
          <p:cNvSpPr/>
          <p:nvPr/>
        </p:nvSpPr>
        <p:spPr>
          <a:xfrm>
            <a:off x="685800" y="232206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2329688"/>
            <a:ext cx="10817352" cy="384048"/>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2384552"/>
            <a:ext cx="2537128"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Check price</a:t>
            </a:r>
          </a:p>
        </p:txBody>
      </p:sp>
      <p:sp>
        <p:nvSpPr>
          <p:cNvPr id="19" name="TextBox 18"/>
          <p:cNvSpPr txBox="1"/>
          <p:nvPr/>
        </p:nvSpPr>
        <p:spPr>
          <a:xfrm>
            <a:off x="3433240" y="2384552"/>
            <a:ext cx="2380355"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Provider token prices</a:t>
            </a:r>
          </a:p>
        </p:txBody>
      </p:sp>
      <p:sp>
        <p:nvSpPr>
          <p:cNvPr id="20" name="TextBox 19"/>
          <p:cNvSpPr txBox="1"/>
          <p:nvPr/>
        </p:nvSpPr>
        <p:spPr>
          <a:xfrm>
            <a:off x="5941611" y="2384552"/>
            <a:ext cx="5515819"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Defensible once a real provider adapter is in place</a:t>
            </a:r>
          </a:p>
        </p:txBody>
      </p:sp>
      <p:sp>
        <p:nvSpPr>
          <p:cNvPr id="21" name="Rectangle 20"/>
          <p:cNvSpPr/>
          <p:nvPr/>
        </p:nvSpPr>
        <p:spPr>
          <a:xfrm>
            <a:off x="685800" y="2713736"/>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776220"/>
            <a:ext cx="2537128"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Catch rate</a:t>
            </a:r>
          </a:p>
        </p:txBody>
      </p:sp>
      <p:sp>
        <p:nvSpPr>
          <p:cNvPr id="23" name="TextBox 22"/>
          <p:cNvSpPr txBox="1"/>
          <p:nvPr/>
        </p:nvSpPr>
        <p:spPr>
          <a:xfrm>
            <a:off x="3433240" y="2776220"/>
            <a:ext cx="2380355"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Reviewer labels plus a sampled audit</a:t>
            </a:r>
          </a:p>
        </p:txBody>
      </p:sp>
      <p:sp>
        <p:nvSpPr>
          <p:cNvPr id="24" name="TextBox 23"/>
          <p:cNvSpPr txBox="1"/>
          <p:nvPr/>
        </p:nvSpPr>
        <p:spPr>
          <a:xfrm>
            <a:off x="5941611" y="2776220"/>
            <a:ext cx="5515819"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Measured. The judge caught 0.930 against 0.880 configured over 365 observations</a:t>
            </a:r>
          </a:p>
        </p:txBody>
      </p:sp>
      <p:sp>
        <p:nvSpPr>
          <p:cNvPr id="25" name="Rectangle 24"/>
          <p:cNvSpPr/>
          <p:nvPr/>
        </p:nvSpPr>
        <p:spPr>
          <a:xfrm>
            <a:off x="685800" y="3105404"/>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3113024"/>
            <a:ext cx="10817352" cy="384048"/>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3167888"/>
            <a:ext cx="2537128"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Consequence of each harm</a:t>
            </a:r>
          </a:p>
        </p:txBody>
      </p:sp>
      <p:sp>
        <p:nvSpPr>
          <p:cNvPr id="28" name="TextBox 27"/>
          <p:cNvSpPr txBox="1"/>
          <p:nvPr/>
        </p:nvSpPr>
        <p:spPr>
          <a:xfrm>
            <a:off x="3433240" y="3167888"/>
            <a:ext cx="2380355"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Finance and risk, as a range</a:t>
            </a:r>
          </a:p>
        </p:txBody>
      </p:sp>
      <p:sp>
        <p:nvSpPr>
          <p:cNvPr id="29" name="TextBox 28"/>
          <p:cNvSpPr txBox="1"/>
          <p:nvPr/>
        </p:nvSpPr>
        <p:spPr>
          <a:xfrm>
            <a:off x="5941611" y="3167888"/>
            <a:ext cx="5515819"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Assumption, but bounded. Across a 0.25 to 4 times swing, 10.9% of spending decisions move and no verdict does</a:t>
            </a:r>
          </a:p>
        </p:txBody>
      </p:sp>
      <p:sp>
        <p:nvSpPr>
          <p:cNvPr id="30" name="Rectangle 29"/>
          <p:cNvSpPr/>
          <p:nvPr/>
        </p:nvSpPr>
        <p:spPr>
          <a:xfrm>
            <a:off x="685800" y="349707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5800" y="3401568"/>
            <a:ext cx="347167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529584"/>
            <a:ext cx="347167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Rs 64 lakh</a:t>
            </a:r>
          </a:p>
        </p:txBody>
      </p:sp>
      <p:sp>
        <p:nvSpPr>
          <p:cNvPr id="33" name="TextBox 32"/>
          <p:cNvSpPr txBox="1"/>
          <p:nvPr/>
        </p:nvSpPr>
        <p:spPr>
          <a:xfrm>
            <a:off x="685800" y="3968496"/>
            <a:ext cx="347167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a year in compute to check every answer at two million interactions</a:t>
            </a:r>
          </a:p>
        </p:txBody>
      </p:sp>
      <p:sp>
        <p:nvSpPr>
          <p:cNvPr id="34" name="Rectangle 33"/>
          <p:cNvSpPr/>
          <p:nvPr/>
        </p:nvSpPr>
        <p:spPr>
          <a:xfrm>
            <a:off x="4358640" y="3401568"/>
            <a:ext cx="347167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58640" y="3529584"/>
            <a:ext cx="347167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Rs 6.4 lakh</a:t>
            </a:r>
          </a:p>
        </p:txBody>
      </p:sp>
      <p:sp>
        <p:nvSpPr>
          <p:cNvPr id="36" name="TextBox 35"/>
          <p:cNvSpPr txBox="1"/>
          <p:nvPr/>
        </p:nvSpPr>
        <p:spPr>
          <a:xfrm>
            <a:off x="4358640" y="3968496"/>
            <a:ext cx="347167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a year for 92.8% of the same protection</a:t>
            </a:r>
          </a:p>
        </p:txBody>
      </p:sp>
      <p:sp>
        <p:nvSpPr>
          <p:cNvPr id="37" name="Rectangle 36"/>
          <p:cNvSpPr/>
          <p:nvPr/>
        </p:nvSpPr>
        <p:spPr>
          <a:xfrm>
            <a:off x="8031480" y="3401568"/>
            <a:ext cx="347167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31480" y="3529584"/>
            <a:ext cx="347167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81 to 98%</a:t>
            </a:r>
          </a:p>
        </p:txBody>
      </p:sp>
      <p:sp>
        <p:nvSpPr>
          <p:cNvPr id="39" name="TextBox 38"/>
          <p:cNvSpPr txBox="1"/>
          <p:nvPr/>
        </p:nvSpPr>
        <p:spPr>
          <a:xfrm>
            <a:off x="8031480" y="3968496"/>
            <a:ext cx="347167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of the remaining bill is reviewer time, which is the real target</a:t>
            </a:r>
          </a:p>
        </p:txBody>
      </p:sp>
      <p:sp>
        <p:nvSpPr>
          <p:cNvPr id="40" name="Rectangle 39"/>
          <p:cNvSpPr/>
          <p:nvPr/>
        </p:nvSpPr>
        <p:spPr>
          <a:xfrm>
            <a:off x="685800" y="4846320"/>
            <a:ext cx="10817352" cy="914400"/>
          </a:xfrm>
          <a:prstGeom prst="rect">
            <a:avLst/>
          </a:prstGeom>
          <a:solidFill>
            <a:srgbClr val="FF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5800" y="4846320"/>
            <a:ext cx="43180" cy="914400"/>
          </a:xfrm>
          <a:prstGeom prst="rect">
            <a:avLst/>
          </a:prstGeom>
          <a:solidFill>
            <a:srgbClr val="9A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6968" y="4965192"/>
            <a:ext cx="10415016" cy="694944"/>
          </a:xfrm>
          <a:prstGeom prst="rect">
            <a:avLst/>
          </a:prstGeom>
          <a:noFill/>
        </p:spPr>
        <p:txBody>
          <a:bodyPr wrap="square" lIns="0" rIns="0" tIns="0" bIns="0">
            <a:spAutoFit/>
          </a:bodyPr>
          <a:lstStyle/>
          <a:p>
            <a:pPr algn="l">
              <a:lnSpc>
                <a:spcPct val="116000"/>
              </a:lnSpc>
              <a:spcAft>
                <a:spcPts val="300"/>
              </a:spcAft>
            </a:pPr>
            <a:r>
              <a:rPr sz="1200" b="1">
                <a:solidFill>
                  <a:srgbClr val="9A5B00"/>
                </a:solidFill>
                <a:latin typeface="Segoe UI"/>
              </a:rPr>
              <a:t>Stated plainly, because it is the strongest objection. </a:t>
            </a:r>
          </a:p>
          <a:p>
            <a:pPr algn="l">
              <a:lnSpc>
                <a:spcPct val="116000"/>
              </a:lnSpc>
              <a:spcAft>
                <a:spcPts val="0"/>
              </a:spcAft>
            </a:pPr>
            <a:r>
              <a:rPr sz="1200" b="0">
                <a:solidFill>
                  <a:srgbClr val="2E2838"/>
                </a:solidFill>
                <a:latin typeface="Segoe UI"/>
              </a:rPr>
              <a:t>At the tightest budget a well tuned blanket cheap check averts 2.4% more than we do for a fraction of the compute spend. Our advantage on compute alone is small. Where we beat the obvious alternative is on the resource that costs the money, which is reviewer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WHAT CHANGES, AND WHY IT HOLDS</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Expected impact and differentiation</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9</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Business Proposal</a:t>
            </a:r>
          </a:p>
        </p:txBody>
      </p:sp>
      <p:sp>
        <p:nvSpPr>
          <p:cNvPr id="8" name="Rectangle 7"/>
          <p:cNvSpPr/>
          <p:nvPr/>
        </p:nvSpPr>
        <p:spPr>
          <a:xfrm>
            <a:off x="685800" y="1536192"/>
            <a:ext cx="10817352" cy="365760"/>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604772"/>
            <a:ext cx="2303791"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Where</a:t>
            </a:r>
          </a:p>
        </p:txBody>
      </p:sp>
      <p:sp>
        <p:nvSpPr>
          <p:cNvPr id="10" name="TextBox 9"/>
          <p:cNvSpPr txBox="1"/>
          <p:nvPr/>
        </p:nvSpPr>
        <p:spPr>
          <a:xfrm>
            <a:off x="3199903" y="1604772"/>
            <a:ext cx="8257528"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Effect measured on held out traffic</a:t>
            </a:r>
          </a:p>
        </p:txBody>
      </p:sp>
      <p:sp>
        <p:nvSpPr>
          <p:cNvPr id="11" name="Rectangle 10"/>
          <p:cNvSpPr/>
          <p:nvPr/>
        </p:nvSpPr>
        <p:spPr>
          <a:xfrm>
            <a:off x="685800" y="1901952"/>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74596"/>
            <a:ext cx="2303791"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Compute spend</a:t>
            </a:r>
          </a:p>
        </p:txBody>
      </p:sp>
      <p:sp>
        <p:nvSpPr>
          <p:cNvPr id="13" name="TextBox 12"/>
          <p:cNvSpPr txBox="1"/>
          <p:nvPr/>
        </p:nvSpPr>
        <p:spPr>
          <a:xfrm>
            <a:off x="3199903" y="1974596"/>
            <a:ext cx="825752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92.8% of the protection of checking everything for 10.0% of the cost. At an 80% budget it beats checking everything</a:t>
            </a:r>
          </a:p>
        </p:txBody>
      </p:sp>
      <p:sp>
        <p:nvSpPr>
          <p:cNvPr id="14" name="Rectangle 13"/>
          <p:cNvSpPr/>
          <p:nvPr/>
        </p:nvSpPr>
        <p:spPr>
          <a:xfrm>
            <a:off x="685800" y="228549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2293112"/>
            <a:ext cx="10817352" cy="365760"/>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2347976"/>
            <a:ext cx="2303791"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Reviewer productivity</a:t>
            </a:r>
          </a:p>
        </p:txBody>
      </p:sp>
      <p:sp>
        <p:nvSpPr>
          <p:cNvPr id="17" name="TextBox 16"/>
          <p:cNvSpPr txBox="1"/>
          <p:nvPr/>
        </p:nvSpPr>
        <p:spPr>
          <a:xfrm>
            <a:off x="3199903" y="2347976"/>
            <a:ext cx="825752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1.59 times more expected loss from the same hours. High value cases dropped fall from 15 to 2. Deadline misses fall from 139 to 65</a:t>
            </a:r>
          </a:p>
        </p:txBody>
      </p:sp>
      <p:sp>
        <p:nvSpPr>
          <p:cNvPr id="18" name="Rectangle 17"/>
          <p:cNvSpPr/>
          <p:nvPr/>
        </p:nvSpPr>
        <p:spPr>
          <a:xfrm>
            <a:off x="685800" y="265887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721356"/>
            <a:ext cx="2303791"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Customer experience</a:t>
            </a:r>
          </a:p>
        </p:txBody>
      </p:sp>
      <p:sp>
        <p:nvSpPr>
          <p:cNvPr id="20" name="TextBox 19"/>
          <p:cNvSpPr txBox="1"/>
          <p:nvPr/>
        </p:nvSpPr>
        <p:spPr>
          <a:xfrm>
            <a:off x="3199903" y="2721356"/>
            <a:ext cx="825752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Text is never held behind a verdict, only actions are. Under overload the effect tail holds at 104 ms against 1,508 ms</a:t>
            </a:r>
          </a:p>
        </p:txBody>
      </p:sp>
      <p:sp>
        <p:nvSpPr>
          <p:cNvPr id="21" name="Rectangle 20"/>
          <p:cNvSpPr/>
          <p:nvPr/>
        </p:nvSpPr>
        <p:spPr>
          <a:xfrm>
            <a:off x="685800" y="303225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3039872"/>
            <a:ext cx="10817352" cy="365760"/>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3094736"/>
            <a:ext cx="2303791"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Audit readiness</a:t>
            </a:r>
          </a:p>
        </p:txBody>
      </p:sp>
      <p:sp>
        <p:nvSpPr>
          <p:cNvPr id="24" name="TextBox 23"/>
          <p:cNvSpPr txBox="1"/>
          <p:nvPr/>
        </p:nvSpPr>
        <p:spPr>
          <a:xfrm>
            <a:off x="3199903" y="3094736"/>
            <a:ext cx="825752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1,500 of 1,500 decisions and 224 of 224 proposed actions logged in one verified chain</a:t>
            </a:r>
          </a:p>
        </p:txBody>
      </p:sp>
      <p:sp>
        <p:nvSpPr>
          <p:cNvPr id="25" name="Rectangle 24"/>
          <p:cNvSpPr/>
          <p:nvPr/>
        </p:nvSpPr>
        <p:spPr>
          <a:xfrm>
            <a:off x="685800" y="340563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611880"/>
            <a:ext cx="10817352" cy="274320"/>
          </a:xfrm>
          <a:prstGeom prst="rect">
            <a:avLst/>
          </a:prstGeom>
          <a:noFill/>
        </p:spPr>
        <p:txBody>
          <a:bodyPr wrap="square" lIns="0" rIns="0" tIns="0" bIns="0">
            <a:spAutoFit/>
          </a:bodyPr>
          <a:lstStyle/>
          <a:p>
            <a:pPr algn="l">
              <a:lnSpc>
                <a:spcPct val="100000"/>
              </a:lnSpc>
              <a:spcAft>
                <a:spcPts val="0"/>
              </a:spcAft>
            </a:pPr>
            <a:r>
              <a:rPr sz="1500" b="1">
                <a:solidFill>
                  <a:srgbClr val="3B0764"/>
                </a:solidFill>
                <a:latin typeface="Segoe UI"/>
              </a:rPr>
              <a:t>We are not competing with detectors. We are the layer that decides which detector to buy, and when.</a:t>
            </a:r>
          </a:p>
        </p:txBody>
      </p:sp>
      <p:sp>
        <p:nvSpPr>
          <p:cNvPr id="27" name="Rectangle 26"/>
          <p:cNvSpPr/>
          <p:nvPr/>
        </p:nvSpPr>
        <p:spPr>
          <a:xfrm>
            <a:off x="685800" y="3977639"/>
            <a:ext cx="10817352" cy="329184"/>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4046219"/>
            <a:ext cx="2658271"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Approach</a:t>
            </a:r>
          </a:p>
        </p:txBody>
      </p:sp>
      <p:sp>
        <p:nvSpPr>
          <p:cNvPr id="29" name="TextBox 28"/>
          <p:cNvSpPr txBox="1"/>
          <p:nvPr/>
        </p:nvSpPr>
        <p:spPr>
          <a:xfrm>
            <a:off x="3554383" y="4046219"/>
            <a:ext cx="4297264"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What it does</a:t>
            </a:r>
          </a:p>
        </p:txBody>
      </p:sp>
      <p:sp>
        <p:nvSpPr>
          <p:cNvPr id="30" name="TextBox 29"/>
          <p:cNvSpPr txBox="1"/>
          <p:nvPr/>
        </p:nvSpPr>
        <p:spPr>
          <a:xfrm>
            <a:off x="7979663" y="4046219"/>
            <a:ext cx="3477768"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What it leaves unanswered</a:t>
            </a:r>
          </a:p>
        </p:txBody>
      </p:sp>
      <p:sp>
        <p:nvSpPr>
          <p:cNvPr id="31" name="Rectangle 30"/>
          <p:cNvSpPr/>
          <p:nvPr/>
        </p:nvSpPr>
        <p:spPr>
          <a:xfrm>
            <a:off x="685800" y="4306823"/>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4379467"/>
            <a:ext cx="2658271"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Guardrail and moderation tools</a:t>
            </a:r>
          </a:p>
        </p:txBody>
      </p:sp>
      <p:sp>
        <p:nvSpPr>
          <p:cNvPr id="33" name="TextBox 32"/>
          <p:cNvSpPr txBox="1"/>
          <p:nvPr/>
        </p:nvSpPr>
        <p:spPr>
          <a:xfrm>
            <a:off x="3554383" y="4379467"/>
            <a:ext cx="4297264"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Classify text as safe or unsafe, usually well</a:t>
            </a:r>
          </a:p>
        </p:txBody>
      </p:sp>
      <p:sp>
        <p:nvSpPr>
          <p:cNvPr id="34" name="TextBox 33"/>
          <p:cNvSpPr txBox="1"/>
          <p:nvPr/>
        </p:nvSpPr>
        <p:spPr>
          <a:xfrm>
            <a:off x="7979663" y="4379467"/>
            <a:ext cx="3477768"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How much to spend on this answer</a:t>
            </a:r>
          </a:p>
        </p:txBody>
      </p:sp>
      <p:sp>
        <p:nvSpPr>
          <p:cNvPr id="35" name="Rectangle 34"/>
          <p:cNvSpPr/>
          <p:nvPr/>
        </p:nvSpPr>
        <p:spPr>
          <a:xfrm>
            <a:off x="685800" y="4653787"/>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85800" y="4661407"/>
            <a:ext cx="10817352" cy="329184"/>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716271"/>
            <a:ext cx="2658271"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LLM as judge platforms</a:t>
            </a:r>
          </a:p>
        </p:txBody>
      </p:sp>
      <p:sp>
        <p:nvSpPr>
          <p:cNvPr id="38" name="TextBox 37"/>
          <p:cNvSpPr txBox="1"/>
          <p:nvPr/>
        </p:nvSpPr>
        <p:spPr>
          <a:xfrm>
            <a:off x="3554383" y="4716271"/>
            <a:ext cx="4297264"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Apply a strong model to check output</a:t>
            </a:r>
          </a:p>
        </p:txBody>
      </p:sp>
      <p:sp>
        <p:nvSpPr>
          <p:cNvPr id="39" name="TextBox 38"/>
          <p:cNvSpPr txBox="1"/>
          <p:nvPr/>
        </p:nvSpPr>
        <p:spPr>
          <a:xfrm>
            <a:off x="7979663" y="4716271"/>
            <a:ext cx="3477768"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Which requests are worth that price</a:t>
            </a:r>
          </a:p>
        </p:txBody>
      </p:sp>
      <p:sp>
        <p:nvSpPr>
          <p:cNvPr id="40" name="Rectangle 39"/>
          <p:cNvSpPr/>
          <p:nvPr/>
        </p:nvSpPr>
        <p:spPr>
          <a:xfrm>
            <a:off x="685800" y="4990591"/>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 y="5053075"/>
            <a:ext cx="2658271"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Observability and evaluation</a:t>
            </a:r>
          </a:p>
        </p:txBody>
      </p:sp>
      <p:sp>
        <p:nvSpPr>
          <p:cNvPr id="42" name="TextBox 41"/>
          <p:cNvSpPr txBox="1"/>
          <p:nvPr/>
        </p:nvSpPr>
        <p:spPr>
          <a:xfrm>
            <a:off x="3554383" y="5053075"/>
            <a:ext cx="4297264"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Report what happened after the fact</a:t>
            </a:r>
          </a:p>
        </p:txBody>
      </p:sp>
      <p:sp>
        <p:nvSpPr>
          <p:cNvPr id="43" name="TextBox 42"/>
          <p:cNvSpPr txBox="1"/>
          <p:nvPr/>
        </p:nvSpPr>
        <p:spPr>
          <a:xfrm>
            <a:off x="7979663" y="5053075"/>
            <a:ext cx="3477768"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Anything at request time. They do not gate an action</a:t>
            </a:r>
          </a:p>
        </p:txBody>
      </p:sp>
      <p:sp>
        <p:nvSpPr>
          <p:cNvPr id="44" name="Rectangle 43"/>
          <p:cNvSpPr/>
          <p:nvPr/>
        </p:nvSpPr>
        <p:spPr>
          <a:xfrm>
            <a:off x="685800" y="5327395"/>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85800" y="5335015"/>
            <a:ext cx="10817352" cy="329184"/>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8096" y="5389879"/>
            <a:ext cx="2658271"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ControlPlane</a:t>
            </a:r>
          </a:p>
        </p:txBody>
      </p:sp>
      <p:sp>
        <p:nvSpPr>
          <p:cNvPr id="47" name="TextBox 46"/>
          <p:cNvSpPr txBox="1"/>
          <p:nvPr/>
        </p:nvSpPr>
        <p:spPr>
          <a:xfrm>
            <a:off x="3554383" y="5389879"/>
            <a:ext cx="4297264"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Prices the check, enforces a floor, orders the queue and proves the decision</a:t>
            </a:r>
          </a:p>
        </p:txBody>
      </p:sp>
      <p:sp>
        <p:nvSpPr>
          <p:cNvPr id="48" name="TextBox 47"/>
          <p:cNvSpPr txBox="1"/>
          <p:nvPr/>
        </p:nvSpPr>
        <p:spPr>
          <a:xfrm>
            <a:off x="7979663" y="5389879"/>
            <a:ext cx="3477768"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Detection quality, which is why any detector plugs in</a:t>
            </a:r>
          </a:p>
        </p:txBody>
      </p:sp>
      <p:sp>
        <p:nvSpPr>
          <p:cNvPr id="49" name="Rectangle 48"/>
          <p:cNvSpPr/>
          <p:nvPr/>
        </p:nvSpPr>
        <p:spPr>
          <a:xfrm>
            <a:off x="685800" y="5664199"/>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85800" y="5623560"/>
            <a:ext cx="10817352" cy="566928"/>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85800" y="5623560"/>
            <a:ext cx="43180" cy="56692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86968" y="5742432"/>
            <a:ext cx="10415016" cy="347472"/>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The defensible position. </a:t>
            </a:r>
          </a:p>
          <a:p>
            <a:pPr algn="l">
              <a:lnSpc>
                <a:spcPct val="116000"/>
              </a:lnSpc>
              <a:spcAft>
                <a:spcPts val="0"/>
              </a:spcAft>
            </a:pPr>
            <a:r>
              <a:rPr sz="1200" b="0">
                <a:solidFill>
                  <a:srgbClr val="2E2838"/>
                </a:solidFill>
                <a:latin typeface="Segoe UI"/>
              </a:rPr>
              <a:t>Better detectors help us rather than threaten us. A better detector reports a higher catch rate and the allocator automatically buys more of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EIGHT WEEKS, ONE ROUTE, NO ENFORCEMENT RISK</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Commercial approach and pilot plan</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10</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Business Proposal</a:t>
            </a:r>
          </a:p>
        </p:txBody>
      </p:sp>
      <p:sp>
        <p:nvSpPr>
          <p:cNvPr id="8" name="Rectangle 7"/>
          <p:cNvSpPr/>
          <p:nvPr/>
        </p:nvSpPr>
        <p:spPr>
          <a:xfrm>
            <a:off x="685800" y="1536192"/>
            <a:ext cx="5212080" cy="384048"/>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604772"/>
            <a:ext cx="1609344"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Element</a:t>
            </a:r>
          </a:p>
        </p:txBody>
      </p:sp>
      <p:sp>
        <p:nvSpPr>
          <p:cNvPr id="10" name="TextBox 9"/>
          <p:cNvSpPr txBox="1"/>
          <p:nvPr/>
        </p:nvSpPr>
        <p:spPr>
          <a:xfrm>
            <a:off x="2505456" y="1604772"/>
            <a:ext cx="3346704"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Proposal</a:t>
            </a:r>
          </a:p>
        </p:txBody>
      </p:sp>
      <p:sp>
        <p:nvSpPr>
          <p:cNvPr id="11" name="Rectangle 10"/>
          <p:cNvSpPr/>
          <p:nvPr/>
        </p:nvSpPr>
        <p:spPr>
          <a:xfrm>
            <a:off x="685800" y="1920240"/>
            <a:ext cx="5212080"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92884"/>
            <a:ext cx="1609344"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Deployment</a:t>
            </a:r>
          </a:p>
        </p:txBody>
      </p:sp>
      <p:sp>
        <p:nvSpPr>
          <p:cNvPr id="13" name="TextBox 12"/>
          <p:cNvSpPr txBox="1"/>
          <p:nvPr/>
        </p:nvSpPr>
        <p:spPr>
          <a:xfrm>
            <a:off x="2505456" y="1992884"/>
            <a:ext cx="3346704"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Self hosted beside your gateway. Integration is a base URL change</a:t>
            </a:r>
          </a:p>
        </p:txBody>
      </p:sp>
      <p:sp>
        <p:nvSpPr>
          <p:cNvPr id="14" name="Rectangle 13"/>
          <p:cNvSpPr/>
          <p:nvPr/>
        </p:nvSpPr>
        <p:spPr>
          <a:xfrm>
            <a:off x="685800" y="2322068"/>
            <a:ext cx="521208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2329688"/>
            <a:ext cx="5212080" cy="384048"/>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2384552"/>
            <a:ext cx="1609344"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Pricing</a:t>
            </a:r>
          </a:p>
        </p:txBody>
      </p:sp>
      <p:sp>
        <p:nvSpPr>
          <p:cNvPr id="17" name="TextBox 16"/>
          <p:cNvSpPr txBox="1"/>
          <p:nvPr/>
        </p:nvSpPr>
        <p:spPr>
          <a:xfrm>
            <a:off x="2505456" y="2384552"/>
            <a:ext cx="3346704"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Per thousand interactions assessed, with the budget set by you</a:t>
            </a:r>
          </a:p>
        </p:txBody>
      </p:sp>
      <p:sp>
        <p:nvSpPr>
          <p:cNvPr id="18" name="Rectangle 17"/>
          <p:cNvSpPr/>
          <p:nvPr/>
        </p:nvSpPr>
        <p:spPr>
          <a:xfrm>
            <a:off x="685800" y="2713736"/>
            <a:ext cx="521208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776220"/>
            <a:ext cx="1609344"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Land</a:t>
            </a:r>
          </a:p>
        </p:txBody>
      </p:sp>
      <p:sp>
        <p:nvSpPr>
          <p:cNvPr id="20" name="TextBox 19"/>
          <p:cNvSpPr txBox="1"/>
          <p:nvPr/>
        </p:nvSpPr>
        <p:spPr>
          <a:xfrm>
            <a:off x="2505456" y="2776220"/>
            <a:ext cx="3346704"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One customer facing route in shadow mode</a:t>
            </a:r>
          </a:p>
        </p:txBody>
      </p:sp>
      <p:sp>
        <p:nvSpPr>
          <p:cNvPr id="21" name="Rectangle 20"/>
          <p:cNvSpPr/>
          <p:nvPr/>
        </p:nvSpPr>
        <p:spPr>
          <a:xfrm>
            <a:off x="685800" y="3105404"/>
            <a:ext cx="521208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3113024"/>
            <a:ext cx="5212080" cy="384048"/>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3167888"/>
            <a:ext cx="1609344"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Expand</a:t>
            </a:r>
          </a:p>
        </p:txBody>
      </p:sp>
      <p:sp>
        <p:nvSpPr>
          <p:cNvPr id="24" name="TextBox 23"/>
          <p:cNvSpPr txBox="1"/>
          <p:nvPr/>
        </p:nvSpPr>
        <p:spPr>
          <a:xfrm>
            <a:off x="2505456" y="3167888"/>
            <a:ext cx="3346704"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Add the route that can act, then enforce on capped effects</a:t>
            </a:r>
          </a:p>
        </p:txBody>
      </p:sp>
      <p:sp>
        <p:nvSpPr>
          <p:cNvPr id="25" name="Rectangle 24"/>
          <p:cNvSpPr/>
          <p:nvPr/>
        </p:nvSpPr>
        <p:spPr>
          <a:xfrm>
            <a:off x="685800" y="3497072"/>
            <a:ext cx="521208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559556"/>
            <a:ext cx="1609344"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Value narrative</a:t>
            </a:r>
          </a:p>
        </p:txBody>
      </p:sp>
      <p:sp>
        <p:nvSpPr>
          <p:cNvPr id="27" name="TextBox 26"/>
          <p:cNvSpPr txBox="1"/>
          <p:nvPr/>
        </p:nvSpPr>
        <p:spPr>
          <a:xfrm>
            <a:off x="2505456" y="3559556"/>
            <a:ext cx="3346704"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Reviewer hours redirected, not GPU spend saved</a:t>
            </a:r>
          </a:p>
        </p:txBody>
      </p:sp>
      <p:sp>
        <p:nvSpPr>
          <p:cNvPr id="28" name="Rectangle 27"/>
          <p:cNvSpPr/>
          <p:nvPr/>
        </p:nvSpPr>
        <p:spPr>
          <a:xfrm>
            <a:off x="685800" y="3888740"/>
            <a:ext cx="521208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1536192"/>
            <a:ext cx="5239512" cy="438912"/>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45936" y="1604772"/>
            <a:ext cx="1181862"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Phase</a:t>
            </a:r>
          </a:p>
        </p:txBody>
      </p:sp>
      <p:sp>
        <p:nvSpPr>
          <p:cNvPr id="31" name="TextBox 30"/>
          <p:cNvSpPr txBox="1"/>
          <p:nvPr/>
        </p:nvSpPr>
        <p:spPr>
          <a:xfrm>
            <a:off x="7655814" y="1604772"/>
            <a:ext cx="1836800"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What happens</a:t>
            </a:r>
          </a:p>
        </p:txBody>
      </p:sp>
      <p:sp>
        <p:nvSpPr>
          <p:cNvPr id="32" name="TextBox 31"/>
          <p:cNvSpPr txBox="1"/>
          <p:nvPr/>
        </p:nvSpPr>
        <p:spPr>
          <a:xfrm>
            <a:off x="9620630" y="1604772"/>
            <a:ext cx="1836800"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What you get</a:t>
            </a:r>
          </a:p>
        </p:txBody>
      </p:sp>
      <p:sp>
        <p:nvSpPr>
          <p:cNvPr id="33" name="Rectangle 32"/>
          <p:cNvSpPr/>
          <p:nvPr/>
        </p:nvSpPr>
        <p:spPr>
          <a:xfrm>
            <a:off x="6263640" y="1975104"/>
            <a:ext cx="523951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45936" y="2047748"/>
            <a:ext cx="1181862" cy="237744"/>
          </a:xfrm>
          <a:prstGeom prst="rect">
            <a:avLst/>
          </a:prstGeom>
          <a:noFill/>
        </p:spPr>
        <p:txBody>
          <a:bodyPr wrap="square" lIns="0" rIns="0" tIns="0" bIns="0">
            <a:spAutoFit/>
          </a:bodyPr>
          <a:lstStyle/>
          <a:p>
            <a:pPr algn="l">
              <a:lnSpc>
                <a:spcPct val="100000"/>
              </a:lnSpc>
              <a:spcAft>
                <a:spcPts val="0"/>
              </a:spcAft>
            </a:pPr>
            <a:r>
              <a:rPr sz="1050" b="1">
                <a:solidFill>
                  <a:srgbClr val="17121F"/>
                </a:solidFill>
                <a:latin typeface="Segoe UI"/>
              </a:rPr>
              <a:t>Weeks 1 to 2</a:t>
            </a:r>
          </a:p>
        </p:txBody>
      </p:sp>
      <p:sp>
        <p:nvSpPr>
          <p:cNvPr id="35" name="TextBox 34"/>
          <p:cNvSpPr txBox="1"/>
          <p:nvPr/>
        </p:nvSpPr>
        <p:spPr>
          <a:xfrm>
            <a:off x="7655814" y="2047748"/>
            <a:ext cx="1836800" cy="237744"/>
          </a:xfrm>
          <a:prstGeom prst="rect">
            <a:avLst/>
          </a:prstGeom>
          <a:noFill/>
        </p:spPr>
        <p:txBody>
          <a:bodyPr wrap="square" lIns="0" rIns="0" tIns="0" bIns="0">
            <a:spAutoFit/>
          </a:bodyPr>
          <a:lstStyle/>
          <a:p>
            <a:pPr algn="l">
              <a:lnSpc>
                <a:spcPct val="100000"/>
              </a:lnSpc>
              <a:spcAft>
                <a:spcPts val="0"/>
              </a:spcAft>
            </a:pPr>
            <a:r>
              <a:rPr sz="1050" b="0">
                <a:solidFill>
                  <a:srgbClr val="2E2838"/>
                </a:solidFill>
                <a:latin typeface="Segoe UI"/>
              </a:rPr>
              <a:t>Shadow beside the existing stack. No enforcement</a:t>
            </a:r>
          </a:p>
        </p:txBody>
      </p:sp>
      <p:sp>
        <p:nvSpPr>
          <p:cNvPr id="36" name="TextBox 35"/>
          <p:cNvSpPr txBox="1"/>
          <p:nvPr/>
        </p:nvSpPr>
        <p:spPr>
          <a:xfrm>
            <a:off x="9620630" y="2047748"/>
            <a:ext cx="1836800" cy="237744"/>
          </a:xfrm>
          <a:prstGeom prst="rect">
            <a:avLst/>
          </a:prstGeom>
          <a:noFill/>
        </p:spPr>
        <p:txBody>
          <a:bodyPr wrap="square" lIns="0" rIns="0" tIns="0" bIns="0">
            <a:spAutoFit/>
          </a:bodyPr>
          <a:lstStyle/>
          <a:p>
            <a:pPr algn="l">
              <a:lnSpc>
                <a:spcPct val="100000"/>
              </a:lnSpc>
              <a:spcAft>
                <a:spcPts val="0"/>
              </a:spcAft>
            </a:pPr>
            <a:r>
              <a:rPr sz="1050" b="0">
                <a:solidFill>
                  <a:srgbClr val="2E2838"/>
                </a:solidFill>
                <a:latin typeface="Segoe UI"/>
              </a:rPr>
              <a:t>Your own baseline cost, split compute and attention</a:t>
            </a:r>
          </a:p>
        </p:txBody>
      </p:sp>
      <p:sp>
        <p:nvSpPr>
          <p:cNvPr id="37" name="Rectangle 36"/>
          <p:cNvSpPr/>
          <p:nvPr/>
        </p:nvSpPr>
        <p:spPr>
          <a:xfrm>
            <a:off x="6263640" y="2431796"/>
            <a:ext cx="523951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63640" y="2439416"/>
            <a:ext cx="5239512" cy="438912"/>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45936" y="2494280"/>
            <a:ext cx="1181862" cy="237744"/>
          </a:xfrm>
          <a:prstGeom prst="rect">
            <a:avLst/>
          </a:prstGeom>
          <a:noFill/>
        </p:spPr>
        <p:txBody>
          <a:bodyPr wrap="square" lIns="0" rIns="0" tIns="0" bIns="0">
            <a:spAutoFit/>
          </a:bodyPr>
          <a:lstStyle/>
          <a:p>
            <a:pPr algn="l">
              <a:lnSpc>
                <a:spcPct val="100000"/>
              </a:lnSpc>
              <a:spcAft>
                <a:spcPts val="0"/>
              </a:spcAft>
            </a:pPr>
            <a:r>
              <a:rPr sz="1050" b="1">
                <a:solidFill>
                  <a:srgbClr val="17121F"/>
                </a:solidFill>
                <a:latin typeface="Segoe UI"/>
              </a:rPr>
              <a:t>Weeks 3 to 4</a:t>
            </a:r>
          </a:p>
        </p:txBody>
      </p:sp>
      <p:sp>
        <p:nvSpPr>
          <p:cNvPr id="40" name="TextBox 39"/>
          <p:cNvSpPr txBox="1"/>
          <p:nvPr/>
        </p:nvSpPr>
        <p:spPr>
          <a:xfrm>
            <a:off x="7655814" y="2494280"/>
            <a:ext cx="1836800" cy="237744"/>
          </a:xfrm>
          <a:prstGeom prst="rect">
            <a:avLst/>
          </a:prstGeom>
          <a:noFill/>
        </p:spPr>
        <p:txBody>
          <a:bodyPr wrap="square" lIns="0" rIns="0" tIns="0" bIns="0">
            <a:spAutoFit/>
          </a:bodyPr>
          <a:lstStyle/>
          <a:p>
            <a:pPr algn="l">
              <a:lnSpc>
                <a:spcPct val="100000"/>
              </a:lnSpc>
              <a:spcAft>
                <a:spcPts val="0"/>
              </a:spcAft>
            </a:pPr>
            <a:r>
              <a:rPr sz="1050" b="0">
                <a:solidFill>
                  <a:srgbClr val="2E2838"/>
                </a:solidFill>
                <a:latin typeface="Segoe UI"/>
              </a:rPr>
              <a:t>Fit calibration and the threshold on your traffic</a:t>
            </a:r>
          </a:p>
        </p:txBody>
      </p:sp>
      <p:sp>
        <p:nvSpPr>
          <p:cNvPr id="41" name="TextBox 40"/>
          <p:cNvSpPr txBox="1"/>
          <p:nvPr/>
        </p:nvSpPr>
        <p:spPr>
          <a:xfrm>
            <a:off x="9620630" y="2494280"/>
            <a:ext cx="1836800" cy="237744"/>
          </a:xfrm>
          <a:prstGeom prst="rect">
            <a:avLst/>
          </a:prstGeom>
          <a:noFill/>
        </p:spPr>
        <p:txBody>
          <a:bodyPr wrap="square" lIns="0" rIns="0" tIns="0" bIns="0">
            <a:spAutoFit/>
          </a:bodyPr>
          <a:lstStyle/>
          <a:p>
            <a:pPr algn="l">
              <a:lnSpc>
                <a:spcPct val="100000"/>
              </a:lnSpc>
              <a:spcAft>
                <a:spcPts val="0"/>
              </a:spcAft>
            </a:pPr>
            <a:r>
              <a:rPr sz="1050" b="0">
                <a:solidFill>
                  <a:srgbClr val="2E2838"/>
                </a:solidFill>
                <a:latin typeface="Segoe UI"/>
              </a:rPr>
              <a:t>A release bound stated on your data</a:t>
            </a:r>
          </a:p>
        </p:txBody>
      </p:sp>
      <p:sp>
        <p:nvSpPr>
          <p:cNvPr id="42" name="Rectangle 41"/>
          <p:cNvSpPr/>
          <p:nvPr/>
        </p:nvSpPr>
        <p:spPr>
          <a:xfrm>
            <a:off x="6263640" y="2878328"/>
            <a:ext cx="523951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45936" y="2940812"/>
            <a:ext cx="1181862" cy="237744"/>
          </a:xfrm>
          <a:prstGeom prst="rect">
            <a:avLst/>
          </a:prstGeom>
          <a:noFill/>
        </p:spPr>
        <p:txBody>
          <a:bodyPr wrap="square" lIns="0" rIns="0" tIns="0" bIns="0">
            <a:spAutoFit/>
          </a:bodyPr>
          <a:lstStyle/>
          <a:p>
            <a:pPr algn="l">
              <a:lnSpc>
                <a:spcPct val="100000"/>
              </a:lnSpc>
              <a:spcAft>
                <a:spcPts val="0"/>
              </a:spcAft>
            </a:pPr>
            <a:r>
              <a:rPr sz="1050" b="1">
                <a:solidFill>
                  <a:srgbClr val="17121F"/>
                </a:solidFill>
                <a:latin typeface="Segoe UI"/>
              </a:rPr>
              <a:t>Weeks 5 to 6</a:t>
            </a:r>
          </a:p>
        </p:txBody>
      </p:sp>
      <p:sp>
        <p:nvSpPr>
          <p:cNvPr id="44" name="TextBox 43"/>
          <p:cNvSpPr txBox="1"/>
          <p:nvPr/>
        </p:nvSpPr>
        <p:spPr>
          <a:xfrm>
            <a:off x="7655814" y="2940812"/>
            <a:ext cx="1836800" cy="237744"/>
          </a:xfrm>
          <a:prstGeom prst="rect">
            <a:avLst/>
          </a:prstGeom>
          <a:noFill/>
        </p:spPr>
        <p:txBody>
          <a:bodyPr wrap="square" lIns="0" rIns="0" tIns="0" bIns="0">
            <a:spAutoFit/>
          </a:bodyPr>
          <a:lstStyle/>
          <a:p>
            <a:pPr algn="l">
              <a:lnSpc>
                <a:spcPct val="100000"/>
              </a:lnSpc>
              <a:spcAft>
                <a:spcPts val="0"/>
              </a:spcAft>
            </a:pPr>
            <a:r>
              <a:rPr sz="1050" b="0">
                <a:solidFill>
                  <a:srgbClr val="2E2838"/>
                </a:solidFill>
                <a:latin typeface="Segoe UI"/>
              </a:rPr>
              <a:t>Compare fixed rate against allocation offline</a:t>
            </a:r>
          </a:p>
        </p:txBody>
      </p:sp>
      <p:sp>
        <p:nvSpPr>
          <p:cNvPr id="45" name="TextBox 44"/>
          <p:cNvSpPr txBox="1"/>
          <p:nvPr/>
        </p:nvSpPr>
        <p:spPr>
          <a:xfrm>
            <a:off x="9620630" y="2940812"/>
            <a:ext cx="1836800" cy="237744"/>
          </a:xfrm>
          <a:prstGeom prst="rect">
            <a:avLst/>
          </a:prstGeom>
          <a:noFill/>
        </p:spPr>
        <p:txBody>
          <a:bodyPr wrap="square" lIns="0" rIns="0" tIns="0" bIns="0">
            <a:spAutoFit/>
          </a:bodyPr>
          <a:lstStyle/>
          <a:p>
            <a:pPr algn="l">
              <a:lnSpc>
                <a:spcPct val="100000"/>
              </a:lnSpc>
              <a:spcAft>
                <a:spcPts val="0"/>
              </a:spcAft>
            </a:pPr>
            <a:r>
              <a:rPr sz="1050" b="0">
                <a:solidFill>
                  <a:srgbClr val="2E2838"/>
                </a:solidFill>
                <a:latin typeface="Segoe UI"/>
              </a:rPr>
              <a:t>An honest answer on whether allocation helps here</a:t>
            </a:r>
          </a:p>
        </p:txBody>
      </p:sp>
      <p:sp>
        <p:nvSpPr>
          <p:cNvPr id="46" name="Rectangle 45"/>
          <p:cNvSpPr/>
          <p:nvPr/>
        </p:nvSpPr>
        <p:spPr>
          <a:xfrm>
            <a:off x="6263640" y="3324860"/>
            <a:ext cx="523951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63640" y="3332480"/>
            <a:ext cx="5239512" cy="438912"/>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45936" y="3387344"/>
            <a:ext cx="1181862" cy="237744"/>
          </a:xfrm>
          <a:prstGeom prst="rect">
            <a:avLst/>
          </a:prstGeom>
          <a:noFill/>
        </p:spPr>
        <p:txBody>
          <a:bodyPr wrap="square" lIns="0" rIns="0" tIns="0" bIns="0">
            <a:spAutoFit/>
          </a:bodyPr>
          <a:lstStyle/>
          <a:p>
            <a:pPr algn="l">
              <a:lnSpc>
                <a:spcPct val="100000"/>
              </a:lnSpc>
              <a:spcAft>
                <a:spcPts val="0"/>
              </a:spcAft>
            </a:pPr>
            <a:r>
              <a:rPr sz="1050" b="1">
                <a:solidFill>
                  <a:srgbClr val="17121F"/>
                </a:solidFill>
                <a:latin typeface="Segoe UI"/>
              </a:rPr>
              <a:t>Weeks 7 to 8</a:t>
            </a:r>
          </a:p>
        </p:txBody>
      </p:sp>
      <p:sp>
        <p:nvSpPr>
          <p:cNvPr id="49" name="TextBox 48"/>
          <p:cNvSpPr txBox="1"/>
          <p:nvPr/>
        </p:nvSpPr>
        <p:spPr>
          <a:xfrm>
            <a:off x="7655814" y="3387344"/>
            <a:ext cx="1836800" cy="237744"/>
          </a:xfrm>
          <a:prstGeom prst="rect">
            <a:avLst/>
          </a:prstGeom>
          <a:noFill/>
        </p:spPr>
        <p:txBody>
          <a:bodyPr wrap="square" lIns="0" rIns="0" tIns="0" bIns="0">
            <a:spAutoFit/>
          </a:bodyPr>
          <a:lstStyle/>
          <a:p>
            <a:pPr algn="l">
              <a:lnSpc>
                <a:spcPct val="100000"/>
              </a:lnSpc>
              <a:spcAft>
                <a:spcPts val="0"/>
              </a:spcAft>
            </a:pPr>
            <a:r>
              <a:rPr sz="1050" b="0">
                <a:solidFill>
                  <a:srgbClr val="2E2838"/>
                </a:solidFill>
                <a:latin typeface="Segoe UI"/>
              </a:rPr>
              <a:t>Holds for capped effects, with human approval</a:t>
            </a:r>
          </a:p>
        </p:txBody>
      </p:sp>
      <p:sp>
        <p:nvSpPr>
          <p:cNvPr id="50" name="TextBox 49"/>
          <p:cNvSpPr txBox="1"/>
          <p:nvPr/>
        </p:nvSpPr>
        <p:spPr>
          <a:xfrm>
            <a:off x="9620630" y="3387344"/>
            <a:ext cx="1836800" cy="237744"/>
          </a:xfrm>
          <a:prstGeom prst="rect">
            <a:avLst/>
          </a:prstGeom>
          <a:noFill/>
        </p:spPr>
        <p:txBody>
          <a:bodyPr wrap="square" lIns="0" rIns="0" tIns="0" bIns="0">
            <a:spAutoFit/>
          </a:bodyPr>
          <a:lstStyle/>
          <a:p>
            <a:pPr algn="l">
              <a:lnSpc>
                <a:spcPct val="100000"/>
              </a:lnSpc>
              <a:spcAft>
                <a:spcPts val="0"/>
              </a:spcAft>
            </a:pPr>
            <a:r>
              <a:rPr sz="1050" b="0">
                <a:solidFill>
                  <a:srgbClr val="2E2838"/>
                </a:solidFill>
                <a:latin typeface="Segoe UI"/>
              </a:rPr>
              <a:t>A working control and a signed runbook</a:t>
            </a:r>
          </a:p>
        </p:txBody>
      </p:sp>
      <p:sp>
        <p:nvSpPr>
          <p:cNvPr id="51" name="Rectangle 50"/>
          <p:cNvSpPr/>
          <p:nvPr/>
        </p:nvSpPr>
        <p:spPr>
          <a:xfrm>
            <a:off x="6263640" y="3771392"/>
            <a:ext cx="523951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5800" y="4023360"/>
            <a:ext cx="10817352" cy="274320"/>
          </a:xfrm>
          <a:prstGeom prst="rect">
            <a:avLst/>
          </a:prstGeom>
          <a:noFill/>
        </p:spPr>
        <p:txBody>
          <a:bodyPr wrap="square" lIns="0" rIns="0" tIns="0" bIns="0">
            <a:spAutoFit/>
          </a:bodyPr>
          <a:lstStyle/>
          <a:p>
            <a:pPr algn="l">
              <a:lnSpc>
                <a:spcPct val="100000"/>
              </a:lnSpc>
              <a:spcAft>
                <a:spcPts val="0"/>
              </a:spcAft>
            </a:pPr>
            <a:r>
              <a:rPr sz="1400" b="1">
                <a:solidFill>
                  <a:srgbClr val="3B0764"/>
                </a:solidFill>
                <a:latin typeface="Segoe UI"/>
              </a:rPr>
              <a:t>Promotion to production requires all of these</a:t>
            </a:r>
          </a:p>
        </p:txBody>
      </p:sp>
      <p:sp>
        <p:nvSpPr>
          <p:cNvPr id="53" name="TextBox 52"/>
          <p:cNvSpPr txBox="1"/>
          <p:nvPr/>
        </p:nvSpPr>
        <p:spPr>
          <a:xfrm>
            <a:off x="685800" y="4370832"/>
            <a:ext cx="10817352" cy="3657600"/>
          </a:xfrm>
          <a:prstGeom prst="rect">
            <a:avLst/>
          </a:prstGeom>
          <a:noFill/>
        </p:spPr>
        <p:txBody>
          <a:bodyPr wrap="square" lIns="0" rIns="0" tIns="0" bIns="0">
            <a:spAutoFit/>
          </a:bodyPr>
          <a:lstStyle/>
          <a:p>
            <a:pPr algn="l">
              <a:lnSpc>
                <a:spcPct val="120000"/>
              </a:lnSpc>
              <a:spcAft>
                <a:spcPts val="100"/>
              </a:spcAft>
            </a:pPr>
            <a:r>
              <a:rPr sz="1200" b="1">
                <a:solidFill>
                  <a:srgbClr val="17121F"/>
                </a:solidFill>
                <a:latin typeface="Segoe UI"/>
              </a:rPr>
              <a:t/>
            </a:r>
          </a:p>
          <a:p>
            <a:pPr algn="l">
              <a:lnSpc>
                <a:spcPct val="120000"/>
              </a:lnSpc>
              <a:spcAft>
                <a:spcPts val="500"/>
              </a:spcAft>
            </a:pPr>
            <a:r>
              <a:rPr sz="1200" b="0">
                <a:solidFill>
                  <a:srgbClr val="2E2838"/>
                </a:solidFill>
                <a:latin typeface="Segoe UI"/>
              </a:rPr>
              <a:t>Allocation beats the fixed rate baseline at equal spend across agreed budget bands, with intervals rather than point estimates.</a:t>
            </a:r>
          </a:p>
          <a:p>
            <a:pPr algn="l">
              <a:lnSpc>
                <a:spcPct val="120000"/>
              </a:lnSpc>
              <a:spcAft>
                <a:spcPts val="100"/>
              </a:spcAft>
            </a:pPr>
            <a:r>
              <a:rPr sz="1200" b="1">
                <a:solidFill>
                  <a:srgbClr val="17121F"/>
                </a:solidFill>
                <a:latin typeface="Segoe UI"/>
              </a:rPr>
              <a:t/>
            </a:r>
          </a:p>
          <a:p>
            <a:pPr algn="l">
              <a:lnSpc>
                <a:spcPct val="120000"/>
              </a:lnSpc>
              <a:spcAft>
                <a:spcPts val="500"/>
              </a:spcAft>
            </a:pPr>
            <a:r>
              <a:rPr sz="1200" b="0">
                <a:solidFill>
                  <a:srgbClr val="2E2838"/>
                </a:solidFill>
                <a:latin typeface="Segoe UI"/>
              </a:rPr>
              <a:t>The route release bound stays under the approved threshold on fresh labels, and added latency at the 99th percentile stays inside the route service level objective.</a:t>
            </a:r>
          </a:p>
          <a:p>
            <a:pPr algn="l">
              <a:lnSpc>
                <a:spcPct val="120000"/>
              </a:lnSpc>
              <a:spcAft>
                <a:spcPts val="100"/>
              </a:spcAft>
            </a:pPr>
            <a:r>
              <a:rPr sz="1200" b="1">
                <a:solidFill>
                  <a:srgbClr val="17121F"/>
                </a:solidFill>
                <a:latin typeface="Segoe UI"/>
              </a:rPr>
              <a:t/>
            </a:r>
          </a:p>
          <a:p>
            <a:pPr algn="l">
              <a:lnSpc>
                <a:spcPct val="120000"/>
              </a:lnSpc>
              <a:spcAft>
                <a:spcPts val="500"/>
              </a:spcAft>
            </a:pPr>
            <a:r>
              <a:rPr sz="1200" b="0">
                <a:solidFill>
                  <a:srgbClr val="2E2838"/>
                </a:solidFill>
                <a:latin typeface="Segoe UI"/>
              </a:rPr>
              <a:t>Every proposed action has an audit record, decisions stay stable across the approved consequence ranges, and the incident owner has approved the runbook.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HOW YOU WILL KNOW, AND WHAT COMES NEXT</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Success metrics and roadmap</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11</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Business Proposal</a:t>
            </a:r>
          </a:p>
        </p:txBody>
      </p:sp>
      <p:sp>
        <p:nvSpPr>
          <p:cNvPr id="8" name="Rectangle 7"/>
          <p:cNvSpPr/>
          <p:nvPr/>
        </p:nvSpPr>
        <p:spPr>
          <a:xfrm>
            <a:off x="685800" y="1536192"/>
            <a:ext cx="10817352" cy="329184"/>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604772"/>
            <a:ext cx="3149969"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Metric</a:t>
            </a:r>
          </a:p>
        </p:txBody>
      </p:sp>
      <p:sp>
        <p:nvSpPr>
          <p:cNvPr id="10" name="TextBox 9"/>
          <p:cNvSpPr txBox="1"/>
          <p:nvPr/>
        </p:nvSpPr>
        <p:spPr>
          <a:xfrm>
            <a:off x="4046081" y="1604772"/>
            <a:ext cx="4133365"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What it tells you</a:t>
            </a:r>
          </a:p>
        </p:txBody>
      </p:sp>
      <p:sp>
        <p:nvSpPr>
          <p:cNvPr id="11" name="TextBox 10"/>
          <p:cNvSpPr txBox="1"/>
          <p:nvPr/>
        </p:nvSpPr>
        <p:spPr>
          <a:xfrm>
            <a:off x="8307462" y="1604772"/>
            <a:ext cx="3149969"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Target for the pilot</a:t>
            </a:r>
          </a:p>
        </p:txBody>
      </p:sp>
      <p:sp>
        <p:nvSpPr>
          <p:cNvPr id="12" name="Rectangle 11"/>
          <p:cNvSpPr/>
          <p:nvPr/>
        </p:nvSpPr>
        <p:spPr>
          <a:xfrm>
            <a:off x="685800" y="1865376"/>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1938020"/>
            <a:ext cx="3149969"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Cost per thousand interactions</a:t>
            </a:r>
          </a:p>
        </p:txBody>
      </p:sp>
      <p:sp>
        <p:nvSpPr>
          <p:cNvPr id="14" name="TextBox 13"/>
          <p:cNvSpPr txBox="1"/>
          <p:nvPr/>
        </p:nvSpPr>
        <p:spPr>
          <a:xfrm>
            <a:off x="4046081" y="1938020"/>
            <a:ext cx="413336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Total assurance cost, split into compute and attention</a:t>
            </a:r>
          </a:p>
        </p:txBody>
      </p:sp>
      <p:sp>
        <p:nvSpPr>
          <p:cNvPr id="15" name="TextBox 14"/>
          <p:cNvSpPr txBox="1"/>
          <p:nvPr/>
        </p:nvSpPr>
        <p:spPr>
          <a:xfrm>
            <a:off x="8307462" y="1938020"/>
            <a:ext cx="314996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Below your current blended cost</a:t>
            </a:r>
          </a:p>
        </p:txBody>
      </p:sp>
      <p:sp>
        <p:nvSpPr>
          <p:cNvPr id="16" name="Rectangle 15"/>
          <p:cNvSpPr/>
          <p:nvPr/>
        </p:nvSpPr>
        <p:spPr>
          <a:xfrm>
            <a:off x="685800" y="2212340"/>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2219960"/>
            <a:ext cx="10817352" cy="329184"/>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2274824"/>
            <a:ext cx="3149969"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Escaped harm rate</a:t>
            </a:r>
          </a:p>
        </p:txBody>
      </p:sp>
      <p:sp>
        <p:nvSpPr>
          <p:cNvPr id="19" name="TextBox 18"/>
          <p:cNvSpPr txBox="1"/>
          <p:nvPr/>
        </p:nvSpPr>
        <p:spPr>
          <a:xfrm>
            <a:off x="4046081" y="2274824"/>
            <a:ext cx="413336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Share of released answers that carried harm</a:t>
            </a:r>
          </a:p>
        </p:txBody>
      </p:sp>
      <p:sp>
        <p:nvSpPr>
          <p:cNvPr id="20" name="TextBox 19"/>
          <p:cNvSpPr txBox="1"/>
          <p:nvPr/>
        </p:nvSpPr>
        <p:spPr>
          <a:xfrm>
            <a:off x="8307462" y="2274824"/>
            <a:ext cx="314996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Under the approved bound on fresh labels</a:t>
            </a:r>
          </a:p>
        </p:txBody>
      </p:sp>
      <p:sp>
        <p:nvSpPr>
          <p:cNvPr id="21" name="Rectangle 20"/>
          <p:cNvSpPr/>
          <p:nvPr/>
        </p:nvSpPr>
        <p:spPr>
          <a:xfrm>
            <a:off x="685800" y="2549144"/>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611628"/>
            <a:ext cx="3149969"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Expected loss served per reviewer hour</a:t>
            </a:r>
          </a:p>
        </p:txBody>
      </p:sp>
      <p:sp>
        <p:nvSpPr>
          <p:cNvPr id="23" name="TextBox 22"/>
          <p:cNvSpPr txBox="1"/>
          <p:nvPr/>
        </p:nvSpPr>
        <p:spPr>
          <a:xfrm>
            <a:off x="4046081" y="2611628"/>
            <a:ext cx="413336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Whether review capacity goes to the right cases</a:t>
            </a:r>
          </a:p>
        </p:txBody>
      </p:sp>
      <p:sp>
        <p:nvSpPr>
          <p:cNvPr id="24" name="TextBox 23"/>
          <p:cNvSpPr txBox="1"/>
          <p:nvPr/>
        </p:nvSpPr>
        <p:spPr>
          <a:xfrm>
            <a:off x="8307462" y="2611628"/>
            <a:ext cx="314996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Above the first in first out baseline</a:t>
            </a:r>
          </a:p>
        </p:txBody>
      </p:sp>
      <p:sp>
        <p:nvSpPr>
          <p:cNvPr id="25" name="Rectangle 24"/>
          <p:cNvSpPr/>
          <p:nvPr/>
        </p:nvSpPr>
        <p:spPr>
          <a:xfrm>
            <a:off x="685800" y="288594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2893568"/>
            <a:ext cx="10817352" cy="329184"/>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2948432"/>
            <a:ext cx="3149969"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High value cases shed</a:t>
            </a:r>
          </a:p>
        </p:txBody>
      </p:sp>
      <p:sp>
        <p:nvSpPr>
          <p:cNvPr id="28" name="TextBox 27"/>
          <p:cNvSpPr txBox="1"/>
          <p:nvPr/>
        </p:nvSpPr>
        <p:spPr>
          <a:xfrm>
            <a:off x="4046081" y="2948432"/>
            <a:ext cx="413336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Which cases you lose when capacity runs out</a:t>
            </a:r>
          </a:p>
        </p:txBody>
      </p:sp>
      <p:sp>
        <p:nvSpPr>
          <p:cNvPr id="29" name="TextBox 28"/>
          <p:cNvSpPr txBox="1"/>
          <p:nvPr/>
        </p:nvSpPr>
        <p:spPr>
          <a:xfrm>
            <a:off x="8307462" y="2948432"/>
            <a:ext cx="314996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Materially below today's rate</a:t>
            </a:r>
          </a:p>
        </p:txBody>
      </p:sp>
      <p:sp>
        <p:nvSpPr>
          <p:cNvPr id="30" name="Rectangle 29"/>
          <p:cNvSpPr/>
          <p:nvPr/>
        </p:nvSpPr>
        <p:spPr>
          <a:xfrm>
            <a:off x="685800" y="322275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285236"/>
            <a:ext cx="3149969"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Audit completeness</a:t>
            </a:r>
          </a:p>
        </p:txBody>
      </p:sp>
      <p:sp>
        <p:nvSpPr>
          <p:cNvPr id="32" name="TextBox 31"/>
          <p:cNvSpPr txBox="1"/>
          <p:nvPr/>
        </p:nvSpPr>
        <p:spPr>
          <a:xfrm>
            <a:off x="4046081" y="3285236"/>
            <a:ext cx="413336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Share of decisions and actions with a verifiable record</a:t>
            </a:r>
          </a:p>
        </p:txBody>
      </p:sp>
      <p:sp>
        <p:nvSpPr>
          <p:cNvPr id="33" name="TextBox 32"/>
          <p:cNvSpPr txBox="1"/>
          <p:nvPr/>
        </p:nvSpPr>
        <p:spPr>
          <a:xfrm>
            <a:off x="8307462" y="3285236"/>
            <a:ext cx="314996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100 percent</a:t>
            </a:r>
          </a:p>
        </p:txBody>
      </p:sp>
      <p:sp>
        <p:nvSpPr>
          <p:cNvPr id="34" name="Rectangle 33"/>
          <p:cNvSpPr/>
          <p:nvPr/>
        </p:nvSpPr>
        <p:spPr>
          <a:xfrm>
            <a:off x="685800" y="3559556"/>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85800" y="3977639"/>
            <a:ext cx="10817352" cy="347472"/>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 y="4046219"/>
            <a:ext cx="2330473"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Phase</a:t>
            </a:r>
          </a:p>
        </p:txBody>
      </p:sp>
      <p:sp>
        <p:nvSpPr>
          <p:cNvPr id="37" name="TextBox 36"/>
          <p:cNvSpPr txBox="1"/>
          <p:nvPr/>
        </p:nvSpPr>
        <p:spPr>
          <a:xfrm>
            <a:off x="3226585" y="4046219"/>
            <a:ext cx="4297264"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Scope</a:t>
            </a:r>
          </a:p>
        </p:txBody>
      </p:sp>
      <p:sp>
        <p:nvSpPr>
          <p:cNvPr id="38" name="TextBox 37"/>
          <p:cNvSpPr txBox="1"/>
          <p:nvPr/>
        </p:nvSpPr>
        <p:spPr>
          <a:xfrm>
            <a:off x="7651865" y="4046219"/>
            <a:ext cx="3805566"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Evidence that closes the phase</a:t>
            </a:r>
          </a:p>
        </p:txBody>
      </p:sp>
      <p:sp>
        <p:nvSpPr>
          <p:cNvPr id="39" name="Rectangle 38"/>
          <p:cNvSpPr/>
          <p:nvPr/>
        </p:nvSpPr>
        <p:spPr>
          <a:xfrm>
            <a:off x="685800" y="4325111"/>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8096" y="4397755"/>
            <a:ext cx="2330473"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Now  .  Prototype</a:t>
            </a:r>
          </a:p>
        </p:txBody>
      </p:sp>
      <p:sp>
        <p:nvSpPr>
          <p:cNvPr id="41" name="TextBox 40"/>
          <p:cNvSpPr txBox="1"/>
          <p:nvPr/>
        </p:nvSpPr>
        <p:spPr>
          <a:xfrm>
            <a:off x="3226585" y="4397755"/>
            <a:ext cx="4297264"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Offline gateway, allocation, floor, queue, effect gating, audit chain</a:t>
            </a:r>
          </a:p>
        </p:txBody>
      </p:sp>
      <p:sp>
        <p:nvSpPr>
          <p:cNvPr id="42" name="TextBox 41"/>
          <p:cNvSpPr txBox="1"/>
          <p:nvPr/>
        </p:nvSpPr>
        <p:spPr>
          <a:xfrm>
            <a:off x="7651865" y="4397755"/>
            <a:ext cx="3805566"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Reproducible commands and an honest baseline. Complete</a:t>
            </a:r>
          </a:p>
        </p:txBody>
      </p:sp>
      <p:sp>
        <p:nvSpPr>
          <p:cNvPr id="43" name="Rectangle 42"/>
          <p:cNvSpPr/>
          <p:nvPr/>
        </p:nvSpPr>
        <p:spPr>
          <a:xfrm>
            <a:off x="685800" y="4690363"/>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5800" y="4697983"/>
            <a:ext cx="10817352" cy="347472"/>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8096" y="4752847"/>
            <a:ext cx="2330473"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Phase 1  .  Shadow pilot</a:t>
            </a:r>
          </a:p>
        </p:txBody>
      </p:sp>
      <p:sp>
        <p:nvSpPr>
          <p:cNvPr id="46" name="TextBox 45"/>
          <p:cNvSpPr txBox="1"/>
          <p:nvPr/>
        </p:nvSpPr>
        <p:spPr>
          <a:xfrm>
            <a:off x="3226585" y="4752847"/>
            <a:ext cx="4297264"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Real detector adapters, provider adapter, sampled audit slice</a:t>
            </a:r>
          </a:p>
        </p:txBody>
      </p:sp>
      <p:sp>
        <p:nvSpPr>
          <p:cNvPr id="47" name="TextBox 46"/>
          <p:cNvSpPr txBox="1"/>
          <p:nvPr/>
        </p:nvSpPr>
        <p:spPr>
          <a:xfrm>
            <a:off x="7651865" y="4752847"/>
            <a:ext cx="3805566"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Catch rates and calibration fitted on your route</a:t>
            </a:r>
          </a:p>
        </p:txBody>
      </p:sp>
      <p:sp>
        <p:nvSpPr>
          <p:cNvPr id="48" name="Rectangle 47"/>
          <p:cNvSpPr/>
          <p:nvPr/>
        </p:nvSpPr>
        <p:spPr>
          <a:xfrm>
            <a:off x="685800" y="5045455"/>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8096" y="5107939"/>
            <a:ext cx="2330473"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Phase 2  .  Controlled effects</a:t>
            </a:r>
          </a:p>
        </p:txBody>
      </p:sp>
      <p:sp>
        <p:nvSpPr>
          <p:cNvPr id="50" name="TextBox 49"/>
          <p:cNvSpPr txBox="1"/>
          <p:nvPr/>
        </p:nvSpPr>
        <p:spPr>
          <a:xfrm>
            <a:off x="3226585" y="5107939"/>
            <a:ext cx="4297264"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Reviewer identity, capped held actions, durable effect leases</a:t>
            </a:r>
          </a:p>
        </p:txBody>
      </p:sp>
      <p:sp>
        <p:nvSpPr>
          <p:cNvPr id="51" name="TextBox 50"/>
          <p:cNvSpPr txBox="1"/>
          <p:nvPr/>
        </p:nvSpPr>
        <p:spPr>
          <a:xfrm>
            <a:off x="7651865" y="5107939"/>
            <a:ext cx="3805566"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No unaudited actions, approved override workflow</a:t>
            </a:r>
          </a:p>
        </p:txBody>
      </p:sp>
      <p:sp>
        <p:nvSpPr>
          <p:cNvPr id="52" name="Rectangle 51"/>
          <p:cNvSpPr/>
          <p:nvPr/>
        </p:nvSpPr>
        <p:spPr>
          <a:xfrm>
            <a:off x="685800" y="5400547"/>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85800" y="5408167"/>
            <a:ext cx="10817352" cy="347472"/>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8096" y="5463031"/>
            <a:ext cx="2330473"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Phase 3  .  Scale</a:t>
            </a:r>
          </a:p>
        </p:txBody>
      </p:sp>
      <p:sp>
        <p:nvSpPr>
          <p:cNvPr id="55" name="TextBox 54"/>
          <p:cNvSpPr txBox="1"/>
          <p:nvPr/>
        </p:nvSpPr>
        <p:spPr>
          <a:xfrm>
            <a:off x="3226585" y="5463031"/>
            <a:ext cx="4297264"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Shared calibration, signed policy releases, drift detection</a:t>
            </a:r>
          </a:p>
        </p:txBody>
      </p:sp>
      <p:sp>
        <p:nvSpPr>
          <p:cNvPr id="56" name="TextBox 55"/>
          <p:cNvSpPr txBox="1"/>
          <p:nvPr/>
        </p:nvSpPr>
        <p:spPr>
          <a:xfrm>
            <a:off x="7651865" y="5463031"/>
            <a:ext cx="3805566"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Multi worker load and recovery tests</a:t>
            </a:r>
          </a:p>
        </p:txBody>
      </p:sp>
      <p:sp>
        <p:nvSpPr>
          <p:cNvPr id="57" name="Rectangle 56"/>
          <p:cNvSpPr/>
          <p:nvPr/>
        </p:nvSpPr>
        <p:spPr>
          <a:xfrm>
            <a:off x="685800" y="5755639"/>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STATED BEFORE YOU ASK</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Risks and current validation boundaries</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12</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Business Proposal</a:t>
            </a:r>
          </a:p>
        </p:txBody>
      </p:sp>
      <p:sp>
        <p:nvSpPr>
          <p:cNvPr id="8" name="Rectangle 7"/>
          <p:cNvSpPr/>
          <p:nvPr/>
        </p:nvSpPr>
        <p:spPr>
          <a:xfrm>
            <a:off x="685800" y="1536192"/>
            <a:ext cx="10817352" cy="347472"/>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604772"/>
            <a:ext cx="3313868"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Risk</a:t>
            </a:r>
          </a:p>
        </p:txBody>
      </p:sp>
      <p:sp>
        <p:nvSpPr>
          <p:cNvPr id="10" name="TextBox 9"/>
          <p:cNvSpPr txBox="1"/>
          <p:nvPr/>
        </p:nvSpPr>
        <p:spPr>
          <a:xfrm>
            <a:off x="4209980" y="1604772"/>
            <a:ext cx="7247451"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Mitigation and stop condition</a:t>
            </a:r>
          </a:p>
        </p:txBody>
      </p:sp>
      <p:sp>
        <p:nvSpPr>
          <p:cNvPr id="11" name="Rectangle 10"/>
          <p:cNvSpPr/>
          <p:nvPr/>
        </p:nvSpPr>
        <p:spPr>
          <a:xfrm>
            <a:off x="685800" y="1883664"/>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956308"/>
            <a:ext cx="3313868"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Consequence prices steer the wrong traffic</a:t>
            </a:r>
          </a:p>
        </p:txBody>
      </p:sp>
      <p:sp>
        <p:nvSpPr>
          <p:cNvPr id="13" name="TextBox 12"/>
          <p:cNvSpPr txBox="1"/>
          <p:nvPr/>
        </p:nvSpPr>
        <p:spPr>
          <a:xfrm>
            <a:off x="4209980" y="1956308"/>
            <a:ext cx="724745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Measured. 10.9% of spending decisions move across a 0.25 to 4 times band against a 20% stop condition, and no verdict moves</a:t>
            </a:r>
          </a:p>
        </p:txBody>
      </p:sp>
      <p:sp>
        <p:nvSpPr>
          <p:cNvPr id="14" name="Rectangle 13"/>
          <p:cNvSpPr/>
          <p:nvPr/>
        </p:nvSpPr>
        <p:spPr>
          <a:xfrm>
            <a:off x="685800" y="2248916"/>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2256536"/>
            <a:ext cx="10817352" cy="347472"/>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2311400"/>
            <a:ext cx="3313868"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Reviewer capacity is the real constraint</a:t>
            </a:r>
          </a:p>
        </p:txBody>
      </p:sp>
      <p:sp>
        <p:nvSpPr>
          <p:cNvPr id="17" name="TextBox 16"/>
          <p:cNvSpPr txBox="1"/>
          <p:nvPr/>
        </p:nvSpPr>
        <p:spPr>
          <a:xfrm>
            <a:off x="4209980" y="2311400"/>
            <a:ext cx="724745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Confirmed, and it is. Attention is 81 to 98% of total cost, which is why queue ordering is part of the product</a:t>
            </a:r>
          </a:p>
        </p:txBody>
      </p:sp>
      <p:sp>
        <p:nvSpPr>
          <p:cNvPr id="18" name="Rectangle 17"/>
          <p:cNvSpPr/>
          <p:nvPr/>
        </p:nvSpPr>
        <p:spPr>
          <a:xfrm>
            <a:off x="685800" y="260400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666492"/>
            <a:ext cx="3313868"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Selective labels inflate the catch rate</a:t>
            </a:r>
          </a:p>
        </p:txBody>
      </p:sp>
      <p:sp>
        <p:nvSpPr>
          <p:cNvPr id="20" name="TextBox 19"/>
          <p:cNvSpPr txBox="1"/>
          <p:nvPr/>
        </p:nvSpPr>
        <p:spPr>
          <a:xfrm>
            <a:off x="4209980" y="2666492"/>
            <a:ext cx="724745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A fixed rate audit of released rows plus a random sampling reserve, both implemented and costed</a:t>
            </a:r>
          </a:p>
        </p:txBody>
      </p:sp>
      <p:sp>
        <p:nvSpPr>
          <p:cNvPr id="21" name="Rectangle 20"/>
          <p:cNvSpPr/>
          <p:nvPr/>
        </p:nvSpPr>
        <p:spPr>
          <a:xfrm>
            <a:off x="685800" y="2959100"/>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2966720"/>
            <a:ext cx="10817352" cy="347472"/>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3021584"/>
            <a:ext cx="3313868"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Traffic drift invalidates the bound</a:t>
            </a:r>
          </a:p>
        </p:txBody>
      </p:sp>
      <p:sp>
        <p:nvSpPr>
          <p:cNvPr id="24" name="TextBox 23"/>
          <p:cNvSpPr txBox="1"/>
          <p:nvPr/>
        </p:nvSpPr>
        <p:spPr>
          <a:xfrm>
            <a:off x="4209980" y="3021584"/>
            <a:ext cx="724745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Window monitoring and label refresh. Drift detection is Phase 3 and is not built today</a:t>
            </a:r>
          </a:p>
        </p:txBody>
      </p:sp>
      <p:sp>
        <p:nvSpPr>
          <p:cNvPr id="25" name="Rectangle 24"/>
          <p:cNvSpPr/>
          <p:nvPr/>
        </p:nvSpPr>
        <p:spPr>
          <a:xfrm>
            <a:off x="685800" y="331419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3376676"/>
            <a:ext cx="3313868"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The safety floor exceeds the budget</a:t>
            </a:r>
          </a:p>
        </p:txBody>
      </p:sp>
      <p:sp>
        <p:nvSpPr>
          <p:cNvPr id="27" name="TextBox 26"/>
          <p:cNvSpPr txBox="1"/>
          <p:nvPr/>
        </p:nvSpPr>
        <p:spPr>
          <a:xfrm>
            <a:off x="4209980" y="3376676"/>
            <a:ext cx="724745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Report infeasibility. The floor wins and the overspend is declared. The bound is never relaxed silently</a:t>
            </a:r>
          </a:p>
        </p:txBody>
      </p:sp>
      <p:sp>
        <p:nvSpPr>
          <p:cNvPr id="28" name="Rectangle 27"/>
          <p:cNvSpPr/>
          <p:nvPr/>
        </p:nvSpPr>
        <p:spPr>
          <a:xfrm>
            <a:off x="685800" y="3669284"/>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977639"/>
            <a:ext cx="10817352" cy="274320"/>
          </a:xfrm>
          <a:prstGeom prst="rect">
            <a:avLst/>
          </a:prstGeom>
          <a:noFill/>
        </p:spPr>
        <p:txBody>
          <a:bodyPr wrap="square" lIns="0" rIns="0" tIns="0" bIns="0">
            <a:spAutoFit/>
          </a:bodyPr>
          <a:lstStyle/>
          <a:p>
            <a:pPr algn="l">
              <a:lnSpc>
                <a:spcPct val="100000"/>
              </a:lnSpc>
              <a:spcAft>
                <a:spcPts val="0"/>
              </a:spcAft>
            </a:pPr>
            <a:r>
              <a:rPr sz="1400" b="1">
                <a:solidFill>
                  <a:srgbClr val="3B0764"/>
                </a:solidFill>
                <a:latin typeface="Segoe UI"/>
              </a:rPr>
              <a:t>What would have to close before production</a:t>
            </a:r>
          </a:p>
        </p:txBody>
      </p:sp>
      <p:sp>
        <p:nvSpPr>
          <p:cNvPr id="30" name="TextBox 29"/>
          <p:cNvSpPr txBox="1"/>
          <p:nvPr/>
        </p:nvSpPr>
        <p:spPr>
          <a:xfrm>
            <a:off x="685800" y="4315968"/>
            <a:ext cx="10817352" cy="3657600"/>
          </a:xfrm>
          <a:prstGeom prst="rect">
            <a:avLst/>
          </a:prstGeom>
          <a:noFill/>
        </p:spPr>
        <p:txBody>
          <a:bodyPr wrap="square" lIns="0" rIns="0" tIns="0" bIns="0">
            <a:spAutoFit/>
          </a:bodyPr>
          <a:lstStyle/>
          <a:p>
            <a:pPr algn="l">
              <a:lnSpc>
                <a:spcPct val="120000"/>
              </a:lnSpc>
              <a:spcAft>
                <a:spcPts val="100"/>
              </a:spcAft>
            </a:pPr>
            <a:r>
              <a:rPr sz="1200" b="1">
                <a:solidFill>
                  <a:srgbClr val="17121F"/>
                </a:solidFill>
                <a:latin typeface="Segoe UI"/>
              </a:rPr>
              <a:t/>
            </a:r>
          </a:p>
          <a:p>
            <a:pPr algn="l">
              <a:lnSpc>
                <a:spcPct val="120000"/>
              </a:lnSpc>
              <a:spcAft>
                <a:spcPts val="500"/>
              </a:spcAft>
            </a:pPr>
            <a:r>
              <a:rPr sz="1200" b="0">
                <a:solidFill>
                  <a:srgbClr val="2E2838"/>
                </a:solidFill>
                <a:latin typeface="Segoe UI"/>
              </a:rPr>
              <a:t>Calibration is fitted on synthetic traffic and does not transfer. Roughly 500 labelled rows per route, about four weeks of one reviewer, would refit it.</a:t>
            </a:r>
          </a:p>
          <a:p>
            <a:pPr algn="l">
              <a:lnSpc>
                <a:spcPct val="120000"/>
              </a:lnSpc>
              <a:spcAft>
                <a:spcPts val="100"/>
              </a:spcAft>
            </a:pPr>
            <a:r>
              <a:rPr sz="1200" b="1">
                <a:solidFill>
                  <a:srgbClr val="17121F"/>
                </a:solidFill>
                <a:latin typeface="Segoe UI"/>
              </a:rPr>
              <a:t/>
            </a:r>
          </a:p>
          <a:p>
            <a:pPr algn="l">
              <a:lnSpc>
                <a:spcPct val="120000"/>
              </a:lnSpc>
              <a:spcAft>
                <a:spcPts val="500"/>
              </a:spcAft>
            </a:pPr>
            <a:r>
              <a:rPr sz="1200" b="0">
                <a:solidFill>
                  <a:srgbClr val="2E2838"/>
                </a:solidFill>
                <a:latin typeface="Segoe UI"/>
              </a:rPr>
              <a:t>The expensive judge is a deterministic stand in. The adapter exists and two real adapters are written against it, but a production judge must be built and re measured.</a:t>
            </a:r>
          </a:p>
          <a:p>
            <a:pPr algn="l">
              <a:lnSpc>
                <a:spcPct val="120000"/>
              </a:lnSpc>
              <a:spcAft>
                <a:spcPts val="100"/>
              </a:spcAft>
            </a:pPr>
            <a:r>
              <a:rPr sz="1200" b="1">
                <a:solidFill>
                  <a:srgbClr val="17121F"/>
                </a:solidFill>
                <a:latin typeface="Segoe UI"/>
              </a:rPr>
              <a:t/>
            </a:r>
          </a:p>
          <a:p>
            <a:pPr algn="l">
              <a:lnSpc>
                <a:spcPct val="120000"/>
              </a:lnSpc>
              <a:spcAft>
                <a:spcPts val="500"/>
              </a:spcAft>
            </a:pPr>
            <a:r>
              <a:rPr sz="1200" b="0">
                <a:solidFill>
                  <a:srgbClr val="2E2838"/>
                </a:solidFill>
                <a:latin typeface="Segoe UI"/>
              </a:rPr>
              <a:t>Drift is not detected today, the effect gate does not hold a lock across a crash, and the record store assumes a single process.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THE ASK</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Closing recommendation</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13</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Business Proposal</a:t>
            </a:r>
          </a:p>
        </p:txBody>
      </p:sp>
      <p:sp>
        <p:nvSpPr>
          <p:cNvPr id="8" name="TextBox 7"/>
          <p:cNvSpPr txBox="1"/>
          <p:nvPr/>
        </p:nvSpPr>
        <p:spPr>
          <a:xfrm>
            <a:off x="685800" y="1691640"/>
            <a:ext cx="10817352" cy="548640"/>
          </a:xfrm>
          <a:prstGeom prst="rect">
            <a:avLst/>
          </a:prstGeom>
          <a:noFill/>
        </p:spPr>
        <p:txBody>
          <a:bodyPr wrap="square" lIns="0" rIns="0" tIns="0" bIns="0">
            <a:spAutoFit/>
          </a:bodyPr>
          <a:lstStyle/>
          <a:p>
            <a:pPr algn="l">
              <a:lnSpc>
                <a:spcPct val="120000"/>
              </a:lnSpc>
              <a:spcAft>
                <a:spcPts val="0"/>
              </a:spcAft>
            </a:pPr>
            <a:r>
              <a:rPr sz="2200" b="1">
                <a:solidFill>
                  <a:srgbClr val="3B0764"/>
                </a:solidFill>
                <a:latin typeface="Segoe UI"/>
              </a:rPr>
              <a:t>Approve an eight week shadow pilot on one customer facing route, with no enforcement.</a:t>
            </a:r>
          </a:p>
        </p:txBody>
      </p:sp>
      <p:sp>
        <p:nvSpPr>
          <p:cNvPr id="9" name="TextBox 8"/>
          <p:cNvSpPr txBox="1"/>
          <p:nvPr/>
        </p:nvSpPr>
        <p:spPr>
          <a:xfrm>
            <a:off x="685800" y="2514600"/>
            <a:ext cx="10817352" cy="914400"/>
          </a:xfrm>
          <a:prstGeom prst="rect">
            <a:avLst/>
          </a:prstGeom>
          <a:noFill/>
        </p:spPr>
        <p:txBody>
          <a:bodyPr wrap="square" lIns="0" rIns="0" tIns="0" bIns="0">
            <a:spAutoFit/>
          </a:bodyPr>
          <a:lstStyle/>
          <a:p>
            <a:pPr algn="l">
              <a:lnSpc>
                <a:spcPct val="128000"/>
              </a:lnSpc>
              <a:spcAft>
                <a:spcPts val="0"/>
              </a:spcAft>
            </a:pPr>
            <a:r>
              <a:rPr sz="1600" b="0">
                <a:solidFill>
                  <a:srgbClr val="2E2838"/>
                </a:solidFill>
                <a:latin typeface="Segoe UI"/>
              </a:rPr>
              <a:t>It costs almost nothing and it settles the argument with your own data. In two weeks you will know what assurance actually costs you today, split between compute and people, which most organisations cannot currently state. In eight weeks you will know whether allocating that spend beats what you do now on your traffic, and you will have a release bound measured on your own labels rather than on ours.</a:t>
            </a:r>
          </a:p>
        </p:txBody>
      </p:sp>
      <p:sp>
        <p:nvSpPr>
          <p:cNvPr id="10" name="Rectangle 9"/>
          <p:cNvSpPr/>
          <p:nvPr/>
        </p:nvSpPr>
        <p:spPr>
          <a:xfrm>
            <a:off x="685800" y="3749039"/>
            <a:ext cx="10817352" cy="1143000"/>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3749039"/>
            <a:ext cx="43180" cy="11430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867911"/>
            <a:ext cx="10415016" cy="923544"/>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We will also tell you if the answer is no. </a:t>
            </a:r>
          </a:p>
          <a:p>
            <a:pPr algn="l">
              <a:lnSpc>
                <a:spcPct val="116000"/>
              </a:lnSpc>
              <a:spcAft>
                <a:spcPts val="0"/>
              </a:spcAft>
            </a:pPr>
            <a:r>
              <a:rPr sz="1200" b="0">
                <a:solidFill>
                  <a:srgbClr val="2E2838"/>
                </a:solidFill>
                <a:latin typeface="Segoe UI"/>
              </a:rPr>
              <a:t>Allocation helps under conditions computable in advance, and does not help outside them. On one of the five public corpora we tested it won on only one budget setting out of seven, and we report that alongside the results where it won. A pilot that concludes the honest answer is a fixed rate policy on your traffic is a successful pilot, and it will have cost you eight weeks and no enforcement risk to find out.</a:t>
            </a:r>
          </a:p>
        </p:txBody>
      </p:sp>
      <p:sp>
        <p:nvSpPr>
          <p:cNvPr id="13" name="Rectangle 12"/>
          <p:cNvSpPr/>
          <p:nvPr/>
        </p:nvSpPr>
        <p:spPr>
          <a:xfrm>
            <a:off x="685800" y="5230368"/>
            <a:ext cx="10817352" cy="658368"/>
          </a:xfrm>
          <a:prstGeom prst="rect">
            <a:avLst/>
          </a:prstGeom>
          <a:solidFill>
            <a:srgbClr val="3B07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413248"/>
            <a:ext cx="10241280" cy="365760"/>
          </a:xfrm>
          <a:prstGeom prst="rect">
            <a:avLst/>
          </a:prstGeom>
          <a:noFill/>
        </p:spPr>
        <p:txBody>
          <a:bodyPr wrap="square" lIns="0" rIns="0" tIns="0" bIns="0">
            <a:spAutoFit/>
          </a:bodyPr>
          <a:lstStyle/>
          <a:p>
            <a:pPr algn="ctr">
              <a:lnSpc>
                <a:spcPct val="100000"/>
              </a:lnSpc>
              <a:spcAft>
                <a:spcPts val="0"/>
              </a:spcAft>
            </a:pPr>
            <a:r>
              <a:rPr sz="1800" b="1">
                <a:solidFill>
                  <a:srgbClr val="FFFFFF"/>
                </a:solidFill>
                <a:latin typeface="Segoe UI"/>
              </a:rPr>
              <a:t>One route.      One shadow pilot.      Eight weeks.      At the end you own the numbers.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