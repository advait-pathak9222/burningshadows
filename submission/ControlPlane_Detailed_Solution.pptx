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10896" cy="6858000"/>
          </a:xfrm>
          <a:prstGeom prst="rect">
            <a:avLst/>
          </a:prstGeom>
          <a:solidFill>
            <a:srgbClr val="3B07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51560"/>
            <a:ext cx="9144000" cy="274320"/>
          </a:xfrm>
          <a:prstGeom prst="rect">
            <a:avLst/>
          </a:prstGeom>
          <a:noFill/>
        </p:spPr>
        <p:txBody>
          <a:bodyPr wrap="square" lIns="0" rIns="0" tIns="0" bIns="0">
            <a:spAutoFit/>
          </a:bodyPr>
          <a:lstStyle/>
          <a:p>
            <a:pPr algn="l">
              <a:lnSpc>
                <a:spcPct val="100000"/>
              </a:lnSpc>
              <a:spcAft>
                <a:spcPts val="0"/>
              </a:spcAft>
            </a:pPr>
            <a:r>
              <a:rPr sz="1200" b="1">
                <a:solidFill>
                  <a:srgbClr val="6D28D9"/>
                </a:solidFill>
                <a:latin typeface="Segoe UI"/>
              </a:rPr>
              <a:t>ACCENTURE INNOVATION CHALLENGE 2026  .  ROUND 2  .  TRACK 1</a:t>
            </a:r>
          </a:p>
        </p:txBody>
      </p:sp>
      <p:sp>
        <p:nvSpPr>
          <p:cNvPr id="5" name="TextBox 4"/>
          <p:cNvSpPr txBox="1"/>
          <p:nvPr/>
        </p:nvSpPr>
        <p:spPr>
          <a:xfrm>
            <a:off x="1005840" y="1572768"/>
            <a:ext cx="9144000" cy="1005840"/>
          </a:xfrm>
          <a:prstGeom prst="rect">
            <a:avLst/>
          </a:prstGeom>
          <a:noFill/>
        </p:spPr>
        <p:txBody>
          <a:bodyPr wrap="square" lIns="0" rIns="0" tIns="0" bIns="0">
            <a:spAutoFit/>
          </a:bodyPr>
          <a:lstStyle/>
          <a:p>
            <a:pPr algn="l">
              <a:lnSpc>
                <a:spcPct val="100000"/>
              </a:lnSpc>
              <a:spcAft>
                <a:spcPts val="0"/>
              </a:spcAft>
            </a:pPr>
            <a:r>
              <a:rPr sz="6000" b="1">
                <a:solidFill>
                  <a:srgbClr val="17121F"/>
                </a:solidFill>
                <a:latin typeface="Segoe UI"/>
              </a:rPr>
              <a:t>ControlPlane</a:t>
            </a:r>
          </a:p>
        </p:txBody>
      </p:sp>
      <p:sp>
        <p:nvSpPr>
          <p:cNvPr id="6" name="TextBox 5"/>
          <p:cNvSpPr txBox="1"/>
          <p:nvPr/>
        </p:nvSpPr>
        <p:spPr>
          <a:xfrm>
            <a:off x="1005840" y="2578608"/>
            <a:ext cx="9144000" cy="457200"/>
          </a:xfrm>
          <a:prstGeom prst="rect">
            <a:avLst/>
          </a:prstGeom>
          <a:noFill/>
        </p:spPr>
        <p:txBody>
          <a:bodyPr wrap="square" lIns="0" rIns="0" tIns="0" bIns="0">
            <a:spAutoFit/>
          </a:bodyPr>
          <a:lstStyle/>
          <a:p>
            <a:pPr algn="l">
              <a:lnSpc>
                <a:spcPct val="100000"/>
              </a:lnSpc>
              <a:spcAft>
                <a:spcPts val="0"/>
              </a:spcAft>
            </a:pPr>
            <a:r>
              <a:rPr sz="2500" b="0">
                <a:solidFill>
                  <a:srgbClr val="6D28D9"/>
                </a:solidFill>
                <a:latin typeface="Segoe UI"/>
              </a:rPr>
              <a:t>Detailed Solution Document</a:t>
            </a:r>
          </a:p>
        </p:txBody>
      </p:sp>
      <p:sp>
        <p:nvSpPr>
          <p:cNvPr id="7" name="Rectangle 6"/>
          <p:cNvSpPr/>
          <p:nvPr/>
        </p:nvSpPr>
        <p:spPr>
          <a:xfrm>
            <a:off x="1005840" y="3163824"/>
            <a:ext cx="1920240" cy="4318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56432"/>
            <a:ext cx="8595360" cy="1005840"/>
          </a:xfrm>
          <a:prstGeom prst="rect">
            <a:avLst/>
          </a:prstGeom>
          <a:noFill/>
        </p:spPr>
        <p:txBody>
          <a:bodyPr wrap="square" lIns="0" rIns="0" tIns="0" bIns="0">
            <a:spAutoFit/>
          </a:bodyPr>
          <a:lstStyle/>
          <a:p>
            <a:pPr algn="l">
              <a:lnSpc>
                <a:spcPct val="130000"/>
              </a:lnSpc>
              <a:spcAft>
                <a:spcPts val="0"/>
              </a:spcAft>
            </a:pPr>
            <a:r>
              <a:rPr sz="1500" b="0">
                <a:solidFill>
                  <a:srgbClr val="2E2838"/>
                </a:solidFill>
                <a:latin typeface="Segoe UI"/>
              </a:rPr>
              <a:t>An assurance gateway that decides how much checking each AI answer is worth, enforces a safety floor the budget cannot override, and writes every decision into a ledger that can be recomputed from its own arithmetic.</a:t>
            </a:r>
          </a:p>
        </p:txBody>
      </p:sp>
      <p:sp>
        <p:nvSpPr>
          <p:cNvPr id="9" name="Rectangle 8"/>
          <p:cNvSpPr/>
          <p:nvPr/>
        </p:nvSpPr>
        <p:spPr>
          <a:xfrm>
            <a:off x="1005840"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92.8%</a:t>
            </a:r>
          </a:p>
        </p:txBody>
      </p:sp>
      <p:sp>
        <p:nvSpPr>
          <p:cNvPr id="11" name="TextBox 10"/>
          <p:cNvSpPr txBox="1"/>
          <p:nvPr/>
        </p:nvSpPr>
        <p:spPr>
          <a:xfrm>
            <a:off x="1005840"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of the protection of checking every answer, for 10.0% of the compute</a:t>
            </a:r>
          </a:p>
        </p:txBody>
      </p:sp>
      <p:sp>
        <p:nvSpPr>
          <p:cNvPr id="12" name="Rectangle 11"/>
          <p:cNvSpPr/>
          <p:nvPr/>
        </p:nvSpPr>
        <p:spPr>
          <a:xfrm>
            <a:off x="3662172"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62172"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1,500</a:t>
            </a:r>
          </a:p>
        </p:txBody>
      </p:sp>
      <p:sp>
        <p:nvSpPr>
          <p:cNvPr id="14" name="TextBox 13"/>
          <p:cNvSpPr txBox="1"/>
          <p:nvPr/>
        </p:nvSpPr>
        <p:spPr>
          <a:xfrm>
            <a:off x="3662172"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held out interactions behind every figure</a:t>
            </a:r>
          </a:p>
        </p:txBody>
      </p:sp>
      <p:sp>
        <p:nvSpPr>
          <p:cNvPr id="15" name="Rectangle 14"/>
          <p:cNvSpPr/>
          <p:nvPr/>
        </p:nvSpPr>
        <p:spPr>
          <a:xfrm>
            <a:off x="6318504"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0.008</a:t>
            </a:r>
          </a:p>
        </p:txBody>
      </p:sp>
      <p:sp>
        <p:nvSpPr>
          <p:cNvPr id="17" name="TextBox 16"/>
          <p:cNvSpPr txBox="1"/>
          <p:nvPr/>
        </p:nvSpPr>
        <p:spPr>
          <a:xfrm>
            <a:off x="6318504"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to 0.043 calibration error by route</a:t>
            </a:r>
          </a:p>
        </p:txBody>
      </p:sp>
      <p:sp>
        <p:nvSpPr>
          <p:cNvPr id="18" name="Rectangle 17"/>
          <p:cNvSpPr/>
          <p:nvPr/>
        </p:nvSpPr>
        <p:spPr>
          <a:xfrm>
            <a:off x="8974836" y="4800600"/>
            <a:ext cx="2455164"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74836" y="4928616"/>
            <a:ext cx="2455164"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1,500 of 1,500</a:t>
            </a:r>
          </a:p>
        </p:txBody>
      </p:sp>
      <p:sp>
        <p:nvSpPr>
          <p:cNvPr id="20" name="TextBox 19"/>
          <p:cNvSpPr txBox="1"/>
          <p:nvPr/>
        </p:nvSpPr>
        <p:spPr>
          <a:xfrm>
            <a:off x="8974836" y="5367528"/>
            <a:ext cx="2455164"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decisions in one verified chain</a:t>
            </a:r>
          </a:p>
        </p:txBody>
      </p:sp>
      <p:sp>
        <p:nvSpPr>
          <p:cNvPr id="21" name="TextBox 20"/>
          <p:cNvSpPr txBox="1"/>
          <p:nvPr/>
        </p:nvSpPr>
        <p:spPr>
          <a:xfrm>
            <a:off x="1005840" y="6272784"/>
            <a:ext cx="10058400" cy="274320"/>
          </a:xfrm>
          <a:prstGeom prst="rect">
            <a:avLst/>
          </a:prstGeom>
          <a:noFill/>
        </p:spPr>
        <p:txBody>
          <a:bodyPr wrap="square" lIns="0" rIns="0" tIns="0" bIns="0">
            <a:spAutoFit/>
          </a:bodyPr>
          <a:lstStyle/>
          <a:p>
            <a:pPr algn="l">
              <a:lnSpc>
                <a:spcPct val="100000"/>
              </a:lnSpc>
              <a:spcAft>
                <a:spcPts val="0"/>
              </a:spcAft>
            </a:pPr>
            <a:r>
              <a:rPr sz="1000" b="0">
                <a:solidFill>
                  <a:srgbClr val="6B6478"/>
                </a:solidFill>
                <a:latin typeface="Segoe UI"/>
              </a:rPr>
              <a:t>Team BurningShadows   .   github.com/Advait-Pathak9222/BurningShadows   .   Reproduce with ./run_submission.sh   .   Offline, no API key, no network, no GPU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WHAT FOLLOWS</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Contents</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2</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600200"/>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01  Executive summary</a:t>
            </a:r>
          </a:p>
        </p:txBody>
      </p:sp>
      <p:sp>
        <p:nvSpPr>
          <p:cNvPr id="9" name="TextBox 8"/>
          <p:cNvSpPr txBox="1"/>
          <p:nvPr/>
        </p:nvSpPr>
        <p:spPr>
          <a:xfrm>
            <a:off x="685800" y="1847088"/>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What this is and what it demonstrates</a:t>
            </a:r>
          </a:p>
        </p:txBody>
      </p:sp>
      <p:sp>
        <p:nvSpPr>
          <p:cNvPr id="10" name="Rectangle 9"/>
          <p:cNvSpPr/>
          <p:nvPr/>
        </p:nvSpPr>
        <p:spPr>
          <a:xfrm>
            <a:off x="685800" y="2130552"/>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58568"/>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02  The problem</a:t>
            </a:r>
          </a:p>
        </p:txBody>
      </p:sp>
      <p:sp>
        <p:nvSpPr>
          <p:cNvPr id="12" name="TextBox 11"/>
          <p:cNvSpPr txBox="1"/>
          <p:nvPr/>
        </p:nvSpPr>
        <p:spPr>
          <a:xfrm>
            <a:off x="685800" y="2505456"/>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Why fixed verification wastes money in both directions</a:t>
            </a:r>
          </a:p>
        </p:txBody>
      </p:sp>
      <p:sp>
        <p:nvSpPr>
          <p:cNvPr id="13" name="Rectangle 12"/>
          <p:cNvSpPr/>
          <p:nvPr/>
        </p:nvSpPr>
        <p:spPr>
          <a:xfrm>
            <a:off x="685800" y="2788920"/>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16936"/>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03  Solution approach</a:t>
            </a:r>
          </a:p>
        </p:txBody>
      </p:sp>
      <p:sp>
        <p:nvSpPr>
          <p:cNvPr id="15" name="TextBox 14"/>
          <p:cNvSpPr txBox="1"/>
          <p:nvPr/>
        </p:nvSpPr>
        <p:spPr>
          <a:xfrm>
            <a:off x="685800" y="3163824"/>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Verification as a spending decision</a:t>
            </a:r>
          </a:p>
        </p:txBody>
      </p:sp>
      <p:sp>
        <p:nvSpPr>
          <p:cNvPr id="16" name="Rectangle 15"/>
          <p:cNvSpPr/>
          <p:nvPr/>
        </p:nvSpPr>
        <p:spPr>
          <a:xfrm>
            <a:off x="685800" y="3447288"/>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575304"/>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04  Architecture</a:t>
            </a:r>
          </a:p>
        </p:txBody>
      </p:sp>
      <p:sp>
        <p:nvSpPr>
          <p:cNvPr id="18" name="TextBox 17"/>
          <p:cNvSpPr txBox="1"/>
          <p:nvPr/>
        </p:nvSpPr>
        <p:spPr>
          <a:xfrm>
            <a:off x="685800" y="3822192"/>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Four planes and a learning loop</a:t>
            </a:r>
          </a:p>
        </p:txBody>
      </p:sp>
      <p:sp>
        <p:nvSpPr>
          <p:cNvPr id="19" name="Rectangle 18"/>
          <p:cNvSpPr/>
          <p:nvPr/>
        </p:nvSpPr>
        <p:spPr>
          <a:xfrm>
            <a:off x="685800" y="4105656"/>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233672"/>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05  End to end request flow</a:t>
            </a:r>
          </a:p>
        </p:txBody>
      </p:sp>
      <p:sp>
        <p:nvSpPr>
          <p:cNvPr id="21" name="TextBox 20"/>
          <p:cNvSpPr txBox="1"/>
          <p:nvPr/>
        </p:nvSpPr>
        <p:spPr>
          <a:xfrm>
            <a:off x="685800" y="4480560"/>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One held out request, stage by stage</a:t>
            </a:r>
          </a:p>
        </p:txBody>
      </p:sp>
      <p:sp>
        <p:nvSpPr>
          <p:cNvPr id="22" name="Rectangle 21"/>
          <p:cNvSpPr/>
          <p:nvPr/>
        </p:nvSpPr>
        <p:spPr>
          <a:xfrm>
            <a:off x="685800" y="4764024"/>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892040"/>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06  Core decision logic</a:t>
            </a:r>
          </a:p>
        </p:txBody>
      </p:sp>
      <p:sp>
        <p:nvSpPr>
          <p:cNvPr id="24" name="TextBox 23"/>
          <p:cNvSpPr txBox="1"/>
          <p:nvPr/>
        </p:nvSpPr>
        <p:spPr>
          <a:xfrm>
            <a:off x="685800" y="5138928"/>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Tiers, floor, allocation, review, effects</a:t>
            </a:r>
          </a:p>
        </p:txBody>
      </p:sp>
      <p:sp>
        <p:nvSpPr>
          <p:cNvPr id="25" name="Rectangle 24"/>
          <p:cNvSpPr/>
          <p:nvPr/>
        </p:nvSpPr>
        <p:spPr>
          <a:xfrm>
            <a:off x="685800" y="5422392"/>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550408"/>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07  Audit and reproducibility</a:t>
            </a:r>
          </a:p>
        </p:txBody>
      </p:sp>
      <p:sp>
        <p:nvSpPr>
          <p:cNvPr id="27" name="TextBox 26"/>
          <p:cNvSpPr txBox="1"/>
          <p:nvPr/>
        </p:nvSpPr>
        <p:spPr>
          <a:xfrm>
            <a:off x="685800" y="5797296"/>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The ledger and the regeneration path</a:t>
            </a:r>
          </a:p>
        </p:txBody>
      </p:sp>
      <p:sp>
        <p:nvSpPr>
          <p:cNvPr id="28" name="Rectangle 27"/>
          <p:cNvSpPr/>
          <p:nvPr/>
        </p:nvSpPr>
        <p:spPr>
          <a:xfrm>
            <a:off x="685800" y="6080760"/>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1600200"/>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08  Implementation</a:t>
            </a:r>
          </a:p>
        </p:txBody>
      </p:sp>
      <p:sp>
        <p:nvSpPr>
          <p:cNvPr id="30" name="TextBox 29"/>
          <p:cNvSpPr txBox="1"/>
          <p:nvPr/>
        </p:nvSpPr>
        <p:spPr>
          <a:xfrm>
            <a:off x="6355080" y="1847088"/>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What is built, and where it lives</a:t>
            </a:r>
          </a:p>
        </p:txBody>
      </p:sp>
      <p:sp>
        <p:nvSpPr>
          <p:cNvPr id="31" name="Rectangle 30"/>
          <p:cNvSpPr/>
          <p:nvPr/>
        </p:nvSpPr>
        <p:spPr>
          <a:xfrm>
            <a:off x="6355080" y="2130552"/>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2258568"/>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09  Evaluation and evidence</a:t>
            </a:r>
          </a:p>
        </p:txBody>
      </p:sp>
      <p:sp>
        <p:nvSpPr>
          <p:cNvPr id="33" name="TextBox 32"/>
          <p:cNvSpPr txBox="1"/>
          <p:nvPr/>
        </p:nvSpPr>
        <p:spPr>
          <a:xfrm>
            <a:off x="6355080" y="2505456"/>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Measured results on held out traffic</a:t>
            </a:r>
          </a:p>
        </p:txBody>
      </p:sp>
      <p:sp>
        <p:nvSpPr>
          <p:cNvPr id="34" name="Rectangle 33"/>
          <p:cNvSpPr/>
          <p:nvPr/>
        </p:nvSpPr>
        <p:spPr>
          <a:xfrm>
            <a:off x="6355080" y="2788920"/>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2916936"/>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10  External benchmarks</a:t>
            </a:r>
          </a:p>
        </p:txBody>
      </p:sp>
      <p:sp>
        <p:nvSpPr>
          <p:cNvPr id="36" name="TextBox 35"/>
          <p:cNvSpPr txBox="1"/>
          <p:nvPr/>
        </p:nvSpPr>
        <p:spPr>
          <a:xfrm>
            <a:off x="6355080" y="3163824"/>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Five public corpora, including one we failed</a:t>
            </a:r>
          </a:p>
        </p:txBody>
      </p:sp>
      <p:sp>
        <p:nvSpPr>
          <p:cNvPr id="37" name="Rectangle 36"/>
          <p:cNvSpPr/>
          <p:nvPr/>
        </p:nvSpPr>
        <p:spPr>
          <a:xfrm>
            <a:off x="6355080" y="3447288"/>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3575304"/>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11  Running the system</a:t>
            </a:r>
          </a:p>
        </p:txBody>
      </p:sp>
      <p:sp>
        <p:nvSpPr>
          <p:cNvPr id="39" name="TextBox 38"/>
          <p:cNvSpPr txBox="1"/>
          <p:nvPr/>
        </p:nvSpPr>
        <p:spPr>
          <a:xfrm>
            <a:off x="6355080" y="3822192"/>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Commands, console and live prototype</a:t>
            </a:r>
          </a:p>
        </p:txBody>
      </p:sp>
      <p:sp>
        <p:nvSpPr>
          <p:cNvPr id="40" name="Rectangle 39"/>
          <p:cNvSpPr/>
          <p:nvPr/>
        </p:nvSpPr>
        <p:spPr>
          <a:xfrm>
            <a:off x="6355080" y="4105656"/>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4233672"/>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12  Deployment approach</a:t>
            </a:r>
          </a:p>
        </p:txBody>
      </p:sp>
      <p:sp>
        <p:nvSpPr>
          <p:cNvPr id="42" name="TextBox 41"/>
          <p:cNvSpPr txBox="1"/>
          <p:nvPr/>
        </p:nvSpPr>
        <p:spPr>
          <a:xfrm>
            <a:off x="6355080" y="4480560"/>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Where each tier belongs in production</a:t>
            </a:r>
          </a:p>
        </p:txBody>
      </p:sp>
      <p:sp>
        <p:nvSpPr>
          <p:cNvPr id="43" name="Rectangle 42"/>
          <p:cNvSpPr/>
          <p:nvPr/>
        </p:nvSpPr>
        <p:spPr>
          <a:xfrm>
            <a:off x="6355080" y="4764024"/>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4892040"/>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13  Validation boundaries</a:t>
            </a:r>
          </a:p>
        </p:txBody>
      </p:sp>
      <p:sp>
        <p:nvSpPr>
          <p:cNvPr id="45" name="TextBox 44"/>
          <p:cNvSpPr txBox="1"/>
          <p:nvPr/>
        </p:nvSpPr>
        <p:spPr>
          <a:xfrm>
            <a:off x="6355080" y="5138928"/>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What is proven and what is not</a:t>
            </a:r>
          </a:p>
        </p:txBody>
      </p:sp>
      <p:sp>
        <p:nvSpPr>
          <p:cNvPr id="46" name="Rectangle 45"/>
          <p:cNvSpPr/>
          <p:nvPr/>
        </p:nvSpPr>
        <p:spPr>
          <a:xfrm>
            <a:off x="6355080" y="5422392"/>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55080" y="5550408"/>
            <a:ext cx="5120640" cy="256032"/>
          </a:xfrm>
          <a:prstGeom prst="rect">
            <a:avLst/>
          </a:prstGeom>
          <a:noFill/>
        </p:spPr>
        <p:txBody>
          <a:bodyPr wrap="square" lIns="0" rIns="0" tIns="0" bIns="0">
            <a:spAutoFit/>
          </a:bodyPr>
          <a:lstStyle/>
          <a:p>
            <a:pPr algn="l">
              <a:lnSpc>
                <a:spcPct val="100000"/>
              </a:lnSpc>
              <a:spcAft>
                <a:spcPts val="0"/>
              </a:spcAft>
            </a:pPr>
            <a:r>
              <a:rPr sz="1400" b="1">
                <a:solidFill>
                  <a:srgbClr val="17121F"/>
                </a:solidFill>
                <a:latin typeface="Segoe UI"/>
              </a:rPr>
              <a:t>14  Conclusion</a:t>
            </a:r>
          </a:p>
        </p:txBody>
      </p:sp>
      <p:sp>
        <p:nvSpPr>
          <p:cNvPr id="48" name="TextBox 47"/>
          <p:cNvSpPr txBox="1"/>
          <p:nvPr/>
        </p:nvSpPr>
        <p:spPr>
          <a:xfrm>
            <a:off x="6355080" y="5797296"/>
            <a:ext cx="5120640" cy="219456"/>
          </a:xfrm>
          <a:prstGeom prst="rect">
            <a:avLst/>
          </a:prstGeom>
          <a:noFill/>
        </p:spPr>
        <p:txBody>
          <a:bodyPr wrap="square" lIns="0" rIns="0" tIns="0" bIns="0">
            <a:spAutoFit/>
          </a:bodyPr>
          <a:lstStyle/>
          <a:p>
            <a:pPr algn="l">
              <a:lnSpc>
                <a:spcPct val="100000"/>
              </a:lnSpc>
              <a:spcAft>
                <a:spcPts val="0"/>
              </a:spcAft>
            </a:pPr>
            <a:r>
              <a:rPr sz="1100" b="0">
                <a:solidFill>
                  <a:srgbClr val="6B6478"/>
                </a:solidFill>
                <a:latin typeface="Segoe UI"/>
              </a:rPr>
              <a:t>What we would do next</a:t>
            </a:r>
          </a:p>
        </p:txBody>
      </p:sp>
      <p:sp>
        <p:nvSpPr>
          <p:cNvPr id="49" name="Rectangle 48"/>
          <p:cNvSpPr/>
          <p:nvPr/>
        </p:nvSpPr>
        <p:spPr>
          <a:xfrm>
            <a:off x="6355080" y="6080760"/>
            <a:ext cx="512064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01  .  02</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The problem</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3</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81328"/>
            <a:ext cx="10817352" cy="457200"/>
          </a:xfrm>
          <a:prstGeom prst="rect">
            <a:avLst/>
          </a:prstGeom>
          <a:noFill/>
        </p:spPr>
        <p:txBody>
          <a:bodyPr wrap="square" lIns="0" rIns="0" tIns="0" bIns="0">
            <a:spAutoFit/>
          </a:bodyPr>
          <a:lstStyle/>
          <a:p>
            <a:pPr algn="l">
              <a:lnSpc>
                <a:spcPct val="125000"/>
              </a:lnSpc>
              <a:spcAft>
                <a:spcPts val="0"/>
              </a:spcAft>
            </a:pPr>
            <a:r>
              <a:rPr sz="1600" b="0">
                <a:solidFill>
                  <a:srgbClr val="2E2838"/>
                </a:solidFill>
                <a:latin typeface="Segoe UI"/>
              </a:rPr>
              <a:t>Verification of AI output is treated as a fixed rule when it is really a spending decision under a budget.</a:t>
            </a:r>
          </a:p>
        </p:txBody>
      </p:sp>
      <p:sp>
        <p:nvSpPr>
          <p:cNvPr id="9" name="Rectangle 8"/>
          <p:cNvSpPr/>
          <p:nvPr/>
        </p:nvSpPr>
        <p:spPr>
          <a:xfrm>
            <a:off x="685800" y="2148840"/>
            <a:ext cx="3456432" cy="1572768"/>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148840"/>
            <a:ext cx="345643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 y="2331720"/>
            <a:ext cx="3017520"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Checking everything</a:t>
            </a:r>
          </a:p>
        </p:txBody>
      </p:sp>
      <p:sp>
        <p:nvSpPr>
          <p:cNvPr id="12" name="TextBox 11"/>
          <p:cNvSpPr txBox="1"/>
          <p:nvPr/>
        </p:nvSpPr>
        <p:spPr>
          <a:xfrm>
            <a:off x="905256" y="2670048"/>
            <a:ext cx="3017520" cy="960120"/>
          </a:xfrm>
          <a:prstGeom prst="rect">
            <a:avLst/>
          </a:prstGeom>
          <a:noFill/>
        </p:spPr>
        <p:txBody>
          <a:bodyPr wrap="square" lIns="0" rIns="0" tIns="0" bIns="0">
            <a:spAutoFit/>
          </a:bodyPr>
          <a:lstStyle/>
          <a:p>
            <a:pPr algn="l">
              <a:lnSpc>
                <a:spcPct val="120000"/>
              </a:lnSpc>
              <a:spcAft>
                <a:spcPts val="0"/>
              </a:spcAft>
            </a:pPr>
            <a:r>
              <a:rPr sz="1150" b="0">
                <a:solidFill>
                  <a:srgbClr val="2E2838"/>
                </a:solidFill>
                <a:latin typeface="Segoe UI"/>
              </a:rPr>
              <a:t>The dearest tier costs 160 times the cheapest and adds 225 times the delay. On two million interactions a year that is Rs 64 lakh of compute before a single reviewer is paid.</a:t>
            </a:r>
          </a:p>
        </p:txBody>
      </p:sp>
      <p:sp>
        <p:nvSpPr>
          <p:cNvPr id="13" name="Rectangle 12"/>
          <p:cNvSpPr/>
          <p:nvPr/>
        </p:nvSpPr>
        <p:spPr>
          <a:xfrm>
            <a:off x="4370832" y="2148840"/>
            <a:ext cx="3456432" cy="1572768"/>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0832" y="2148840"/>
            <a:ext cx="345643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2331720"/>
            <a:ext cx="3017520"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Sampling blindly</a:t>
            </a:r>
          </a:p>
        </p:txBody>
      </p:sp>
      <p:sp>
        <p:nvSpPr>
          <p:cNvPr id="16" name="TextBox 15"/>
          <p:cNvSpPr txBox="1"/>
          <p:nvPr/>
        </p:nvSpPr>
        <p:spPr>
          <a:xfrm>
            <a:off x="4590288" y="2670048"/>
            <a:ext cx="3017520" cy="960120"/>
          </a:xfrm>
          <a:prstGeom prst="rect">
            <a:avLst/>
          </a:prstGeom>
          <a:noFill/>
        </p:spPr>
        <p:txBody>
          <a:bodyPr wrap="square" lIns="0" rIns="0" tIns="0" bIns="0">
            <a:spAutoFit/>
          </a:bodyPr>
          <a:lstStyle/>
          <a:p>
            <a:pPr algn="l">
              <a:lnSpc>
                <a:spcPct val="120000"/>
              </a:lnSpc>
              <a:spcAft>
                <a:spcPts val="0"/>
              </a:spcAft>
            </a:pPr>
            <a:r>
              <a:rPr sz="1150" b="0">
                <a:solidFill>
                  <a:srgbClr val="2E2838"/>
                </a:solidFill>
                <a:latin typeface="Segoe UI"/>
              </a:rPr>
              <a:t>A one in ten sample spends the same effort on a question about opening hours as on an instruction to transfer funds, because it cannot tell them apart.</a:t>
            </a:r>
          </a:p>
        </p:txBody>
      </p:sp>
      <p:sp>
        <p:nvSpPr>
          <p:cNvPr id="17" name="Rectangle 16"/>
          <p:cNvSpPr/>
          <p:nvPr/>
        </p:nvSpPr>
        <p:spPr>
          <a:xfrm>
            <a:off x="8055864" y="2148840"/>
            <a:ext cx="3456432" cy="1572768"/>
          </a:xfrm>
          <a:prstGeom prst="rect">
            <a:avLst/>
          </a:prstGeom>
          <a:solidFill>
            <a:srgbClr val="FFFFFF"/>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5864" y="2148840"/>
            <a:ext cx="345643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2331720"/>
            <a:ext cx="3017520" cy="274320"/>
          </a:xfrm>
          <a:prstGeom prst="rect">
            <a:avLst/>
          </a:prstGeom>
          <a:noFill/>
        </p:spPr>
        <p:txBody>
          <a:bodyPr wrap="square" lIns="0" rIns="0" tIns="0" bIns="0">
            <a:spAutoFit/>
          </a:bodyPr>
          <a:lstStyle/>
          <a:p>
            <a:pPr algn="l">
              <a:lnSpc>
                <a:spcPct val="100000"/>
              </a:lnSpc>
              <a:spcAft>
                <a:spcPts val="0"/>
              </a:spcAft>
            </a:pPr>
            <a:r>
              <a:rPr sz="1500" b="1">
                <a:solidFill>
                  <a:srgbClr val="3B0764"/>
                </a:solidFill>
                <a:latin typeface="Segoe UI"/>
              </a:rPr>
              <a:t>No defensible record</a:t>
            </a:r>
          </a:p>
        </p:txBody>
      </p:sp>
      <p:sp>
        <p:nvSpPr>
          <p:cNvPr id="20" name="TextBox 19"/>
          <p:cNvSpPr txBox="1"/>
          <p:nvPr/>
        </p:nvSpPr>
        <p:spPr>
          <a:xfrm>
            <a:off x="8275320" y="2670048"/>
            <a:ext cx="3017520" cy="960120"/>
          </a:xfrm>
          <a:prstGeom prst="rect">
            <a:avLst/>
          </a:prstGeom>
          <a:noFill/>
        </p:spPr>
        <p:txBody>
          <a:bodyPr wrap="square" lIns="0" rIns="0" tIns="0" bIns="0">
            <a:spAutoFit/>
          </a:bodyPr>
          <a:lstStyle/>
          <a:p>
            <a:pPr algn="l">
              <a:lnSpc>
                <a:spcPct val="120000"/>
              </a:lnSpc>
              <a:spcAft>
                <a:spcPts val="0"/>
              </a:spcAft>
            </a:pPr>
            <a:r>
              <a:rPr sz="1150" b="0">
                <a:solidFill>
                  <a:srgbClr val="2E2838"/>
                </a:solidFill>
                <a:latin typeface="Segoe UI"/>
              </a:rPr>
              <a:t>When a regulator asks why one answer was released, most stacks produce a log line. What is needed is the arithmetic, and it is usually gone.</a:t>
            </a:r>
          </a:p>
        </p:txBody>
      </p:sp>
      <p:sp>
        <p:nvSpPr>
          <p:cNvPr id="21" name="Rectangle 20"/>
          <p:cNvSpPr/>
          <p:nvPr/>
        </p:nvSpPr>
        <p:spPr>
          <a:xfrm>
            <a:off x="685800" y="3977639"/>
            <a:ext cx="10817352" cy="86868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3977639"/>
            <a:ext cx="43180" cy="8686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4096511"/>
            <a:ext cx="10415016" cy="64922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The bill is mostly people. </a:t>
            </a:r>
          </a:p>
          <a:p>
            <a:pPr algn="l">
              <a:lnSpc>
                <a:spcPct val="116000"/>
              </a:lnSpc>
              <a:spcAft>
                <a:spcPts val="0"/>
              </a:spcAft>
            </a:pPr>
            <a:r>
              <a:rPr sz="1200" b="0">
                <a:solidFill>
                  <a:srgbClr val="2E2838"/>
                </a:solidFill>
                <a:latin typeface="Segoe UI"/>
              </a:rPr>
              <a:t>One completed review costs Rs 120 against Rs 3.20 for the dearest automated check, so a review is 37.5 times an automated check. Across the budget grid, 81 to 98 paise in every assurance rupee is human review time rather than compute.</a:t>
            </a:r>
          </a:p>
        </p:txBody>
      </p:sp>
      <p:sp>
        <p:nvSpPr>
          <p:cNvPr id="24" name="Rectangle 23"/>
          <p:cNvSpPr/>
          <p:nvPr/>
        </p:nvSpPr>
        <p:spPr>
          <a:xfrm>
            <a:off x="685800" y="5047488"/>
            <a:ext cx="10817352" cy="310896"/>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116068"/>
            <a:ext cx="199682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Compute budget</a:t>
            </a:r>
          </a:p>
        </p:txBody>
      </p:sp>
      <p:sp>
        <p:nvSpPr>
          <p:cNvPr id="26" name="TextBox 25"/>
          <p:cNvSpPr txBox="1"/>
          <p:nvPr/>
        </p:nvSpPr>
        <p:spPr>
          <a:xfrm>
            <a:off x="2892933" y="5116068"/>
            <a:ext cx="218998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Automated checking</a:t>
            </a:r>
          </a:p>
        </p:txBody>
      </p:sp>
      <p:sp>
        <p:nvSpPr>
          <p:cNvPr id="27" name="TextBox 26"/>
          <p:cNvSpPr txBox="1"/>
          <p:nvPr/>
        </p:nvSpPr>
        <p:spPr>
          <a:xfrm>
            <a:off x="5210937" y="5116068"/>
            <a:ext cx="199682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Human review</a:t>
            </a:r>
          </a:p>
        </p:txBody>
      </p:sp>
      <p:sp>
        <p:nvSpPr>
          <p:cNvPr id="28" name="TextBox 27"/>
          <p:cNvSpPr txBox="1"/>
          <p:nvPr/>
        </p:nvSpPr>
        <p:spPr>
          <a:xfrm>
            <a:off x="7335774" y="5116068"/>
            <a:ext cx="218998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Attention share</a:t>
            </a:r>
          </a:p>
        </p:txBody>
      </p:sp>
      <p:sp>
        <p:nvSpPr>
          <p:cNvPr id="29" name="TextBox 28"/>
          <p:cNvSpPr txBox="1"/>
          <p:nvPr/>
        </p:nvSpPr>
        <p:spPr>
          <a:xfrm>
            <a:off x="9653778" y="5116068"/>
            <a:ext cx="1803654"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Cases raised</a:t>
            </a:r>
          </a:p>
        </p:txBody>
      </p:sp>
      <p:sp>
        <p:nvSpPr>
          <p:cNvPr id="30" name="Rectangle 29"/>
          <p:cNvSpPr/>
          <p:nvPr/>
        </p:nvSpPr>
        <p:spPr>
          <a:xfrm>
            <a:off x="685800" y="5358384"/>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5431028"/>
            <a:ext cx="19968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10%</a:t>
            </a:r>
          </a:p>
        </p:txBody>
      </p:sp>
      <p:sp>
        <p:nvSpPr>
          <p:cNvPr id="32" name="TextBox 31"/>
          <p:cNvSpPr txBox="1"/>
          <p:nvPr/>
        </p:nvSpPr>
        <p:spPr>
          <a:xfrm>
            <a:off x="2892933" y="5431028"/>
            <a:ext cx="218998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480.98</a:t>
            </a:r>
          </a:p>
        </p:txBody>
      </p:sp>
      <p:sp>
        <p:nvSpPr>
          <p:cNvPr id="33" name="TextBox 32"/>
          <p:cNvSpPr txBox="1"/>
          <p:nvPr/>
        </p:nvSpPr>
        <p:spPr>
          <a:xfrm>
            <a:off x="5210937" y="5431028"/>
            <a:ext cx="19968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19,920</a:t>
            </a:r>
          </a:p>
        </p:txBody>
      </p:sp>
      <p:sp>
        <p:nvSpPr>
          <p:cNvPr id="34" name="TextBox 33"/>
          <p:cNvSpPr txBox="1"/>
          <p:nvPr/>
        </p:nvSpPr>
        <p:spPr>
          <a:xfrm>
            <a:off x="7335774" y="5431028"/>
            <a:ext cx="218998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97.6%</a:t>
            </a:r>
          </a:p>
        </p:txBody>
      </p:sp>
      <p:sp>
        <p:nvSpPr>
          <p:cNvPr id="35" name="TextBox 34"/>
          <p:cNvSpPr txBox="1"/>
          <p:nvPr/>
        </p:nvSpPr>
        <p:spPr>
          <a:xfrm>
            <a:off x="9653778" y="5431028"/>
            <a:ext cx="1803654"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246</a:t>
            </a:r>
          </a:p>
        </p:txBody>
      </p:sp>
      <p:sp>
        <p:nvSpPr>
          <p:cNvPr id="36" name="Rectangle 35"/>
          <p:cNvSpPr/>
          <p:nvPr/>
        </p:nvSpPr>
        <p:spPr>
          <a:xfrm>
            <a:off x="685800" y="568706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5800" y="5694680"/>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749544"/>
            <a:ext cx="19968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40%</a:t>
            </a:r>
          </a:p>
        </p:txBody>
      </p:sp>
      <p:sp>
        <p:nvSpPr>
          <p:cNvPr id="39" name="TextBox 38"/>
          <p:cNvSpPr txBox="1"/>
          <p:nvPr/>
        </p:nvSpPr>
        <p:spPr>
          <a:xfrm>
            <a:off x="2892933" y="5749544"/>
            <a:ext cx="218998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1,920.18</a:t>
            </a:r>
          </a:p>
        </p:txBody>
      </p:sp>
      <p:sp>
        <p:nvSpPr>
          <p:cNvPr id="40" name="TextBox 39"/>
          <p:cNvSpPr txBox="1"/>
          <p:nvPr/>
        </p:nvSpPr>
        <p:spPr>
          <a:xfrm>
            <a:off x="5210937" y="5749544"/>
            <a:ext cx="19968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19,920</a:t>
            </a:r>
          </a:p>
        </p:txBody>
      </p:sp>
      <p:sp>
        <p:nvSpPr>
          <p:cNvPr id="41" name="TextBox 40"/>
          <p:cNvSpPr txBox="1"/>
          <p:nvPr/>
        </p:nvSpPr>
        <p:spPr>
          <a:xfrm>
            <a:off x="7335774" y="5749544"/>
            <a:ext cx="218998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91.2%</a:t>
            </a:r>
          </a:p>
        </p:txBody>
      </p:sp>
      <p:sp>
        <p:nvSpPr>
          <p:cNvPr id="42" name="TextBox 41"/>
          <p:cNvSpPr txBox="1"/>
          <p:nvPr/>
        </p:nvSpPr>
        <p:spPr>
          <a:xfrm>
            <a:off x="9653778" y="5749544"/>
            <a:ext cx="1803654"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344</a:t>
            </a:r>
          </a:p>
        </p:txBody>
      </p:sp>
      <p:sp>
        <p:nvSpPr>
          <p:cNvPr id="43" name="Rectangle 42"/>
          <p:cNvSpPr/>
          <p:nvPr/>
        </p:nvSpPr>
        <p:spPr>
          <a:xfrm>
            <a:off x="685800" y="600557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8096" y="6068060"/>
            <a:ext cx="19968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100%</a:t>
            </a:r>
          </a:p>
        </p:txBody>
      </p:sp>
      <p:sp>
        <p:nvSpPr>
          <p:cNvPr id="45" name="TextBox 44"/>
          <p:cNvSpPr txBox="1"/>
          <p:nvPr/>
        </p:nvSpPr>
        <p:spPr>
          <a:xfrm>
            <a:off x="2892933" y="6068060"/>
            <a:ext cx="218998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4,800.00</a:t>
            </a:r>
          </a:p>
        </p:txBody>
      </p:sp>
      <p:sp>
        <p:nvSpPr>
          <p:cNvPr id="46" name="TextBox 45"/>
          <p:cNvSpPr txBox="1"/>
          <p:nvPr/>
        </p:nvSpPr>
        <p:spPr>
          <a:xfrm>
            <a:off x="5210937" y="6068060"/>
            <a:ext cx="19968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19,920</a:t>
            </a:r>
          </a:p>
        </p:txBody>
      </p:sp>
      <p:sp>
        <p:nvSpPr>
          <p:cNvPr id="47" name="TextBox 46"/>
          <p:cNvSpPr txBox="1"/>
          <p:nvPr/>
        </p:nvSpPr>
        <p:spPr>
          <a:xfrm>
            <a:off x="7335774" y="6068060"/>
            <a:ext cx="218998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80.6%</a:t>
            </a:r>
          </a:p>
        </p:txBody>
      </p:sp>
      <p:sp>
        <p:nvSpPr>
          <p:cNvPr id="48" name="TextBox 47"/>
          <p:cNvSpPr txBox="1"/>
          <p:nvPr/>
        </p:nvSpPr>
        <p:spPr>
          <a:xfrm>
            <a:off x="9653778" y="6068060"/>
            <a:ext cx="1803654"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569</a:t>
            </a:r>
          </a:p>
        </p:txBody>
      </p:sp>
      <p:sp>
        <p:nvSpPr>
          <p:cNvPr id="49" name="Rectangle 48"/>
          <p:cNvSpPr/>
          <p:nvPr/>
        </p:nvSpPr>
        <p:spPr>
          <a:xfrm>
            <a:off x="685800" y="632409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03</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Solution approach</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4</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81328"/>
            <a:ext cx="10817352" cy="457200"/>
          </a:xfrm>
          <a:prstGeom prst="rect">
            <a:avLst/>
          </a:prstGeom>
          <a:noFill/>
        </p:spPr>
        <p:txBody>
          <a:bodyPr wrap="square" lIns="0" rIns="0" tIns="0" bIns="0">
            <a:spAutoFit/>
          </a:bodyPr>
          <a:lstStyle/>
          <a:p>
            <a:pPr algn="l">
              <a:lnSpc>
                <a:spcPct val="125000"/>
              </a:lnSpc>
              <a:spcAft>
                <a:spcPts val="0"/>
              </a:spcAft>
            </a:pPr>
            <a:r>
              <a:rPr sz="1500" b="0">
                <a:solidFill>
                  <a:srgbClr val="2E2838"/>
                </a:solidFill>
                <a:latin typeface="Segoe UI"/>
              </a:rPr>
              <a:t>Treat every check as a purchase. Estimate what it would prevent, compare that with what it costs, and buy it only when the first number is larger. Then put a floor underneath so safety is never a purely economic question.</a:t>
            </a:r>
          </a:p>
        </p:txBody>
      </p:sp>
      <p:sp>
        <p:nvSpPr>
          <p:cNvPr id="9" name="Rectangle 8"/>
          <p:cNvSpPr/>
          <p:nvPr/>
        </p:nvSpPr>
        <p:spPr>
          <a:xfrm>
            <a:off x="685800" y="2286000"/>
            <a:ext cx="10817352" cy="841248"/>
          </a:xfrm>
          <a:prstGeom prst="rect">
            <a:avLst/>
          </a:prstGeom>
          <a:solidFill>
            <a:srgbClr val="F8F6FC"/>
          </a:solidFill>
          <a:ln w="11430">
            <a:solidFill>
              <a:srgbClr val="E3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432304"/>
            <a:ext cx="10058400" cy="548640"/>
          </a:xfrm>
          <a:prstGeom prst="rect">
            <a:avLst/>
          </a:prstGeom>
          <a:noFill/>
        </p:spPr>
        <p:txBody>
          <a:bodyPr wrap="square" lIns="0" rIns="0" tIns="0" bIns="0">
            <a:spAutoFit/>
          </a:bodyPr>
          <a:lstStyle/>
          <a:p>
            <a:pPr algn="l">
              <a:lnSpc>
                <a:spcPct val="115000"/>
              </a:lnSpc>
              <a:spcAft>
                <a:spcPts val="400"/>
              </a:spcAft>
            </a:pPr>
            <a:r>
              <a:rPr sz="1500" b="0">
                <a:solidFill>
                  <a:srgbClr val="3B0764"/>
                </a:solidFill>
                <a:latin typeface="Segoe UI"/>
              </a:rPr>
              <a:t>expected loss  =  calibrated risk  x  consequence</a:t>
            </a:r>
          </a:p>
          <a:p>
            <a:pPr algn="l">
              <a:lnSpc>
                <a:spcPct val="115000"/>
              </a:lnSpc>
              <a:spcAft>
                <a:spcPts val="0"/>
              </a:spcAft>
            </a:pPr>
            <a:r>
              <a:rPr sz="1500" b="1">
                <a:solidFill>
                  <a:srgbClr val="3B0764"/>
                </a:solidFill>
                <a:latin typeface="Segoe UI"/>
              </a:rPr>
              <a:t>check when   expected loss x catch rate   &gt;   (1 + shadow price) x check cost</a:t>
            </a:r>
          </a:p>
        </p:txBody>
      </p:sp>
      <p:sp>
        <p:nvSpPr>
          <p:cNvPr id="11" name="TextBox 10"/>
          <p:cNvSpPr txBox="1"/>
          <p:nvPr/>
        </p:nvSpPr>
        <p:spPr>
          <a:xfrm>
            <a:off x="685800" y="3401568"/>
            <a:ext cx="5212080" cy="3657600"/>
          </a:xfrm>
          <a:prstGeom prst="rect">
            <a:avLst/>
          </a:prstGeom>
          <a:noFill/>
        </p:spPr>
        <p:txBody>
          <a:bodyPr wrap="square" lIns="0" rIns="0" tIns="0" bIns="0">
            <a:spAutoFit/>
          </a:bodyPr>
          <a:lstStyle/>
          <a:p>
            <a:pPr algn="l">
              <a:lnSpc>
                <a:spcPct val="120000"/>
              </a:lnSpc>
              <a:spcAft>
                <a:spcPts val="100"/>
              </a:spcAft>
            </a:pPr>
            <a:r>
              <a:rPr sz="1250" b="1">
                <a:solidFill>
                  <a:srgbClr val="17121F"/>
                </a:solidFill>
                <a:latin typeface="Segoe UI"/>
              </a:rPr>
              <a:t>Harm is a vector, not a label. </a:t>
            </a:r>
          </a:p>
          <a:p>
            <a:pPr algn="l">
              <a:lnSpc>
                <a:spcPct val="120000"/>
              </a:lnSpc>
              <a:spcAft>
                <a:spcPts val="800"/>
              </a:spcAft>
            </a:pPr>
            <a:r>
              <a:rPr sz="1250" b="0">
                <a:solidFill>
                  <a:srgbClr val="2E2838"/>
                </a:solidFill>
                <a:latin typeface="Segoe UI"/>
              </a:rPr>
              <a:t>An answer can leak data and be wrong at once, so five axes are kept separate through the whole pipeline.</a:t>
            </a:r>
          </a:p>
          <a:p>
            <a:pPr algn="l">
              <a:lnSpc>
                <a:spcPct val="120000"/>
              </a:lnSpc>
              <a:spcAft>
                <a:spcPts val="100"/>
              </a:spcAft>
            </a:pPr>
            <a:r>
              <a:rPr sz="1250" b="1">
                <a:solidFill>
                  <a:srgbClr val="17121F"/>
                </a:solidFill>
                <a:latin typeface="Segoe UI"/>
              </a:rPr>
              <a:t>Evidence regime decides what is knowable. </a:t>
            </a:r>
          </a:p>
          <a:p>
            <a:pPr algn="l">
              <a:lnSpc>
                <a:spcPct val="120000"/>
              </a:lnSpc>
              <a:spcAft>
                <a:spcPts val="800"/>
              </a:spcAft>
            </a:pPr>
            <a:r>
              <a:rPr sz="1250" b="0">
                <a:solidFill>
                  <a:srgbClr val="2E2838"/>
                </a:solidFill>
                <a:latin typeface="Segoe UI"/>
              </a:rPr>
              <a:t>An unverifiable answer carrying real risk is withheld rather than guessed at.</a:t>
            </a:r>
          </a:p>
          <a:p>
            <a:pPr algn="l">
              <a:lnSpc>
                <a:spcPct val="120000"/>
              </a:lnSpc>
              <a:spcAft>
                <a:spcPts val="100"/>
              </a:spcAft>
            </a:pPr>
            <a:r>
              <a:rPr sz="1250" b="1">
                <a:solidFill>
                  <a:srgbClr val="17121F"/>
                </a:solidFill>
                <a:latin typeface="Segoe UI"/>
              </a:rPr>
              <a:t>The floor is not negotiable. </a:t>
            </a:r>
          </a:p>
          <a:p>
            <a:pPr algn="l">
              <a:lnSpc>
                <a:spcPct val="120000"/>
              </a:lnSpc>
              <a:spcAft>
                <a:spcPts val="800"/>
              </a:spcAft>
            </a:pPr>
            <a:r>
              <a:rPr sz="1250" b="0">
                <a:solidFill>
                  <a:srgbClr val="2E2838"/>
                </a:solidFill>
                <a:latin typeface="Segoe UI"/>
              </a:rPr>
              <a:t>A release threshold selected on held out data. The budget can slow everything else. It cannot switch this off.</a:t>
            </a:r>
          </a:p>
        </p:txBody>
      </p:sp>
      <p:sp>
        <p:nvSpPr>
          <p:cNvPr id="12" name="TextBox 11"/>
          <p:cNvSpPr txBox="1"/>
          <p:nvPr/>
        </p:nvSpPr>
        <p:spPr>
          <a:xfrm>
            <a:off x="6263640" y="3401568"/>
            <a:ext cx="5212080" cy="3657600"/>
          </a:xfrm>
          <a:prstGeom prst="rect">
            <a:avLst/>
          </a:prstGeom>
          <a:noFill/>
        </p:spPr>
        <p:txBody>
          <a:bodyPr wrap="square" lIns="0" rIns="0" tIns="0" bIns="0">
            <a:spAutoFit/>
          </a:bodyPr>
          <a:lstStyle/>
          <a:p>
            <a:pPr algn="l">
              <a:lnSpc>
                <a:spcPct val="120000"/>
              </a:lnSpc>
              <a:spcAft>
                <a:spcPts val="100"/>
              </a:spcAft>
            </a:pPr>
            <a:r>
              <a:rPr sz="1250" b="1">
                <a:solidFill>
                  <a:srgbClr val="17121F"/>
                </a:solidFill>
                <a:latin typeface="Segoe UI"/>
              </a:rPr>
              <a:t>Attention is the scarce resource. </a:t>
            </a:r>
          </a:p>
          <a:p>
            <a:pPr algn="l">
              <a:lnSpc>
                <a:spcPct val="120000"/>
              </a:lnSpc>
              <a:spcAft>
                <a:spcPts val="800"/>
              </a:spcAft>
            </a:pPr>
            <a:r>
              <a:rPr sz="1250" b="0">
                <a:solidFill>
                  <a:srgbClr val="2E2838"/>
                </a:solidFill>
                <a:latin typeface="Segoe UI"/>
              </a:rPr>
              <a:t>Reviewer minutes cost 37.5 times an automated check and cannot be bought at short notice, so the queue is scheduled by value against deadline.</a:t>
            </a:r>
          </a:p>
          <a:p>
            <a:pPr algn="l">
              <a:lnSpc>
                <a:spcPct val="120000"/>
              </a:lnSpc>
              <a:spcAft>
                <a:spcPts val="100"/>
              </a:spcAft>
            </a:pPr>
            <a:r>
              <a:rPr sz="1250" b="1">
                <a:solidFill>
                  <a:srgbClr val="17121F"/>
                </a:solidFill>
                <a:latin typeface="Segoe UI"/>
              </a:rPr>
              <a:t>Words and actions are different risks. </a:t>
            </a:r>
          </a:p>
          <a:p>
            <a:pPr algn="l">
              <a:lnSpc>
                <a:spcPct val="120000"/>
              </a:lnSpc>
              <a:spcAft>
                <a:spcPts val="800"/>
              </a:spcAft>
            </a:pPr>
            <a:r>
              <a:rPr sz="1250" b="0">
                <a:solidFill>
                  <a:srgbClr val="2E2838"/>
                </a:solidFill>
                <a:latin typeface="Segoe UI"/>
              </a:rPr>
              <a:t>Text can stream while checking runs because it can be retracted. A payment cannot, so effects wait behind their own gate.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04</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Architecture</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5</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44752"/>
            <a:ext cx="10817352" cy="329184"/>
          </a:xfrm>
          <a:prstGeom prst="rect">
            <a:avLst/>
          </a:prstGeom>
          <a:noFill/>
        </p:spPr>
        <p:txBody>
          <a:bodyPr wrap="square" lIns="0" rIns="0" tIns="0" bIns="0">
            <a:spAutoFit/>
          </a:bodyPr>
          <a:lstStyle/>
          <a:p>
            <a:pPr algn="l">
              <a:lnSpc>
                <a:spcPct val="100000"/>
              </a:lnSpc>
              <a:spcAft>
                <a:spcPts val="0"/>
              </a:spcAft>
            </a:pPr>
            <a:r>
              <a:rPr sz="1300" b="0">
                <a:solidFill>
                  <a:srgbClr val="2E2838"/>
                </a:solidFill>
                <a:latin typeface="Segoe UI"/>
              </a:rPr>
              <a:t>The gateway sees only the request, the response, any supplied context and any proposed tool calls. It needs no model weights, hidden states or log probabilities.</a:t>
            </a:r>
          </a:p>
        </p:txBody>
      </p:sp>
      <p:pic>
        <p:nvPicPr>
          <p:cNvPr id="9" name="Picture 8" descr="architecture.png"/>
          <p:cNvPicPr>
            <a:picLocks noChangeAspect="1"/>
          </p:cNvPicPr>
          <p:nvPr/>
        </p:nvPicPr>
        <p:blipFill>
          <a:blip r:embed="rId2"/>
          <a:stretch>
            <a:fillRect/>
          </a:stretch>
        </p:blipFill>
        <p:spPr>
          <a:xfrm>
            <a:off x="685800" y="1938528"/>
            <a:ext cx="10817352" cy="4432993"/>
          </a:xfrm>
          <a:prstGeom prst="rect">
            <a:avLst/>
          </a:prstGeom>
        </p:spPr>
      </p:pic>
      <p:sp>
        <p:nvSpPr>
          <p:cNvPr id="10" name="Rectangle 9"/>
          <p:cNvSpPr/>
          <p:nvPr/>
        </p:nvSpPr>
        <p:spPr>
          <a:xfrm>
            <a:off x="685800" y="5532120"/>
            <a:ext cx="10817352" cy="713232"/>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5532120"/>
            <a:ext cx="43180" cy="71323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5650992"/>
            <a:ext cx="10415016" cy="493776"/>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Why this shape. </a:t>
            </a:r>
          </a:p>
          <a:p>
            <a:pPr algn="l">
              <a:lnSpc>
                <a:spcPct val="116000"/>
              </a:lnSpc>
              <a:spcAft>
                <a:spcPts val="0"/>
              </a:spcAft>
            </a:pPr>
            <a:r>
              <a:rPr sz="1200" b="0">
                <a:solidFill>
                  <a:srgbClr val="2E2838"/>
                </a:solidFill>
                <a:latin typeface="Segoe UI"/>
              </a:rPr>
              <a:t>The allocator never needs to know what a tier is. It needs three numbers per tier, which are cost, catch rate and latency. Swapping a detector is an adapter implementation rather than a rewrite.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05</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End to end request flow</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6</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44752"/>
            <a:ext cx="10817352" cy="329184"/>
          </a:xfrm>
          <a:prstGeom prst="rect">
            <a:avLst/>
          </a:prstGeom>
          <a:noFill/>
        </p:spPr>
        <p:txBody>
          <a:bodyPr wrap="square" lIns="0" rIns="0" tIns="0" bIns="0">
            <a:spAutoFit/>
          </a:bodyPr>
          <a:lstStyle/>
          <a:p>
            <a:pPr algn="l">
              <a:lnSpc>
                <a:spcPct val="100000"/>
              </a:lnSpc>
              <a:spcAft>
                <a:spcPts val="0"/>
              </a:spcAft>
            </a:pPr>
            <a:r>
              <a:rPr sz="1300" b="0">
                <a:solidFill>
                  <a:srgbClr val="2E2838"/>
                </a:solidFill>
                <a:latin typeface="Segoe UI"/>
              </a:rPr>
              <a:t>Held out row cp-02477. A finance route request carrying a transfer, where the model echoes a secret the source said must never be repeated. Every figure is recomputed from the stored record.</a:t>
            </a:r>
          </a:p>
        </p:txBody>
      </p:sp>
      <p:sp>
        <p:nvSpPr>
          <p:cNvPr id="9" name="Rectangle 8"/>
          <p:cNvSpPr/>
          <p:nvPr/>
        </p:nvSpPr>
        <p:spPr>
          <a:xfrm>
            <a:off x="685800" y="1938528"/>
            <a:ext cx="10817352" cy="329184"/>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07108"/>
            <a:ext cx="322707"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a:t>
            </a:r>
          </a:p>
        </p:txBody>
      </p:sp>
      <p:sp>
        <p:nvSpPr>
          <p:cNvPr id="11" name="TextBox 10"/>
          <p:cNvSpPr txBox="1"/>
          <p:nvPr/>
        </p:nvSpPr>
        <p:spPr>
          <a:xfrm>
            <a:off x="1218819" y="2007108"/>
            <a:ext cx="2666466"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Stage</a:t>
            </a:r>
          </a:p>
        </p:txBody>
      </p:sp>
      <p:sp>
        <p:nvSpPr>
          <p:cNvPr id="12" name="TextBox 11"/>
          <p:cNvSpPr txBox="1"/>
          <p:nvPr/>
        </p:nvSpPr>
        <p:spPr>
          <a:xfrm>
            <a:off x="4013301" y="2007108"/>
            <a:ext cx="7444130"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happened to this request</a:t>
            </a:r>
          </a:p>
        </p:txBody>
      </p:sp>
      <p:sp>
        <p:nvSpPr>
          <p:cNvPr id="13" name="Rectangle 12"/>
          <p:cNvSpPr/>
          <p:nvPr/>
        </p:nvSpPr>
        <p:spPr>
          <a:xfrm>
            <a:off x="685800" y="2267712"/>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40356"/>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a:t>
            </a:r>
          </a:p>
        </p:txBody>
      </p:sp>
      <p:sp>
        <p:nvSpPr>
          <p:cNvPr id="15" name="TextBox 14"/>
          <p:cNvSpPr txBox="1"/>
          <p:nvPr/>
        </p:nvSpPr>
        <p:spPr>
          <a:xfrm>
            <a:off x="1218819" y="2340356"/>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A request arrives</a:t>
            </a:r>
          </a:p>
        </p:txBody>
      </p:sp>
      <p:sp>
        <p:nvSpPr>
          <p:cNvPr id="16" name="TextBox 15"/>
          <p:cNvSpPr txBox="1"/>
          <p:nvPr/>
        </p:nvSpPr>
        <p:spPr>
          <a:xfrm>
            <a:off x="4013301" y="2340356"/>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Route finops-agent, jurisdiction india, with a transfer_funds call attached</a:t>
            </a:r>
          </a:p>
        </p:txBody>
      </p:sp>
      <p:sp>
        <p:nvSpPr>
          <p:cNvPr id="17" name="Rectangle 16"/>
          <p:cNvSpPr/>
          <p:nvPr/>
        </p:nvSpPr>
        <p:spPr>
          <a:xfrm>
            <a:off x="685800" y="261467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2622296"/>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677160"/>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2</a:t>
            </a:r>
          </a:p>
        </p:txBody>
      </p:sp>
      <p:sp>
        <p:nvSpPr>
          <p:cNvPr id="20" name="TextBox 19"/>
          <p:cNvSpPr txBox="1"/>
          <p:nvPr/>
        </p:nvSpPr>
        <p:spPr>
          <a:xfrm>
            <a:off x="1218819" y="2677160"/>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Policy is resolved</a:t>
            </a:r>
          </a:p>
        </p:txBody>
      </p:sp>
      <p:sp>
        <p:nvSpPr>
          <p:cNvPr id="21" name="TextBox 20"/>
          <p:cNvSpPr txBox="1"/>
          <p:nvPr/>
        </p:nvSpPr>
        <p:spPr>
          <a:xfrm>
            <a:off x="4013301" y="2677160"/>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Pack india-dpdp-2025.11. Exfiltration on this route is priced at Rs 55,000</a:t>
            </a:r>
          </a:p>
        </p:txBody>
      </p:sp>
      <p:sp>
        <p:nvSpPr>
          <p:cNvPr id="22" name="Rectangle 21"/>
          <p:cNvSpPr/>
          <p:nvPr/>
        </p:nvSpPr>
        <p:spPr>
          <a:xfrm>
            <a:off x="685800" y="295148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013964"/>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3</a:t>
            </a:r>
          </a:p>
        </p:txBody>
      </p:sp>
      <p:sp>
        <p:nvSpPr>
          <p:cNvPr id="24" name="TextBox 23"/>
          <p:cNvSpPr txBox="1"/>
          <p:nvPr/>
        </p:nvSpPr>
        <p:spPr>
          <a:xfrm>
            <a:off x="1218819" y="3013964"/>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The model answers</a:t>
            </a:r>
          </a:p>
        </p:txBody>
      </p:sp>
      <p:sp>
        <p:nvSpPr>
          <p:cNvPr id="25" name="TextBox 24"/>
          <p:cNvSpPr txBox="1"/>
          <p:nvPr/>
        </p:nvSpPr>
        <p:spPr>
          <a:xfrm>
            <a:off x="4013301" y="3013964"/>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Two cheap tiers read it for 20 paise. The answer repeats a secret from the context</a:t>
            </a:r>
          </a:p>
        </p:txBody>
      </p:sp>
      <p:sp>
        <p:nvSpPr>
          <p:cNvPr id="26" name="Rectangle 25"/>
          <p:cNvSpPr/>
          <p:nvPr/>
        </p:nvSpPr>
        <p:spPr>
          <a:xfrm>
            <a:off x="685800" y="328828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 y="3295904"/>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350768"/>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4</a:t>
            </a:r>
          </a:p>
        </p:txBody>
      </p:sp>
      <p:sp>
        <p:nvSpPr>
          <p:cNvPr id="29" name="TextBox 28"/>
          <p:cNvSpPr txBox="1"/>
          <p:nvPr/>
        </p:nvSpPr>
        <p:spPr>
          <a:xfrm>
            <a:off x="1218819" y="3350768"/>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Scores become probabilities</a:t>
            </a:r>
          </a:p>
        </p:txBody>
      </p:sp>
      <p:sp>
        <p:nvSpPr>
          <p:cNvPr id="30" name="TextBox 29"/>
          <p:cNvSpPr txBox="1"/>
          <p:nvPr/>
        </p:nvSpPr>
        <p:spPr>
          <a:xfrm>
            <a:off x="4013301" y="3350768"/>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Prompt attack 1.000, hallucination 0.250, private data 0.150. Regime grounded</a:t>
            </a:r>
          </a:p>
        </p:txBody>
      </p:sp>
      <p:sp>
        <p:nvSpPr>
          <p:cNvPr id="31" name="Rectangle 30"/>
          <p:cNvSpPr/>
          <p:nvPr/>
        </p:nvSpPr>
        <p:spPr>
          <a:xfrm>
            <a:off x="685800" y="362508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687572"/>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5</a:t>
            </a:r>
          </a:p>
        </p:txBody>
      </p:sp>
      <p:sp>
        <p:nvSpPr>
          <p:cNvPr id="33" name="TextBox 32"/>
          <p:cNvSpPr txBox="1"/>
          <p:nvPr/>
        </p:nvSpPr>
        <p:spPr>
          <a:xfrm>
            <a:off x="1218819" y="3687572"/>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The safety floor is consulted</a:t>
            </a:r>
          </a:p>
        </p:txBody>
      </p:sp>
      <p:sp>
        <p:nvSpPr>
          <p:cNvPr id="34" name="TextBox 33"/>
          <p:cNvSpPr txBox="1"/>
          <p:nvPr/>
        </p:nvSpPr>
        <p:spPr>
          <a:xfrm>
            <a:off x="4013301" y="3687572"/>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Route threshold 0.25 against highest harm 1.000. The check is mandatory</a:t>
            </a:r>
          </a:p>
        </p:txBody>
      </p:sp>
      <p:sp>
        <p:nvSpPr>
          <p:cNvPr id="35" name="Rectangle 34"/>
          <p:cNvSpPr/>
          <p:nvPr/>
        </p:nvSpPr>
        <p:spPr>
          <a:xfrm>
            <a:off x="685800" y="396189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5800" y="3969512"/>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024376"/>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6</a:t>
            </a:r>
          </a:p>
        </p:txBody>
      </p:sp>
      <p:sp>
        <p:nvSpPr>
          <p:cNvPr id="38" name="TextBox 37"/>
          <p:cNvSpPr txBox="1"/>
          <p:nvPr/>
        </p:nvSpPr>
        <p:spPr>
          <a:xfrm>
            <a:off x="1218819" y="4024376"/>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Every tier is priced</a:t>
            </a:r>
          </a:p>
        </p:txBody>
      </p:sp>
      <p:sp>
        <p:nvSpPr>
          <p:cNvPr id="39" name="TextBox 38"/>
          <p:cNvSpPr txBox="1"/>
          <p:nvPr/>
        </p:nvSpPr>
        <p:spPr>
          <a:xfrm>
            <a:off x="4013301" y="4024376"/>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Loss on the table Rs 69,357. Tier 2 prevents Rs 63,123 for Rs 3.20 and is chosen</a:t>
            </a:r>
          </a:p>
        </p:txBody>
      </p:sp>
      <p:sp>
        <p:nvSpPr>
          <p:cNvPr id="40" name="Rectangle 39"/>
          <p:cNvSpPr/>
          <p:nvPr/>
        </p:nvSpPr>
        <p:spPr>
          <a:xfrm>
            <a:off x="685800" y="429869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4361180"/>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7</a:t>
            </a:r>
          </a:p>
        </p:txBody>
      </p:sp>
      <p:sp>
        <p:nvSpPr>
          <p:cNvPr id="42" name="TextBox 41"/>
          <p:cNvSpPr txBox="1"/>
          <p:nvPr/>
        </p:nvSpPr>
        <p:spPr>
          <a:xfrm>
            <a:off x="1218819" y="4361180"/>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A verdict is reached</a:t>
            </a:r>
          </a:p>
        </p:txBody>
      </p:sp>
      <p:sp>
        <p:nvSpPr>
          <p:cNvPr id="43" name="TextBox 42"/>
          <p:cNvSpPr txBox="1"/>
          <p:nvPr/>
        </p:nvSpPr>
        <p:spPr>
          <a:xfrm>
            <a:off x="4013301" y="4361180"/>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With the judge merged in, harm is 0.910, above the 0.88 block boundary. Blocked</a:t>
            </a:r>
          </a:p>
        </p:txBody>
      </p:sp>
      <p:sp>
        <p:nvSpPr>
          <p:cNvPr id="44" name="Rectangle 43"/>
          <p:cNvSpPr/>
          <p:nvPr/>
        </p:nvSpPr>
        <p:spPr>
          <a:xfrm>
            <a:off x="685800" y="463550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5800" y="4643120"/>
            <a:ext cx="10817352" cy="329184"/>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 y="4697984"/>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8</a:t>
            </a:r>
          </a:p>
        </p:txBody>
      </p:sp>
      <p:sp>
        <p:nvSpPr>
          <p:cNvPr id="47" name="TextBox 46"/>
          <p:cNvSpPr txBox="1"/>
          <p:nvPr/>
        </p:nvSpPr>
        <p:spPr>
          <a:xfrm>
            <a:off x="1218819" y="4697984"/>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The action is gated apart</a:t>
            </a:r>
          </a:p>
        </p:txBody>
      </p:sp>
      <p:sp>
        <p:nvSpPr>
          <p:cNvPr id="48" name="TextBox 47"/>
          <p:cNvSpPr txBox="1"/>
          <p:nvPr/>
        </p:nvSpPr>
        <p:spPr>
          <a:xfrm>
            <a:off x="4013301" y="4697984"/>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transfer_funds, classified financial, denied. The money never moves</a:t>
            </a:r>
          </a:p>
        </p:txBody>
      </p:sp>
      <p:sp>
        <p:nvSpPr>
          <p:cNvPr id="49" name="Rectangle 48"/>
          <p:cNvSpPr/>
          <p:nvPr/>
        </p:nvSpPr>
        <p:spPr>
          <a:xfrm>
            <a:off x="685800" y="497230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8096" y="5034788"/>
            <a:ext cx="3227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9</a:t>
            </a:r>
          </a:p>
        </p:txBody>
      </p:sp>
      <p:sp>
        <p:nvSpPr>
          <p:cNvPr id="51" name="TextBox 50"/>
          <p:cNvSpPr txBox="1"/>
          <p:nvPr/>
        </p:nvSpPr>
        <p:spPr>
          <a:xfrm>
            <a:off x="1218819" y="5034788"/>
            <a:ext cx="2666466"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A receipt is written</a:t>
            </a:r>
          </a:p>
        </p:txBody>
      </p:sp>
      <p:sp>
        <p:nvSpPr>
          <p:cNvPr id="52" name="TextBox 51"/>
          <p:cNvSpPr txBox="1"/>
          <p:nvPr/>
        </p:nvSpPr>
        <p:spPr>
          <a:xfrm>
            <a:off x="4013301" y="5034788"/>
            <a:ext cx="7444130"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Tier sums, threshold, shadow price and policy hash, chained to the record before it</a:t>
            </a:r>
          </a:p>
        </p:txBody>
      </p:sp>
      <p:sp>
        <p:nvSpPr>
          <p:cNvPr id="53" name="Rectangle 52"/>
          <p:cNvSpPr/>
          <p:nvPr/>
        </p:nvSpPr>
        <p:spPr>
          <a:xfrm>
            <a:off x="685800" y="530910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5800" y="5532120"/>
            <a:ext cx="10817352" cy="713232"/>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85800" y="5532120"/>
            <a:ext cx="43180" cy="713232"/>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5650992"/>
            <a:ext cx="10415016" cy="493776"/>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Stages five and six are the whole product. </a:t>
            </a:r>
          </a:p>
          <a:p>
            <a:pPr algn="l">
              <a:lnSpc>
                <a:spcPct val="116000"/>
              </a:lnSpc>
              <a:spcAft>
                <a:spcPts val="0"/>
              </a:spcAft>
            </a:pPr>
            <a:r>
              <a:rPr sz="1200" b="0">
                <a:solidFill>
                  <a:srgbClr val="2E2838"/>
                </a:solidFill>
                <a:latin typeface="Segoe UI"/>
              </a:rPr>
              <a:t>The floor decides whether a check is optional. The allocator decides which check is worth buying. Everything else keeps those two decisions honest and recomputable.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06.1  .  06.2</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Core decision logic  .  tiers and the release floor</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7</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63040"/>
            <a:ext cx="5212080" cy="274320"/>
          </a:xfrm>
          <a:prstGeom prst="rect">
            <a:avLst/>
          </a:prstGeom>
          <a:noFill/>
        </p:spPr>
        <p:txBody>
          <a:bodyPr wrap="square" lIns="0" rIns="0" tIns="0" bIns="0">
            <a:spAutoFit/>
          </a:bodyPr>
          <a:lstStyle/>
          <a:p>
            <a:pPr algn="l">
              <a:lnSpc>
                <a:spcPct val="100000"/>
              </a:lnSpc>
              <a:spcAft>
                <a:spcPts val="0"/>
              </a:spcAft>
            </a:pPr>
            <a:r>
              <a:rPr sz="1400" b="1">
                <a:solidFill>
                  <a:srgbClr val="3B0764"/>
                </a:solidFill>
                <a:latin typeface="Segoe UI"/>
              </a:rPr>
              <a:t>Three tiers behind one adapter contract</a:t>
            </a:r>
          </a:p>
        </p:txBody>
      </p:sp>
      <p:sp>
        <p:nvSpPr>
          <p:cNvPr id="9" name="Rectangle 8"/>
          <p:cNvSpPr/>
          <p:nvPr/>
        </p:nvSpPr>
        <p:spPr>
          <a:xfrm>
            <a:off x="685800" y="1828800"/>
            <a:ext cx="5212080" cy="310896"/>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897380"/>
            <a:ext cx="138273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Tier</a:t>
            </a:r>
          </a:p>
        </p:txBody>
      </p:sp>
      <p:sp>
        <p:nvSpPr>
          <p:cNvPr id="11" name="TextBox 10"/>
          <p:cNvSpPr txBox="1"/>
          <p:nvPr/>
        </p:nvSpPr>
        <p:spPr>
          <a:xfrm>
            <a:off x="2278843" y="1897380"/>
            <a:ext cx="77843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Cost</a:t>
            </a:r>
          </a:p>
        </p:txBody>
      </p:sp>
      <p:sp>
        <p:nvSpPr>
          <p:cNvPr id="12" name="TextBox 11"/>
          <p:cNvSpPr txBox="1"/>
          <p:nvPr/>
        </p:nvSpPr>
        <p:spPr>
          <a:xfrm>
            <a:off x="3185291" y="1897380"/>
            <a:ext cx="77843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Latency</a:t>
            </a:r>
          </a:p>
        </p:txBody>
      </p:sp>
      <p:sp>
        <p:nvSpPr>
          <p:cNvPr id="13" name="TextBox 12"/>
          <p:cNvSpPr txBox="1"/>
          <p:nvPr/>
        </p:nvSpPr>
        <p:spPr>
          <a:xfrm>
            <a:off x="4091739" y="1897380"/>
            <a:ext cx="70289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Multiple</a:t>
            </a:r>
          </a:p>
        </p:txBody>
      </p:sp>
      <p:sp>
        <p:nvSpPr>
          <p:cNvPr id="14" name="TextBox 13"/>
          <p:cNvSpPr txBox="1"/>
          <p:nvPr/>
        </p:nvSpPr>
        <p:spPr>
          <a:xfrm>
            <a:off x="4922650" y="1897380"/>
            <a:ext cx="929507"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Catch, leak</a:t>
            </a:r>
          </a:p>
        </p:txBody>
      </p:sp>
      <p:sp>
        <p:nvSpPr>
          <p:cNvPr id="15" name="Rectangle 14"/>
          <p:cNvSpPr/>
          <p:nvPr/>
        </p:nvSpPr>
        <p:spPr>
          <a:xfrm>
            <a:off x="685800" y="2139696"/>
            <a:ext cx="5212080"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2212340"/>
            <a:ext cx="138273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0  Rules</a:t>
            </a:r>
          </a:p>
        </p:txBody>
      </p:sp>
      <p:sp>
        <p:nvSpPr>
          <p:cNvPr id="17" name="TextBox 16"/>
          <p:cNvSpPr txBox="1"/>
          <p:nvPr/>
        </p:nvSpPr>
        <p:spPr>
          <a:xfrm>
            <a:off x="2278843" y="2212340"/>
            <a:ext cx="778432"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0.02</a:t>
            </a:r>
          </a:p>
        </p:txBody>
      </p:sp>
      <p:sp>
        <p:nvSpPr>
          <p:cNvPr id="18" name="TextBox 17"/>
          <p:cNvSpPr txBox="1"/>
          <p:nvPr/>
        </p:nvSpPr>
        <p:spPr>
          <a:xfrm>
            <a:off x="3185291" y="2212340"/>
            <a:ext cx="778432"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4 ms</a:t>
            </a:r>
          </a:p>
        </p:txBody>
      </p:sp>
      <p:sp>
        <p:nvSpPr>
          <p:cNvPr id="19" name="TextBox 18"/>
          <p:cNvSpPr txBox="1"/>
          <p:nvPr/>
        </p:nvSpPr>
        <p:spPr>
          <a:xfrm>
            <a:off x="4091739" y="2212340"/>
            <a:ext cx="70289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1x</a:t>
            </a:r>
          </a:p>
        </p:txBody>
      </p:sp>
      <p:sp>
        <p:nvSpPr>
          <p:cNvPr id="20" name="TextBox 19"/>
          <p:cNvSpPr txBox="1"/>
          <p:nvPr/>
        </p:nvSpPr>
        <p:spPr>
          <a:xfrm>
            <a:off x="4922650" y="2212340"/>
            <a:ext cx="9295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0.82</a:t>
            </a:r>
          </a:p>
        </p:txBody>
      </p:sp>
      <p:sp>
        <p:nvSpPr>
          <p:cNvPr id="21" name="Rectangle 20"/>
          <p:cNvSpPr/>
          <p:nvPr/>
        </p:nvSpPr>
        <p:spPr>
          <a:xfrm>
            <a:off x="685800" y="2468372"/>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2475992"/>
            <a:ext cx="5212080"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2530856"/>
            <a:ext cx="138273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1  Small models</a:t>
            </a:r>
          </a:p>
        </p:txBody>
      </p:sp>
      <p:sp>
        <p:nvSpPr>
          <p:cNvPr id="24" name="TextBox 23"/>
          <p:cNvSpPr txBox="1"/>
          <p:nvPr/>
        </p:nvSpPr>
        <p:spPr>
          <a:xfrm>
            <a:off x="2278843" y="2530856"/>
            <a:ext cx="778432"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0.18</a:t>
            </a:r>
          </a:p>
        </p:txBody>
      </p:sp>
      <p:sp>
        <p:nvSpPr>
          <p:cNvPr id="25" name="TextBox 24"/>
          <p:cNvSpPr txBox="1"/>
          <p:nvPr/>
        </p:nvSpPr>
        <p:spPr>
          <a:xfrm>
            <a:off x="3185291" y="2530856"/>
            <a:ext cx="778432"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70 ms</a:t>
            </a:r>
          </a:p>
        </p:txBody>
      </p:sp>
      <p:sp>
        <p:nvSpPr>
          <p:cNvPr id="26" name="TextBox 25"/>
          <p:cNvSpPr txBox="1"/>
          <p:nvPr/>
        </p:nvSpPr>
        <p:spPr>
          <a:xfrm>
            <a:off x="4091739" y="2530856"/>
            <a:ext cx="70289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9x</a:t>
            </a:r>
          </a:p>
        </p:txBody>
      </p:sp>
      <p:sp>
        <p:nvSpPr>
          <p:cNvPr id="27" name="TextBox 26"/>
          <p:cNvSpPr txBox="1"/>
          <p:nvPr/>
        </p:nvSpPr>
        <p:spPr>
          <a:xfrm>
            <a:off x="4922650" y="2530856"/>
            <a:ext cx="9295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0.90</a:t>
            </a:r>
          </a:p>
        </p:txBody>
      </p:sp>
      <p:sp>
        <p:nvSpPr>
          <p:cNvPr id="28" name="Rectangle 27"/>
          <p:cNvSpPr/>
          <p:nvPr/>
        </p:nvSpPr>
        <p:spPr>
          <a:xfrm>
            <a:off x="685800" y="2786888"/>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8096" y="2849372"/>
            <a:ext cx="138273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2  Judge</a:t>
            </a:r>
          </a:p>
        </p:txBody>
      </p:sp>
      <p:sp>
        <p:nvSpPr>
          <p:cNvPr id="30" name="TextBox 29"/>
          <p:cNvSpPr txBox="1"/>
          <p:nvPr/>
        </p:nvSpPr>
        <p:spPr>
          <a:xfrm>
            <a:off x="2278843" y="2849372"/>
            <a:ext cx="778432"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3.20</a:t>
            </a:r>
          </a:p>
        </p:txBody>
      </p:sp>
      <p:sp>
        <p:nvSpPr>
          <p:cNvPr id="31" name="TextBox 30"/>
          <p:cNvSpPr txBox="1"/>
          <p:nvPr/>
        </p:nvSpPr>
        <p:spPr>
          <a:xfrm>
            <a:off x="3185291" y="2849372"/>
            <a:ext cx="778432"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900 ms</a:t>
            </a:r>
          </a:p>
        </p:txBody>
      </p:sp>
      <p:sp>
        <p:nvSpPr>
          <p:cNvPr id="32" name="TextBox 31"/>
          <p:cNvSpPr txBox="1"/>
          <p:nvPr/>
        </p:nvSpPr>
        <p:spPr>
          <a:xfrm>
            <a:off x="4091739" y="2849372"/>
            <a:ext cx="70289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160x</a:t>
            </a:r>
          </a:p>
        </p:txBody>
      </p:sp>
      <p:sp>
        <p:nvSpPr>
          <p:cNvPr id="33" name="TextBox 32"/>
          <p:cNvSpPr txBox="1"/>
          <p:nvPr/>
        </p:nvSpPr>
        <p:spPr>
          <a:xfrm>
            <a:off x="4922650" y="2849372"/>
            <a:ext cx="92950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0.94</a:t>
            </a:r>
          </a:p>
        </p:txBody>
      </p:sp>
      <p:sp>
        <p:nvSpPr>
          <p:cNvPr id="34" name="Rectangle 33"/>
          <p:cNvSpPr/>
          <p:nvPr/>
        </p:nvSpPr>
        <p:spPr>
          <a:xfrm>
            <a:off x="685800" y="3105404"/>
            <a:ext cx="5212080"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3346704"/>
            <a:ext cx="5212080" cy="822960"/>
          </a:xfrm>
          <a:prstGeom prst="rect">
            <a:avLst/>
          </a:prstGeom>
          <a:noFill/>
        </p:spPr>
        <p:txBody>
          <a:bodyPr wrap="square" lIns="0" rIns="0" tIns="0" bIns="0">
            <a:spAutoFit/>
          </a:bodyPr>
          <a:lstStyle/>
          <a:p>
            <a:pPr algn="l">
              <a:lnSpc>
                <a:spcPct val="120000"/>
              </a:lnSpc>
              <a:spcAft>
                <a:spcPts val="0"/>
              </a:spcAft>
            </a:pPr>
            <a:r>
              <a:rPr sz="1200" b="0">
                <a:solidFill>
                  <a:srgbClr val="2E2838"/>
                </a:solidFill>
                <a:latin typeface="Segoe UI"/>
              </a:rPr>
              <a:t>Catch rates are measured, not configured. On the held out run the judge caught 0.930 against 0.880 configured over 365 observations, so a better detector reports its own higher catch rate and the allocator buys more of it.</a:t>
            </a:r>
          </a:p>
        </p:txBody>
      </p:sp>
      <p:sp>
        <p:nvSpPr>
          <p:cNvPr id="36" name="TextBox 35"/>
          <p:cNvSpPr txBox="1"/>
          <p:nvPr/>
        </p:nvSpPr>
        <p:spPr>
          <a:xfrm>
            <a:off x="6263640" y="1463040"/>
            <a:ext cx="5239512" cy="274320"/>
          </a:xfrm>
          <a:prstGeom prst="rect">
            <a:avLst/>
          </a:prstGeom>
          <a:noFill/>
        </p:spPr>
        <p:txBody>
          <a:bodyPr wrap="square" lIns="0" rIns="0" tIns="0" bIns="0">
            <a:spAutoFit/>
          </a:bodyPr>
          <a:lstStyle/>
          <a:p>
            <a:pPr algn="l">
              <a:lnSpc>
                <a:spcPct val="100000"/>
              </a:lnSpc>
              <a:spcAft>
                <a:spcPts val="0"/>
              </a:spcAft>
            </a:pPr>
            <a:r>
              <a:rPr sz="1400" b="1">
                <a:solidFill>
                  <a:srgbClr val="3B0764"/>
                </a:solidFill>
                <a:latin typeface="Segoe UI"/>
              </a:rPr>
              <a:t>The floor, validated on held out data</a:t>
            </a:r>
          </a:p>
        </p:txBody>
      </p:sp>
      <p:sp>
        <p:nvSpPr>
          <p:cNvPr id="37" name="Rectangle 36"/>
          <p:cNvSpPr/>
          <p:nvPr/>
        </p:nvSpPr>
        <p:spPr>
          <a:xfrm>
            <a:off x="6263640" y="1828800"/>
            <a:ext cx="5239512" cy="310896"/>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45936" y="1897380"/>
            <a:ext cx="130661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Route</a:t>
            </a:r>
          </a:p>
        </p:txBody>
      </p:sp>
      <p:sp>
        <p:nvSpPr>
          <p:cNvPr id="39" name="TextBox 38"/>
          <p:cNvSpPr txBox="1"/>
          <p:nvPr/>
        </p:nvSpPr>
        <p:spPr>
          <a:xfrm>
            <a:off x="7780564" y="1897380"/>
            <a:ext cx="74523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Threshold</a:t>
            </a:r>
          </a:p>
        </p:txBody>
      </p:sp>
      <p:sp>
        <p:nvSpPr>
          <p:cNvPr id="40" name="TextBox 39"/>
          <p:cNvSpPr txBox="1"/>
          <p:nvPr/>
        </p:nvSpPr>
        <p:spPr>
          <a:xfrm>
            <a:off x="8653815" y="1897380"/>
            <a:ext cx="62048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Released</a:t>
            </a:r>
          </a:p>
        </p:txBody>
      </p:sp>
      <p:sp>
        <p:nvSpPr>
          <p:cNvPr id="41" name="TextBox 40"/>
          <p:cNvSpPr txBox="1"/>
          <p:nvPr/>
        </p:nvSpPr>
        <p:spPr>
          <a:xfrm>
            <a:off x="9402316" y="1897380"/>
            <a:ext cx="558110"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Escaped</a:t>
            </a:r>
          </a:p>
        </p:txBody>
      </p:sp>
      <p:sp>
        <p:nvSpPr>
          <p:cNvPr id="42" name="TextBox 41"/>
          <p:cNvSpPr txBox="1"/>
          <p:nvPr/>
        </p:nvSpPr>
        <p:spPr>
          <a:xfrm>
            <a:off x="10088442" y="1897380"/>
            <a:ext cx="62048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Rate</a:t>
            </a:r>
          </a:p>
        </p:txBody>
      </p:sp>
      <p:sp>
        <p:nvSpPr>
          <p:cNvPr id="43" name="TextBox 42"/>
          <p:cNvSpPr txBox="1"/>
          <p:nvPr/>
        </p:nvSpPr>
        <p:spPr>
          <a:xfrm>
            <a:off x="10836943" y="1897380"/>
            <a:ext cx="62048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Bound</a:t>
            </a:r>
          </a:p>
        </p:txBody>
      </p:sp>
      <p:sp>
        <p:nvSpPr>
          <p:cNvPr id="44" name="Rectangle 43"/>
          <p:cNvSpPr/>
          <p:nvPr/>
        </p:nvSpPr>
        <p:spPr>
          <a:xfrm>
            <a:off x="6263640" y="2139696"/>
            <a:ext cx="523951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45936" y="2212340"/>
            <a:ext cx="130661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finops-agent</a:t>
            </a:r>
          </a:p>
        </p:txBody>
      </p:sp>
      <p:sp>
        <p:nvSpPr>
          <p:cNvPr id="46" name="TextBox 45"/>
          <p:cNvSpPr txBox="1"/>
          <p:nvPr/>
        </p:nvSpPr>
        <p:spPr>
          <a:xfrm>
            <a:off x="7780564" y="2212340"/>
            <a:ext cx="74523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0.25</a:t>
            </a:r>
          </a:p>
        </p:txBody>
      </p:sp>
      <p:sp>
        <p:nvSpPr>
          <p:cNvPr id="47" name="TextBox 46"/>
          <p:cNvSpPr txBox="1"/>
          <p:nvPr/>
        </p:nvSpPr>
        <p:spPr>
          <a:xfrm>
            <a:off x="8653815" y="2212340"/>
            <a:ext cx="62048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339</a:t>
            </a:r>
          </a:p>
        </p:txBody>
      </p:sp>
      <p:sp>
        <p:nvSpPr>
          <p:cNvPr id="48" name="TextBox 47"/>
          <p:cNvSpPr txBox="1"/>
          <p:nvPr/>
        </p:nvSpPr>
        <p:spPr>
          <a:xfrm>
            <a:off x="9402316" y="2212340"/>
            <a:ext cx="558110"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19</a:t>
            </a:r>
          </a:p>
        </p:txBody>
      </p:sp>
      <p:sp>
        <p:nvSpPr>
          <p:cNvPr id="49" name="TextBox 48"/>
          <p:cNvSpPr txBox="1"/>
          <p:nvPr/>
        </p:nvSpPr>
        <p:spPr>
          <a:xfrm>
            <a:off x="10088442" y="2212340"/>
            <a:ext cx="620485"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0.0560</a:t>
            </a:r>
          </a:p>
        </p:txBody>
      </p:sp>
      <p:sp>
        <p:nvSpPr>
          <p:cNvPr id="50" name="TextBox 49"/>
          <p:cNvSpPr txBox="1"/>
          <p:nvPr/>
        </p:nvSpPr>
        <p:spPr>
          <a:xfrm>
            <a:off x="10836943" y="2212340"/>
            <a:ext cx="62048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0.0756</a:t>
            </a:r>
          </a:p>
        </p:txBody>
      </p:sp>
      <p:sp>
        <p:nvSpPr>
          <p:cNvPr id="51" name="Rectangle 50"/>
          <p:cNvSpPr/>
          <p:nvPr/>
        </p:nvSpPr>
        <p:spPr>
          <a:xfrm>
            <a:off x="6263640" y="2468372"/>
            <a:ext cx="523951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63640" y="2475992"/>
            <a:ext cx="523951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45936" y="2530856"/>
            <a:ext cx="130661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internal-kb</a:t>
            </a:r>
          </a:p>
        </p:txBody>
      </p:sp>
      <p:sp>
        <p:nvSpPr>
          <p:cNvPr id="54" name="TextBox 53"/>
          <p:cNvSpPr txBox="1"/>
          <p:nvPr/>
        </p:nvSpPr>
        <p:spPr>
          <a:xfrm>
            <a:off x="7780564" y="2530856"/>
            <a:ext cx="74523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1.00</a:t>
            </a:r>
          </a:p>
        </p:txBody>
      </p:sp>
      <p:sp>
        <p:nvSpPr>
          <p:cNvPr id="55" name="TextBox 54"/>
          <p:cNvSpPr txBox="1"/>
          <p:nvPr/>
        </p:nvSpPr>
        <p:spPr>
          <a:xfrm>
            <a:off x="8653815" y="2530856"/>
            <a:ext cx="62048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476</a:t>
            </a:r>
          </a:p>
        </p:txBody>
      </p:sp>
      <p:sp>
        <p:nvSpPr>
          <p:cNvPr id="56" name="TextBox 55"/>
          <p:cNvSpPr txBox="1"/>
          <p:nvPr/>
        </p:nvSpPr>
        <p:spPr>
          <a:xfrm>
            <a:off x="9402316" y="2530856"/>
            <a:ext cx="558110"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34</a:t>
            </a:r>
          </a:p>
        </p:txBody>
      </p:sp>
      <p:sp>
        <p:nvSpPr>
          <p:cNvPr id="57" name="TextBox 56"/>
          <p:cNvSpPr txBox="1"/>
          <p:nvPr/>
        </p:nvSpPr>
        <p:spPr>
          <a:xfrm>
            <a:off x="10088442" y="2530856"/>
            <a:ext cx="620485"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0.0714</a:t>
            </a:r>
          </a:p>
        </p:txBody>
      </p:sp>
      <p:sp>
        <p:nvSpPr>
          <p:cNvPr id="58" name="TextBox 57"/>
          <p:cNvSpPr txBox="1"/>
          <p:nvPr/>
        </p:nvSpPr>
        <p:spPr>
          <a:xfrm>
            <a:off x="10836943" y="2530856"/>
            <a:ext cx="62048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0.0890</a:t>
            </a:r>
          </a:p>
        </p:txBody>
      </p:sp>
      <p:sp>
        <p:nvSpPr>
          <p:cNvPr id="59" name="Rectangle 58"/>
          <p:cNvSpPr/>
          <p:nvPr/>
        </p:nvSpPr>
        <p:spPr>
          <a:xfrm>
            <a:off x="6263640" y="2786888"/>
            <a:ext cx="523951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45936" y="2849372"/>
            <a:ext cx="130661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support-assistant</a:t>
            </a:r>
          </a:p>
        </p:txBody>
      </p:sp>
      <p:sp>
        <p:nvSpPr>
          <p:cNvPr id="61" name="TextBox 60"/>
          <p:cNvSpPr txBox="1"/>
          <p:nvPr/>
        </p:nvSpPr>
        <p:spPr>
          <a:xfrm>
            <a:off x="7780564" y="2849372"/>
            <a:ext cx="74523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0.10</a:t>
            </a:r>
          </a:p>
        </p:txBody>
      </p:sp>
      <p:sp>
        <p:nvSpPr>
          <p:cNvPr id="62" name="TextBox 61"/>
          <p:cNvSpPr txBox="1"/>
          <p:nvPr/>
        </p:nvSpPr>
        <p:spPr>
          <a:xfrm>
            <a:off x="8653815" y="2849372"/>
            <a:ext cx="62048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397</a:t>
            </a:r>
          </a:p>
        </p:txBody>
      </p:sp>
      <p:sp>
        <p:nvSpPr>
          <p:cNvPr id="63" name="TextBox 62"/>
          <p:cNvSpPr txBox="1"/>
          <p:nvPr/>
        </p:nvSpPr>
        <p:spPr>
          <a:xfrm>
            <a:off x="9402316" y="2849372"/>
            <a:ext cx="558110"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21</a:t>
            </a:r>
          </a:p>
        </p:txBody>
      </p:sp>
      <p:sp>
        <p:nvSpPr>
          <p:cNvPr id="64" name="TextBox 63"/>
          <p:cNvSpPr txBox="1"/>
          <p:nvPr/>
        </p:nvSpPr>
        <p:spPr>
          <a:xfrm>
            <a:off x="10088442" y="2849372"/>
            <a:ext cx="620485"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0.0529</a:t>
            </a:r>
          </a:p>
        </p:txBody>
      </p:sp>
      <p:sp>
        <p:nvSpPr>
          <p:cNvPr id="65" name="TextBox 64"/>
          <p:cNvSpPr txBox="1"/>
          <p:nvPr/>
        </p:nvSpPr>
        <p:spPr>
          <a:xfrm>
            <a:off x="10836943" y="2849372"/>
            <a:ext cx="620485"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0.0703</a:t>
            </a:r>
          </a:p>
        </p:txBody>
      </p:sp>
      <p:sp>
        <p:nvSpPr>
          <p:cNvPr id="66" name="Rectangle 65"/>
          <p:cNvSpPr/>
          <p:nvPr/>
        </p:nvSpPr>
        <p:spPr>
          <a:xfrm>
            <a:off x="6263640" y="3105404"/>
            <a:ext cx="523951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63640" y="3346704"/>
            <a:ext cx="5239512" cy="822960"/>
          </a:xfrm>
          <a:prstGeom prst="rect">
            <a:avLst/>
          </a:prstGeom>
          <a:noFill/>
        </p:spPr>
        <p:txBody>
          <a:bodyPr wrap="square" lIns="0" rIns="0" tIns="0" bIns="0">
            <a:spAutoFit/>
          </a:bodyPr>
          <a:lstStyle/>
          <a:p>
            <a:pPr algn="l">
              <a:lnSpc>
                <a:spcPct val="120000"/>
              </a:lnSpc>
              <a:spcAft>
                <a:spcPts val="0"/>
              </a:spcAft>
            </a:pPr>
            <a:r>
              <a:rPr sz="1200" b="0">
                <a:solidFill>
                  <a:srgbClr val="2E2838"/>
                </a:solidFill>
                <a:latin typeface="Segoe UI"/>
              </a:rPr>
              <a:t>Every route holds well inside a bound of 0.15 at 90% confidence, and holds non vacuously, meaning rows really were released unchecked and the bound still bound.</a:t>
            </a:r>
          </a:p>
        </p:txBody>
      </p:sp>
      <p:sp>
        <p:nvSpPr>
          <p:cNvPr id="68" name="Rectangle 67"/>
          <p:cNvSpPr/>
          <p:nvPr/>
        </p:nvSpPr>
        <p:spPr>
          <a:xfrm>
            <a:off x="685800" y="4343400"/>
            <a:ext cx="10817352" cy="841248"/>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85800" y="4343400"/>
            <a:ext cx="43180" cy="8412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86968" y="4462272"/>
            <a:ext cx="10415016" cy="621792"/>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The floor is only informative when the bound exceeds the harm base rate. </a:t>
            </a:r>
          </a:p>
          <a:p>
            <a:pPr algn="l">
              <a:lnSpc>
                <a:spcPct val="116000"/>
              </a:lnSpc>
              <a:spcAft>
                <a:spcPts val="0"/>
              </a:spcAft>
            </a:pPr>
            <a:r>
              <a:rPr sz="1200" b="0">
                <a:solidFill>
                  <a:srgbClr val="2E2838"/>
                </a:solidFill>
                <a:latin typeface="Segoe UI"/>
              </a:rPr>
              <a:t>An operator whose traffic is one third harmful at a bound of 0.15 is not getting a guarantee, they are getting full coverage, and should either raise the bound or budget for checking everything. That rule is computable before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06.3  .  06.4  .  06.5</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Core decision logic  .  budget and human review</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8</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63040"/>
            <a:ext cx="10817352" cy="310896"/>
          </a:xfrm>
          <a:prstGeom prst="rect">
            <a:avLst/>
          </a:prstGeom>
          <a:noFill/>
        </p:spPr>
        <p:txBody>
          <a:bodyPr wrap="square" lIns="0" rIns="0" tIns="0" bIns="0">
            <a:spAutoFit/>
          </a:bodyPr>
          <a:lstStyle/>
          <a:p>
            <a:pPr algn="l">
              <a:lnSpc>
                <a:spcPct val="100000"/>
              </a:lnSpc>
              <a:spcAft>
                <a:spcPts val="0"/>
              </a:spcAft>
            </a:pPr>
            <a:r>
              <a:rPr sz="1350" b="0">
                <a:solidFill>
                  <a:srgbClr val="2E2838"/>
                </a:solidFill>
                <a:latin typeface="Segoe UI"/>
              </a:rPr>
              <a:t>A shadow price alone cannot bound spend. Ours did not, until the governor reserved the floor cost.</a:t>
            </a:r>
          </a:p>
        </p:txBody>
      </p:sp>
      <p:sp>
        <p:nvSpPr>
          <p:cNvPr id="9" name="Rectangle 8"/>
          <p:cNvSpPr/>
          <p:nvPr/>
        </p:nvSpPr>
        <p:spPr>
          <a:xfrm>
            <a:off x="685800" y="1847088"/>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75104"/>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1.00x to 1.03x</a:t>
            </a:r>
          </a:p>
        </p:txBody>
      </p:sp>
      <p:sp>
        <p:nvSpPr>
          <p:cNvPr id="11" name="TextBox 10"/>
          <p:cNvSpPr txBox="1"/>
          <p:nvPr/>
        </p:nvSpPr>
        <p:spPr>
          <a:xfrm>
            <a:off x="685800" y="2414016"/>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spend against budget across the grid, once governed, against up to 3.75x before</a:t>
            </a:r>
          </a:p>
        </p:txBody>
      </p:sp>
      <p:sp>
        <p:nvSpPr>
          <p:cNvPr id="12" name="Rectangle 11"/>
          <p:cNvSpPr/>
          <p:nvPr/>
        </p:nvSpPr>
        <p:spPr>
          <a:xfrm>
            <a:off x="4358640" y="1847088"/>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8640" y="1975104"/>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Rs 51.84</a:t>
            </a:r>
          </a:p>
        </p:txBody>
      </p:sp>
      <p:sp>
        <p:nvSpPr>
          <p:cNvPr id="14" name="TextBox 13"/>
          <p:cNvSpPr txBox="1"/>
          <p:nvPr/>
        </p:nvSpPr>
        <p:spPr>
          <a:xfrm>
            <a:off x="4358640" y="2414016"/>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what the floor alone obliges, 1.08% of full coverage</a:t>
            </a:r>
          </a:p>
        </p:txBody>
      </p:sp>
      <p:sp>
        <p:nvSpPr>
          <p:cNvPr id="15" name="Rectangle 14"/>
          <p:cNvSpPr/>
          <p:nvPr/>
        </p:nvSpPr>
        <p:spPr>
          <a:xfrm>
            <a:off x="8031480" y="1847088"/>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31480" y="1975104"/>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5.625%</a:t>
            </a:r>
          </a:p>
        </p:txBody>
      </p:sp>
      <p:sp>
        <p:nvSpPr>
          <p:cNvPr id="17" name="TextBox 16"/>
          <p:cNvSpPr txBox="1"/>
          <p:nvPr/>
        </p:nvSpPr>
        <p:spPr>
          <a:xfrm>
            <a:off x="8031480" y="2414016"/>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below this budget fraction, blanket cheap coverage stops being affordable</a:t>
            </a:r>
          </a:p>
        </p:txBody>
      </p:sp>
      <p:sp>
        <p:nvSpPr>
          <p:cNvPr id="18" name="TextBox 17"/>
          <p:cNvSpPr txBox="1"/>
          <p:nvPr/>
        </p:nvSpPr>
        <p:spPr>
          <a:xfrm>
            <a:off x="685800" y="3017520"/>
            <a:ext cx="10817352" cy="274320"/>
          </a:xfrm>
          <a:prstGeom prst="rect">
            <a:avLst/>
          </a:prstGeom>
          <a:noFill/>
        </p:spPr>
        <p:txBody>
          <a:bodyPr wrap="square" lIns="0" rIns="0" tIns="0" bIns="0">
            <a:spAutoFit/>
          </a:bodyPr>
          <a:lstStyle/>
          <a:p>
            <a:pPr algn="l">
              <a:lnSpc>
                <a:spcPct val="100000"/>
              </a:lnSpc>
              <a:spcAft>
                <a:spcPts val="0"/>
              </a:spcAft>
            </a:pPr>
            <a:r>
              <a:rPr sz="1400" b="1">
                <a:solidFill>
                  <a:srgbClr val="3B0764"/>
                </a:solidFill>
                <a:latin typeface="Segoe UI"/>
              </a:rPr>
              <a:t>Order alone decides which cases a saturated review desk loses</a:t>
            </a:r>
          </a:p>
        </p:txBody>
      </p:sp>
      <p:sp>
        <p:nvSpPr>
          <p:cNvPr id="19" name="Rectangle 18"/>
          <p:cNvSpPr/>
          <p:nvPr/>
        </p:nvSpPr>
        <p:spPr>
          <a:xfrm>
            <a:off x="685800" y="3401568"/>
            <a:ext cx="10817352" cy="310896"/>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3470148"/>
            <a:ext cx="3172193"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Serving rule</a:t>
            </a:r>
          </a:p>
        </p:txBody>
      </p:sp>
      <p:sp>
        <p:nvSpPr>
          <p:cNvPr id="21" name="TextBox 20"/>
          <p:cNvSpPr txBox="1"/>
          <p:nvPr/>
        </p:nvSpPr>
        <p:spPr>
          <a:xfrm>
            <a:off x="4068305" y="3470148"/>
            <a:ext cx="262215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Expected loss served</a:t>
            </a:r>
          </a:p>
        </p:txBody>
      </p:sp>
      <p:sp>
        <p:nvSpPr>
          <p:cNvPr id="22" name="TextBox 21"/>
          <p:cNvSpPr txBox="1"/>
          <p:nvPr/>
        </p:nvSpPr>
        <p:spPr>
          <a:xfrm>
            <a:off x="6818479" y="3470148"/>
            <a:ext cx="225546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Deadlines missed</a:t>
            </a:r>
          </a:p>
        </p:txBody>
      </p:sp>
      <p:sp>
        <p:nvSpPr>
          <p:cNvPr id="23" name="TextBox 22"/>
          <p:cNvSpPr txBox="1"/>
          <p:nvPr/>
        </p:nvSpPr>
        <p:spPr>
          <a:xfrm>
            <a:off x="9201963" y="3470148"/>
            <a:ext cx="225546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High value cases shed</a:t>
            </a:r>
          </a:p>
        </p:txBody>
      </p:sp>
      <p:sp>
        <p:nvSpPr>
          <p:cNvPr id="24" name="Rectangle 23"/>
          <p:cNvSpPr/>
          <p:nvPr/>
        </p:nvSpPr>
        <p:spPr>
          <a:xfrm>
            <a:off x="685800" y="3712464"/>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785108"/>
            <a:ext cx="3172193"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deadline_density, shipped</a:t>
            </a:r>
          </a:p>
        </p:txBody>
      </p:sp>
      <p:sp>
        <p:nvSpPr>
          <p:cNvPr id="26" name="TextBox 25"/>
          <p:cNvSpPr txBox="1"/>
          <p:nvPr/>
        </p:nvSpPr>
        <p:spPr>
          <a:xfrm>
            <a:off x="4068305" y="3785108"/>
            <a:ext cx="2622158"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Rs 3,430,681</a:t>
            </a:r>
          </a:p>
        </p:txBody>
      </p:sp>
      <p:sp>
        <p:nvSpPr>
          <p:cNvPr id="27" name="TextBox 26"/>
          <p:cNvSpPr txBox="1"/>
          <p:nvPr/>
        </p:nvSpPr>
        <p:spPr>
          <a:xfrm>
            <a:off x="6818479" y="3785108"/>
            <a:ext cx="225546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65</a:t>
            </a:r>
          </a:p>
        </p:txBody>
      </p:sp>
      <p:sp>
        <p:nvSpPr>
          <p:cNvPr id="28" name="TextBox 27"/>
          <p:cNvSpPr txBox="1"/>
          <p:nvPr/>
        </p:nvSpPr>
        <p:spPr>
          <a:xfrm>
            <a:off x="9201963" y="3785108"/>
            <a:ext cx="2255468" cy="237744"/>
          </a:xfrm>
          <a:prstGeom prst="rect">
            <a:avLst/>
          </a:prstGeom>
          <a:noFill/>
        </p:spPr>
        <p:txBody>
          <a:bodyPr wrap="square" lIns="0" rIns="0" tIns="0" bIns="0">
            <a:spAutoFit/>
          </a:bodyPr>
          <a:lstStyle/>
          <a:p>
            <a:pPr algn="l">
              <a:lnSpc>
                <a:spcPct val="100000"/>
              </a:lnSpc>
              <a:spcAft>
                <a:spcPts val="0"/>
              </a:spcAft>
            </a:pPr>
            <a:r>
              <a:rPr sz="1200" b="1">
                <a:solidFill>
                  <a:srgbClr val="17121F"/>
                </a:solidFill>
                <a:latin typeface="Segoe UI"/>
              </a:rPr>
              <a:t>2</a:t>
            </a:r>
          </a:p>
        </p:txBody>
      </p:sp>
      <p:sp>
        <p:nvSpPr>
          <p:cNvPr id="29" name="Rectangle 28"/>
          <p:cNvSpPr/>
          <p:nvPr/>
        </p:nvSpPr>
        <p:spPr>
          <a:xfrm>
            <a:off x="685800" y="404114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4048760"/>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4103624"/>
            <a:ext cx="3172193"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density, ablation</a:t>
            </a:r>
          </a:p>
        </p:txBody>
      </p:sp>
      <p:sp>
        <p:nvSpPr>
          <p:cNvPr id="32" name="TextBox 31"/>
          <p:cNvSpPr txBox="1"/>
          <p:nvPr/>
        </p:nvSpPr>
        <p:spPr>
          <a:xfrm>
            <a:off x="4068305" y="4103624"/>
            <a:ext cx="262215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Rs 3,798,647</a:t>
            </a:r>
          </a:p>
        </p:txBody>
      </p:sp>
      <p:sp>
        <p:nvSpPr>
          <p:cNvPr id="33" name="TextBox 32"/>
          <p:cNvSpPr txBox="1"/>
          <p:nvPr/>
        </p:nvSpPr>
        <p:spPr>
          <a:xfrm>
            <a:off x="6818479" y="4103624"/>
            <a:ext cx="225546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48</a:t>
            </a:r>
          </a:p>
        </p:txBody>
      </p:sp>
      <p:sp>
        <p:nvSpPr>
          <p:cNvPr id="34" name="TextBox 33"/>
          <p:cNvSpPr txBox="1"/>
          <p:nvPr/>
        </p:nvSpPr>
        <p:spPr>
          <a:xfrm>
            <a:off x="9201963" y="4103624"/>
            <a:ext cx="225546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2</a:t>
            </a:r>
          </a:p>
        </p:txBody>
      </p:sp>
      <p:sp>
        <p:nvSpPr>
          <p:cNvPr id="35" name="Rectangle 34"/>
          <p:cNvSpPr/>
          <p:nvPr/>
        </p:nvSpPr>
        <p:spPr>
          <a:xfrm>
            <a:off x="685800" y="435965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8096" y="4422140"/>
            <a:ext cx="3172193"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random, baseline</a:t>
            </a:r>
          </a:p>
        </p:txBody>
      </p:sp>
      <p:sp>
        <p:nvSpPr>
          <p:cNvPr id="37" name="TextBox 36"/>
          <p:cNvSpPr txBox="1"/>
          <p:nvPr/>
        </p:nvSpPr>
        <p:spPr>
          <a:xfrm>
            <a:off x="4068305" y="4422140"/>
            <a:ext cx="262215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Rs 2,816,476</a:t>
            </a:r>
          </a:p>
        </p:txBody>
      </p:sp>
      <p:sp>
        <p:nvSpPr>
          <p:cNvPr id="38" name="TextBox 37"/>
          <p:cNvSpPr txBox="1"/>
          <p:nvPr/>
        </p:nvSpPr>
        <p:spPr>
          <a:xfrm>
            <a:off x="6818479" y="4422140"/>
            <a:ext cx="225546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47</a:t>
            </a:r>
          </a:p>
        </p:txBody>
      </p:sp>
      <p:sp>
        <p:nvSpPr>
          <p:cNvPr id="39" name="TextBox 38"/>
          <p:cNvSpPr txBox="1"/>
          <p:nvPr/>
        </p:nvSpPr>
        <p:spPr>
          <a:xfrm>
            <a:off x="9201963" y="4422140"/>
            <a:ext cx="225546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9</a:t>
            </a:r>
          </a:p>
        </p:txBody>
      </p:sp>
      <p:sp>
        <p:nvSpPr>
          <p:cNvPr id="40" name="Rectangle 39"/>
          <p:cNvSpPr/>
          <p:nvPr/>
        </p:nvSpPr>
        <p:spPr>
          <a:xfrm>
            <a:off x="685800" y="467817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4685792"/>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4740656"/>
            <a:ext cx="3172193"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fifo, baseline</a:t>
            </a:r>
          </a:p>
        </p:txBody>
      </p:sp>
      <p:sp>
        <p:nvSpPr>
          <p:cNvPr id="43" name="TextBox 42"/>
          <p:cNvSpPr txBox="1"/>
          <p:nvPr/>
        </p:nvSpPr>
        <p:spPr>
          <a:xfrm>
            <a:off x="4068305" y="4740656"/>
            <a:ext cx="262215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Rs 2,162,224</a:t>
            </a:r>
          </a:p>
        </p:txBody>
      </p:sp>
      <p:sp>
        <p:nvSpPr>
          <p:cNvPr id="44" name="TextBox 43"/>
          <p:cNvSpPr txBox="1"/>
          <p:nvPr/>
        </p:nvSpPr>
        <p:spPr>
          <a:xfrm>
            <a:off x="6818479" y="4740656"/>
            <a:ext cx="225546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139</a:t>
            </a:r>
          </a:p>
        </p:txBody>
      </p:sp>
      <p:sp>
        <p:nvSpPr>
          <p:cNvPr id="45" name="TextBox 44"/>
          <p:cNvSpPr txBox="1"/>
          <p:nvPr/>
        </p:nvSpPr>
        <p:spPr>
          <a:xfrm>
            <a:off x="9201963" y="4740656"/>
            <a:ext cx="2255468" cy="237744"/>
          </a:xfrm>
          <a:prstGeom prst="rect">
            <a:avLst/>
          </a:prstGeom>
          <a:noFill/>
        </p:spPr>
        <p:txBody>
          <a:bodyPr wrap="square" lIns="0" rIns="0" tIns="0" bIns="0">
            <a:spAutoFit/>
          </a:bodyPr>
          <a:lstStyle/>
          <a:p>
            <a:pPr algn="l">
              <a:lnSpc>
                <a:spcPct val="100000"/>
              </a:lnSpc>
              <a:spcAft>
                <a:spcPts val="0"/>
              </a:spcAft>
            </a:pPr>
            <a:r>
              <a:rPr sz="1200" b="0">
                <a:solidFill>
                  <a:srgbClr val="2E2838"/>
                </a:solidFill>
                <a:latin typeface="Segoe UI"/>
              </a:rPr>
              <a:t>15</a:t>
            </a:r>
          </a:p>
        </p:txBody>
      </p:sp>
      <p:sp>
        <p:nvSpPr>
          <p:cNvPr id="46" name="Rectangle 45"/>
          <p:cNvSpPr/>
          <p:nvPr/>
        </p:nvSpPr>
        <p:spPr>
          <a:xfrm>
            <a:off x="685800" y="499668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5800" y="5230368"/>
            <a:ext cx="10817352" cy="841248"/>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85800" y="5230368"/>
            <a:ext cx="43180" cy="84124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6968" y="5349240"/>
            <a:ext cx="10415016" cy="621792"/>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1.59x more expected loss from the same 166 reviews. </a:t>
            </a:r>
          </a:p>
          <a:p>
            <a:pPr algn="l">
              <a:lnSpc>
                <a:spcPct val="116000"/>
              </a:lnSpc>
              <a:spcAft>
                <a:spcPts val="0"/>
              </a:spcAft>
            </a:pPr>
            <a:r>
              <a:rPr sz="1200" b="0">
                <a:solidFill>
                  <a:srgbClr val="2E2838"/>
                </a:solidFill>
                <a:latin typeface="Segoe UI"/>
              </a:rPr>
              <a:t>High value cases dropped fall from 15 to 2. The density ablation leads on both axes and is reported as the stronger rule rather than hidden. Ordering is still the smaller lever, because keeping up needs 3.0 reviewers against the two staffed.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07</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Audit and reproducibility</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9</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81328"/>
            <a:ext cx="10817352" cy="329184"/>
          </a:xfrm>
          <a:prstGeom prst="rect">
            <a:avLst/>
          </a:prstGeom>
          <a:noFill/>
        </p:spPr>
        <p:txBody>
          <a:bodyPr wrap="square" lIns="0" rIns="0" tIns="0" bIns="0">
            <a:spAutoFit/>
          </a:bodyPr>
          <a:lstStyle/>
          <a:p>
            <a:pPr algn="l">
              <a:lnSpc>
                <a:spcPct val="100000"/>
              </a:lnSpc>
              <a:spcAft>
                <a:spcPts val="0"/>
              </a:spcAft>
            </a:pPr>
            <a:r>
              <a:rPr sz="1500" b="0">
                <a:solidFill>
                  <a:srgbClr val="2E2838"/>
                </a:solidFill>
                <a:latin typeface="Segoe UI"/>
              </a:rPr>
              <a:t>An assurance system that cannot show its working is an opinion. Two mechanisms make this one checkable, one at runtime and one at build time.</a:t>
            </a:r>
          </a:p>
        </p:txBody>
      </p:sp>
      <p:sp>
        <p:nvSpPr>
          <p:cNvPr id="9" name="Rectangle 8"/>
          <p:cNvSpPr/>
          <p:nvPr/>
        </p:nvSpPr>
        <p:spPr>
          <a:xfrm>
            <a:off x="685800" y="201168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969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1,500 of 1,500</a:t>
            </a:r>
          </a:p>
        </p:txBody>
      </p:sp>
      <p:sp>
        <p:nvSpPr>
          <p:cNvPr id="11" name="TextBox 10"/>
          <p:cNvSpPr txBox="1"/>
          <p:nvPr/>
        </p:nvSpPr>
        <p:spPr>
          <a:xfrm>
            <a:off x="685800" y="257860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decisions recorded in one chain</a:t>
            </a:r>
          </a:p>
        </p:txBody>
      </p:sp>
      <p:sp>
        <p:nvSpPr>
          <p:cNvPr id="12" name="Rectangle 11"/>
          <p:cNvSpPr/>
          <p:nvPr/>
        </p:nvSpPr>
        <p:spPr>
          <a:xfrm>
            <a:off x="3440430" y="201168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40430" y="213969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224 of 224</a:t>
            </a:r>
          </a:p>
        </p:txBody>
      </p:sp>
      <p:sp>
        <p:nvSpPr>
          <p:cNvPr id="14" name="TextBox 13"/>
          <p:cNvSpPr txBox="1"/>
          <p:nvPr/>
        </p:nvSpPr>
        <p:spPr>
          <a:xfrm>
            <a:off x="3440430" y="257860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proposed effects logged</a:t>
            </a:r>
          </a:p>
        </p:txBody>
      </p:sp>
      <p:sp>
        <p:nvSpPr>
          <p:cNvPr id="15" name="Rectangle 14"/>
          <p:cNvSpPr/>
          <p:nvPr/>
        </p:nvSpPr>
        <p:spPr>
          <a:xfrm>
            <a:off x="6195060" y="201168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95060" y="213969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205</a:t>
            </a:r>
          </a:p>
        </p:txBody>
      </p:sp>
      <p:sp>
        <p:nvSpPr>
          <p:cNvPr id="17" name="TextBox 16"/>
          <p:cNvSpPr txBox="1"/>
          <p:nvPr/>
        </p:nvSpPr>
        <p:spPr>
          <a:xfrm>
            <a:off x="6195060" y="257860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reviews in the same chain</a:t>
            </a:r>
          </a:p>
        </p:txBody>
      </p:sp>
      <p:sp>
        <p:nvSpPr>
          <p:cNvPr id="18" name="Rectangle 17"/>
          <p:cNvSpPr/>
          <p:nvPr/>
        </p:nvSpPr>
        <p:spPr>
          <a:xfrm>
            <a:off x="8949690" y="2011680"/>
            <a:ext cx="255346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49690" y="2139696"/>
            <a:ext cx="255346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Valid</a:t>
            </a:r>
          </a:p>
        </p:txBody>
      </p:sp>
      <p:sp>
        <p:nvSpPr>
          <p:cNvPr id="20" name="TextBox 19"/>
          <p:cNvSpPr txBox="1"/>
          <p:nvPr/>
        </p:nvSpPr>
        <p:spPr>
          <a:xfrm>
            <a:off x="8949690" y="2578608"/>
            <a:ext cx="255346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verification over 1,705 records</a:t>
            </a:r>
          </a:p>
        </p:txBody>
      </p:sp>
      <p:sp>
        <p:nvSpPr>
          <p:cNvPr id="21" name="TextBox 20"/>
          <p:cNvSpPr txBox="1"/>
          <p:nvPr/>
        </p:nvSpPr>
        <p:spPr>
          <a:xfrm>
            <a:off x="685800" y="3520440"/>
            <a:ext cx="5212080" cy="3657600"/>
          </a:xfrm>
          <a:prstGeom prst="rect">
            <a:avLst/>
          </a:prstGeom>
          <a:noFill/>
        </p:spPr>
        <p:txBody>
          <a:bodyPr wrap="square" lIns="0" rIns="0" tIns="0" bIns="0">
            <a:spAutoFit/>
          </a:bodyPr>
          <a:lstStyle/>
          <a:p>
            <a:pPr algn="l">
              <a:lnSpc>
                <a:spcPct val="120000"/>
              </a:lnSpc>
              <a:spcAft>
                <a:spcPts val="100"/>
              </a:spcAft>
            </a:pPr>
            <a:r>
              <a:rPr sz="1250" b="1">
                <a:solidFill>
                  <a:srgbClr val="17121F"/>
                </a:solidFill>
                <a:latin typeface="Segoe UI"/>
              </a:rPr>
              <a:t>The ledger. </a:t>
            </a:r>
          </a:p>
          <a:p>
            <a:pPr algn="l">
              <a:lnSpc>
                <a:spcPct val="120000"/>
              </a:lnSpc>
              <a:spcAft>
                <a:spcPts val="800"/>
              </a:spcAft>
            </a:pPr>
            <a:r>
              <a:rPr sz="1250" b="0">
                <a:solidFill>
                  <a:srgbClr val="2E2838"/>
                </a:solidFill>
                <a:latin typeface="Segoe UI"/>
              </a:rPr>
              <a:t>Each record carries the hash of the one before it. It holds the calibrated vector, the raw scores, the tier arithmetic, the threshold, the shadow price and the policy hash, which is enough to recompute the decision rather than recall it.</a:t>
            </a:r>
          </a:p>
        </p:txBody>
      </p:sp>
      <p:sp>
        <p:nvSpPr>
          <p:cNvPr id="22" name="TextBox 21"/>
          <p:cNvSpPr txBox="1"/>
          <p:nvPr/>
        </p:nvSpPr>
        <p:spPr>
          <a:xfrm>
            <a:off x="6263640" y="3520440"/>
            <a:ext cx="5212080" cy="3657600"/>
          </a:xfrm>
          <a:prstGeom prst="rect">
            <a:avLst/>
          </a:prstGeom>
          <a:noFill/>
        </p:spPr>
        <p:txBody>
          <a:bodyPr wrap="square" lIns="0" rIns="0" tIns="0" bIns="0">
            <a:spAutoFit/>
          </a:bodyPr>
          <a:lstStyle/>
          <a:p>
            <a:pPr algn="l">
              <a:lnSpc>
                <a:spcPct val="120000"/>
              </a:lnSpc>
              <a:spcAft>
                <a:spcPts val="100"/>
              </a:spcAft>
            </a:pPr>
            <a:r>
              <a:rPr sz="1250" b="1">
                <a:solidFill>
                  <a:srgbClr val="17121F"/>
                </a:solidFill>
                <a:latin typeface="Segoe UI"/>
              </a:rPr>
              <a:t>The regeneration path. </a:t>
            </a:r>
          </a:p>
          <a:p>
            <a:pPr algn="l">
              <a:lnSpc>
                <a:spcPct val="120000"/>
              </a:lnSpc>
              <a:spcAft>
                <a:spcPts val="800"/>
              </a:spcAft>
            </a:pPr>
            <a:r>
              <a:rPr sz="1250" b="0">
                <a:solidFill>
                  <a:srgbClr val="2E2838"/>
                </a:solidFill>
                <a:latin typeface="Segoe UI"/>
              </a:rPr>
              <a:t>./run_submission.sh builds a clean environment, runs the gate, regenerates every artifact and fails if one differs from the committed copy. If a number stops reproducing, the script names the file.</a:t>
            </a:r>
          </a:p>
        </p:txBody>
      </p:sp>
      <p:sp>
        <p:nvSpPr>
          <p:cNvPr id="23" name="Rectangle 22"/>
          <p:cNvSpPr/>
          <p:nvPr/>
        </p:nvSpPr>
        <p:spPr>
          <a:xfrm>
            <a:off x="685800" y="5029200"/>
            <a:ext cx="10817352" cy="96012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5029200"/>
            <a:ext cx="43180" cy="9601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5148072"/>
            <a:ext cx="10415016" cy="74066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Endpoints were fixed before the work started. </a:t>
            </a:r>
          </a:p>
          <a:p>
            <a:pPr algn="l">
              <a:lnSpc>
                <a:spcPct val="116000"/>
              </a:lnSpc>
              <a:spcAft>
                <a:spcPts val="0"/>
              </a:spcAft>
            </a:pPr>
            <a:r>
              <a:rPr sz="1200" b="0">
                <a:solidFill>
                  <a:srgbClr val="2E2838"/>
                </a:solidFill>
                <a:latin typeface="Segoe UI"/>
              </a:rPr>
              <a:t>Results are reported against those criteria whether or not they were met. The record includes a queue defect written down before it was corrected, and a case where fitting a detector on the rows that certified its bound made it claim 0.1407 while held out data showed 0.2800. The discipline is the guarantee.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09</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Evaluation and evidence</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10</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63040"/>
            <a:ext cx="10817352" cy="292608"/>
          </a:xfrm>
          <a:prstGeom prst="rect">
            <a:avLst/>
          </a:prstGeom>
          <a:noFill/>
        </p:spPr>
        <p:txBody>
          <a:bodyPr wrap="square" lIns="0" rIns="0" tIns="0" bIns="0">
            <a:spAutoFit/>
          </a:bodyPr>
          <a:lstStyle/>
          <a:p>
            <a:pPr algn="l">
              <a:lnSpc>
                <a:spcPct val="100000"/>
              </a:lnSpc>
              <a:spcAft>
                <a:spcPts val="0"/>
              </a:spcAft>
            </a:pPr>
            <a:r>
              <a:rPr sz="1350" b="0">
                <a:solidFill>
                  <a:srgbClr val="2E2838"/>
                </a:solidFill>
                <a:latin typeface="Segoe UI"/>
              </a:rPr>
              <a:t>1,500 held out interactions across three routes and two jurisdictions, with span level ground truth. Four policies across six budgets.</a:t>
            </a:r>
          </a:p>
        </p:txBody>
      </p:sp>
      <p:sp>
        <p:nvSpPr>
          <p:cNvPr id="9" name="Rectangle 8"/>
          <p:cNvSpPr/>
          <p:nvPr/>
        </p:nvSpPr>
        <p:spPr>
          <a:xfrm>
            <a:off x="685800" y="1901952"/>
            <a:ext cx="10817352" cy="310896"/>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1970532"/>
            <a:ext cx="246814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Policy</a:t>
            </a:r>
          </a:p>
        </p:txBody>
      </p:sp>
      <p:sp>
        <p:nvSpPr>
          <p:cNvPr id="11" name="TextBox 10"/>
          <p:cNvSpPr txBox="1"/>
          <p:nvPr/>
        </p:nvSpPr>
        <p:spPr>
          <a:xfrm>
            <a:off x="3364260" y="1970532"/>
            <a:ext cx="168929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Compute spend</a:t>
            </a:r>
          </a:p>
        </p:txBody>
      </p:sp>
      <p:sp>
        <p:nvSpPr>
          <p:cNvPr id="12" name="TextBox 11"/>
          <p:cNvSpPr txBox="1"/>
          <p:nvPr/>
        </p:nvSpPr>
        <p:spPr>
          <a:xfrm>
            <a:off x="5181575" y="1970532"/>
            <a:ext cx="1775837"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Loss averted</a:t>
            </a:r>
          </a:p>
        </p:txBody>
      </p:sp>
      <p:sp>
        <p:nvSpPr>
          <p:cNvPr id="13" name="TextBox 12"/>
          <p:cNvSpPr txBox="1"/>
          <p:nvPr/>
        </p:nvSpPr>
        <p:spPr>
          <a:xfrm>
            <a:off x="7085428" y="1970532"/>
            <a:ext cx="151622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Share of benefit</a:t>
            </a:r>
          </a:p>
        </p:txBody>
      </p:sp>
      <p:sp>
        <p:nvSpPr>
          <p:cNvPr id="14" name="TextBox 13"/>
          <p:cNvSpPr txBox="1"/>
          <p:nvPr/>
        </p:nvSpPr>
        <p:spPr>
          <a:xfrm>
            <a:off x="8729665" y="1970532"/>
            <a:ext cx="1343143"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Share of cost</a:t>
            </a:r>
          </a:p>
        </p:txBody>
      </p:sp>
      <p:sp>
        <p:nvSpPr>
          <p:cNvPr id="15" name="TextBox 14"/>
          <p:cNvSpPr txBox="1"/>
          <p:nvPr/>
        </p:nvSpPr>
        <p:spPr>
          <a:xfrm>
            <a:off x="10200824" y="1970532"/>
            <a:ext cx="1256605"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Escaped harm</a:t>
            </a:r>
          </a:p>
        </p:txBody>
      </p:sp>
      <p:sp>
        <p:nvSpPr>
          <p:cNvPr id="16" name="Rectangle 15"/>
          <p:cNvSpPr/>
          <p:nvPr/>
        </p:nvSpPr>
        <p:spPr>
          <a:xfrm>
            <a:off x="685800" y="2212848"/>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285492"/>
            <a:ext cx="246814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Check nothing</a:t>
            </a:r>
          </a:p>
        </p:txBody>
      </p:sp>
      <p:sp>
        <p:nvSpPr>
          <p:cNvPr id="18" name="TextBox 17"/>
          <p:cNvSpPr txBox="1"/>
          <p:nvPr/>
        </p:nvSpPr>
        <p:spPr>
          <a:xfrm>
            <a:off x="3364260" y="2285492"/>
            <a:ext cx="168929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0.00</a:t>
            </a:r>
          </a:p>
        </p:txBody>
      </p:sp>
      <p:sp>
        <p:nvSpPr>
          <p:cNvPr id="19" name="TextBox 18"/>
          <p:cNvSpPr txBox="1"/>
          <p:nvPr/>
        </p:nvSpPr>
        <p:spPr>
          <a:xfrm>
            <a:off x="5181575" y="2285492"/>
            <a:ext cx="177583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3,184,800</a:t>
            </a:r>
          </a:p>
        </p:txBody>
      </p:sp>
      <p:sp>
        <p:nvSpPr>
          <p:cNvPr id="20" name="TextBox 19"/>
          <p:cNvSpPr txBox="1"/>
          <p:nvPr/>
        </p:nvSpPr>
        <p:spPr>
          <a:xfrm>
            <a:off x="7085428" y="2285492"/>
            <a:ext cx="15162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58.2%</a:t>
            </a:r>
          </a:p>
        </p:txBody>
      </p:sp>
      <p:sp>
        <p:nvSpPr>
          <p:cNvPr id="21" name="TextBox 20"/>
          <p:cNvSpPr txBox="1"/>
          <p:nvPr/>
        </p:nvSpPr>
        <p:spPr>
          <a:xfrm>
            <a:off x="8729665" y="2285492"/>
            <a:ext cx="1343143"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0.0%</a:t>
            </a:r>
          </a:p>
        </p:txBody>
      </p:sp>
      <p:sp>
        <p:nvSpPr>
          <p:cNvPr id="22" name="TextBox 21"/>
          <p:cNvSpPr txBox="1"/>
          <p:nvPr/>
        </p:nvSpPr>
        <p:spPr>
          <a:xfrm>
            <a:off x="10200824" y="2285492"/>
            <a:ext cx="125660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0.0962</a:t>
            </a:r>
          </a:p>
        </p:txBody>
      </p:sp>
      <p:sp>
        <p:nvSpPr>
          <p:cNvPr id="23" name="Rectangle 22"/>
          <p:cNvSpPr/>
          <p:nvPr/>
        </p:nvSpPr>
        <p:spPr>
          <a:xfrm>
            <a:off x="685800" y="254152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2549144"/>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2604008"/>
            <a:ext cx="2468148"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Allocator at 10% budget</a:t>
            </a:r>
          </a:p>
        </p:txBody>
      </p:sp>
      <p:sp>
        <p:nvSpPr>
          <p:cNvPr id="26" name="TextBox 25"/>
          <p:cNvSpPr txBox="1"/>
          <p:nvPr/>
        </p:nvSpPr>
        <p:spPr>
          <a:xfrm>
            <a:off x="3364260" y="2604008"/>
            <a:ext cx="1689299"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Rs 480.98</a:t>
            </a:r>
          </a:p>
        </p:txBody>
      </p:sp>
      <p:sp>
        <p:nvSpPr>
          <p:cNvPr id="27" name="TextBox 26"/>
          <p:cNvSpPr txBox="1"/>
          <p:nvPr/>
        </p:nvSpPr>
        <p:spPr>
          <a:xfrm>
            <a:off x="5181575" y="2604008"/>
            <a:ext cx="1775837"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Rs 5,078,000</a:t>
            </a:r>
          </a:p>
        </p:txBody>
      </p:sp>
      <p:sp>
        <p:nvSpPr>
          <p:cNvPr id="28" name="TextBox 27"/>
          <p:cNvSpPr txBox="1"/>
          <p:nvPr/>
        </p:nvSpPr>
        <p:spPr>
          <a:xfrm>
            <a:off x="7085428" y="2604008"/>
            <a:ext cx="1516221"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92.8%</a:t>
            </a:r>
          </a:p>
        </p:txBody>
      </p:sp>
      <p:sp>
        <p:nvSpPr>
          <p:cNvPr id="29" name="TextBox 28"/>
          <p:cNvSpPr txBox="1"/>
          <p:nvPr/>
        </p:nvSpPr>
        <p:spPr>
          <a:xfrm>
            <a:off x="8729665" y="2604008"/>
            <a:ext cx="1343143" cy="237744"/>
          </a:xfrm>
          <a:prstGeom prst="rect">
            <a:avLst/>
          </a:prstGeom>
          <a:noFill/>
        </p:spPr>
        <p:txBody>
          <a:bodyPr wrap="square" lIns="0" rIns="0" tIns="0" bIns="0">
            <a:spAutoFit/>
          </a:bodyPr>
          <a:lstStyle/>
          <a:p>
            <a:pPr algn="l">
              <a:lnSpc>
                <a:spcPct val="100000"/>
              </a:lnSpc>
              <a:spcAft>
                <a:spcPts val="0"/>
              </a:spcAft>
            </a:pPr>
            <a:r>
              <a:rPr sz="1150" b="1">
                <a:solidFill>
                  <a:srgbClr val="17121F"/>
                </a:solidFill>
                <a:latin typeface="Segoe UI"/>
              </a:rPr>
              <a:t>10.0%</a:t>
            </a:r>
          </a:p>
        </p:txBody>
      </p:sp>
      <p:sp>
        <p:nvSpPr>
          <p:cNvPr id="30" name="TextBox 29"/>
          <p:cNvSpPr txBox="1"/>
          <p:nvPr/>
        </p:nvSpPr>
        <p:spPr>
          <a:xfrm>
            <a:off x="10200824" y="2604008"/>
            <a:ext cx="125660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0.0363</a:t>
            </a:r>
          </a:p>
        </p:txBody>
      </p:sp>
      <p:sp>
        <p:nvSpPr>
          <p:cNvPr id="31" name="Rectangle 30"/>
          <p:cNvSpPr/>
          <p:nvPr/>
        </p:nvSpPr>
        <p:spPr>
          <a:xfrm>
            <a:off x="685800" y="286004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2922524"/>
            <a:ext cx="246814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Allocator at 25% budget</a:t>
            </a:r>
          </a:p>
        </p:txBody>
      </p:sp>
      <p:sp>
        <p:nvSpPr>
          <p:cNvPr id="33" name="TextBox 32"/>
          <p:cNvSpPr txBox="1"/>
          <p:nvPr/>
        </p:nvSpPr>
        <p:spPr>
          <a:xfrm>
            <a:off x="3364260" y="2922524"/>
            <a:ext cx="168929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1,098.58</a:t>
            </a:r>
          </a:p>
        </p:txBody>
      </p:sp>
      <p:sp>
        <p:nvSpPr>
          <p:cNvPr id="34" name="TextBox 33"/>
          <p:cNvSpPr txBox="1"/>
          <p:nvPr/>
        </p:nvSpPr>
        <p:spPr>
          <a:xfrm>
            <a:off x="5181575" y="2922524"/>
            <a:ext cx="177583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5,407,000</a:t>
            </a:r>
          </a:p>
        </p:txBody>
      </p:sp>
      <p:sp>
        <p:nvSpPr>
          <p:cNvPr id="35" name="TextBox 34"/>
          <p:cNvSpPr txBox="1"/>
          <p:nvPr/>
        </p:nvSpPr>
        <p:spPr>
          <a:xfrm>
            <a:off x="7085428" y="2922524"/>
            <a:ext cx="15162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98.9%</a:t>
            </a:r>
          </a:p>
        </p:txBody>
      </p:sp>
      <p:sp>
        <p:nvSpPr>
          <p:cNvPr id="36" name="TextBox 35"/>
          <p:cNvSpPr txBox="1"/>
          <p:nvPr/>
        </p:nvSpPr>
        <p:spPr>
          <a:xfrm>
            <a:off x="8729665" y="2922524"/>
            <a:ext cx="1343143"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22.9%</a:t>
            </a:r>
          </a:p>
        </p:txBody>
      </p:sp>
      <p:sp>
        <p:nvSpPr>
          <p:cNvPr id="37" name="TextBox 36"/>
          <p:cNvSpPr txBox="1"/>
          <p:nvPr/>
        </p:nvSpPr>
        <p:spPr>
          <a:xfrm>
            <a:off x="10200824" y="2922524"/>
            <a:ext cx="125660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0.0211</a:t>
            </a:r>
          </a:p>
        </p:txBody>
      </p:sp>
      <p:sp>
        <p:nvSpPr>
          <p:cNvPr id="38" name="Rectangle 37"/>
          <p:cNvSpPr/>
          <p:nvPr/>
        </p:nvSpPr>
        <p:spPr>
          <a:xfrm>
            <a:off x="685800" y="317855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3186176"/>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3241040"/>
            <a:ext cx="246814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Allocator at 80% budget</a:t>
            </a:r>
          </a:p>
        </p:txBody>
      </p:sp>
      <p:sp>
        <p:nvSpPr>
          <p:cNvPr id="41" name="TextBox 40"/>
          <p:cNvSpPr txBox="1"/>
          <p:nvPr/>
        </p:nvSpPr>
        <p:spPr>
          <a:xfrm>
            <a:off x="3364260" y="3241040"/>
            <a:ext cx="168929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3,839.64</a:t>
            </a:r>
          </a:p>
        </p:txBody>
      </p:sp>
      <p:sp>
        <p:nvSpPr>
          <p:cNvPr id="42" name="TextBox 41"/>
          <p:cNvSpPr txBox="1"/>
          <p:nvPr/>
        </p:nvSpPr>
        <p:spPr>
          <a:xfrm>
            <a:off x="5181575" y="3241040"/>
            <a:ext cx="177583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5,477,300</a:t>
            </a:r>
          </a:p>
        </p:txBody>
      </p:sp>
      <p:sp>
        <p:nvSpPr>
          <p:cNvPr id="43" name="TextBox 42"/>
          <p:cNvSpPr txBox="1"/>
          <p:nvPr/>
        </p:nvSpPr>
        <p:spPr>
          <a:xfrm>
            <a:off x="7085428" y="3241040"/>
            <a:ext cx="15162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100.1%</a:t>
            </a:r>
          </a:p>
        </p:txBody>
      </p:sp>
      <p:sp>
        <p:nvSpPr>
          <p:cNvPr id="44" name="TextBox 43"/>
          <p:cNvSpPr txBox="1"/>
          <p:nvPr/>
        </p:nvSpPr>
        <p:spPr>
          <a:xfrm>
            <a:off x="8729665" y="3241040"/>
            <a:ext cx="1343143"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80.0%</a:t>
            </a:r>
          </a:p>
        </p:txBody>
      </p:sp>
      <p:sp>
        <p:nvSpPr>
          <p:cNvPr id="45" name="TextBox 44"/>
          <p:cNvSpPr txBox="1"/>
          <p:nvPr/>
        </p:nvSpPr>
        <p:spPr>
          <a:xfrm>
            <a:off x="10200824" y="3241040"/>
            <a:ext cx="125660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0.0117</a:t>
            </a:r>
          </a:p>
        </p:txBody>
      </p:sp>
      <p:sp>
        <p:nvSpPr>
          <p:cNvPr id="46" name="Rectangle 45"/>
          <p:cNvSpPr/>
          <p:nvPr/>
        </p:nvSpPr>
        <p:spPr>
          <a:xfrm>
            <a:off x="685800" y="349707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3559556"/>
            <a:ext cx="2468148"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Check everything</a:t>
            </a:r>
          </a:p>
        </p:txBody>
      </p:sp>
      <p:sp>
        <p:nvSpPr>
          <p:cNvPr id="48" name="TextBox 47"/>
          <p:cNvSpPr txBox="1"/>
          <p:nvPr/>
        </p:nvSpPr>
        <p:spPr>
          <a:xfrm>
            <a:off x="3364260" y="3559556"/>
            <a:ext cx="1689299"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4,800.00</a:t>
            </a:r>
          </a:p>
        </p:txBody>
      </p:sp>
      <p:sp>
        <p:nvSpPr>
          <p:cNvPr id="49" name="TextBox 48"/>
          <p:cNvSpPr txBox="1"/>
          <p:nvPr/>
        </p:nvSpPr>
        <p:spPr>
          <a:xfrm>
            <a:off x="5181575" y="3559556"/>
            <a:ext cx="1775837"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Rs 5,469,400</a:t>
            </a:r>
          </a:p>
        </p:txBody>
      </p:sp>
      <p:sp>
        <p:nvSpPr>
          <p:cNvPr id="50" name="TextBox 49"/>
          <p:cNvSpPr txBox="1"/>
          <p:nvPr/>
        </p:nvSpPr>
        <p:spPr>
          <a:xfrm>
            <a:off x="7085428" y="3559556"/>
            <a:ext cx="1516221"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100.0%</a:t>
            </a:r>
          </a:p>
        </p:txBody>
      </p:sp>
      <p:sp>
        <p:nvSpPr>
          <p:cNvPr id="51" name="TextBox 50"/>
          <p:cNvSpPr txBox="1"/>
          <p:nvPr/>
        </p:nvSpPr>
        <p:spPr>
          <a:xfrm>
            <a:off x="8729665" y="3559556"/>
            <a:ext cx="1343143"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100.0%</a:t>
            </a:r>
          </a:p>
        </p:txBody>
      </p:sp>
      <p:sp>
        <p:nvSpPr>
          <p:cNvPr id="52" name="TextBox 51"/>
          <p:cNvSpPr txBox="1"/>
          <p:nvPr/>
        </p:nvSpPr>
        <p:spPr>
          <a:xfrm>
            <a:off x="10200824" y="3559556"/>
            <a:ext cx="1256605" cy="237744"/>
          </a:xfrm>
          <a:prstGeom prst="rect">
            <a:avLst/>
          </a:prstGeom>
          <a:noFill/>
        </p:spPr>
        <p:txBody>
          <a:bodyPr wrap="square" lIns="0" rIns="0" tIns="0" bIns="0">
            <a:spAutoFit/>
          </a:bodyPr>
          <a:lstStyle/>
          <a:p>
            <a:pPr algn="l">
              <a:lnSpc>
                <a:spcPct val="100000"/>
              </a:lnSpc>
              <a:spcAft>
                <a:spcPts val="0"/>
              </a:spcAft>
            </a:pPr>
            <a:r>
              <a:rPr sz="1150" b="0">
                <a:solidFill>
                  <a:srgbClr val="2E2838"/>
                </a:solidFill>
                <a:latin typeface="Segoe UI"/>
              </a:rPr>
              <a:t>0.0120</a:t>
            </a:r>
          </a:p>
        </p:txBody>
      </p:sp>
      <p:sp>
        <p:nvSpPr>
          <p:cNvPr id="53" name="Rectangle 52"/>
          <p:cNvSpPr/>
          <p:nvPr/>
        </p:nvSpPr>
        <p:spPr>
          <a:xfrm>
            <a:off x="685800" y="381558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85800" y="4114800"/>
            <a:ext cx="10817352" cy="658368"/>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85800" y="4114800"/>
            <a:ext cx="43180" cy="65836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86968" y="4233672"/>
            <a:ext cx="10415016" cy="438912"/>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At 80% it beats checking everything. </a:t>
            </a:r>
          </a:p>
          <a:p>
            <a:pPr algn="l">
              <a:lnSpc>
                <a:spcPct val="116000"/>
              </a:lnSpc>
              <a:spcAft>
                <a:spcPts val="0"/>
              </a:spcAft>
            </a:pPr>
            <a:r>
              <a:rPr sz="1200" b="0">
                <a:solidFill>
                  <a:srgbClr val="2E2838"/>
                </a:solidFill>
                <a:latin typeface="Segoe UI"/>
              </a:rPr>
              <a:t>It averts more loss for 20% less compute, because checking everything spends its budget on rows where the judge had nothing to find.</a:t>
            </a:r>
          </a:p>
        </p:txBody>
      </p:sp>
      <p:sp>
        <p:nvSpPr>
          <p:cNvPr id="57" name="Rectangle 56"/>
          <p:cNvSpPr/>
          <p:nvPr/>
        </p:nvSpPr>
        <p:spPr>
          <a:xfrm>
            <a:off x="685800" y="5029200"/>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5800" y="5157216"/>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0.008 to 0.043</a:t>
            </a:r>
          </a:p>
        </p:txBody>
      </p:sp>
      <p:sp>
        <p:nvSpPr>
          <p:cNvPr id="59" name="TextBox 58"/>
          <p:cNvSpPr txBox="1"/>
          <p:nvPr/>
        </p:nvSpPr>
        <p:spPr>
          <a:xfrm>
            <a:off x="685800" y="5596128"/>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expected calibration error across the three routes</a:t>
            </a:r>
          </a:p>
        </p:txBody>
      </p:sp>
      <p:sp>
        <p:nvSpPr>
          <p:cNvPr id="60" name="Rectangle 59"/>
          <p:cNvSpPr/>
          <p:nvPr/>
        </p:nvSpPr>
        <p:spPr>
          <a:xfrm>
            <a:off x="4358640" y="5029200"/>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358640" y="5157216"/>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10.9%</a:t>
            </a:r>
          </a:p>
        </p:txBody>
      </p:sp>
      <p:sp>
        <p:nvSpPr>
          <p:cNvPr id="62" name="TextBox 61"/>
          <p:cNvSpPr txBox="1"/>
          <p:nvPr/>
        </p:nvSpPr>
        <p:spPr>
          <a:xfrm>
            <a:off x="4358640" y="5596128"/>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of tier choices change across a 0.25x to 4x price swing</a:t>
            </a:r>
          </a:p>
        </p:txBody>
      </p:sp>
      <p:sp>
        <p:nvSpPr>
          <p:cNvPr id="63" name="Rectangle 62"/>
          <p:cNvSpPr/>
          <p:nvPr/>
        </p:nvSpPr>
        <p:spPr>
          <a:xfrm>
            <a:off x="8031480" y="5029200"/>
            <a:ext cx="3471672" cy="3810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031480" y="5157216"/>
            <a:ext cx="3471672" cy="411480"/>
          </a:xfrm>
          <a:prstGeom prst="rect">
            <a:avLst/>
          </a:prstGeom>
          <a:noFill/>
        </p:spPr>
        <p:txBody>
          <a:bodyPr wrap="square" lIns="0" rIns="0" tIns="0" bIns="0">
            <a:spAutoFit/>
          </a:bodyPr>
          <a:lstStyle/>
          <a:p>
            <a:pPr algn="l">
              <a:lnSpc>
                <a:spcPct val="100000"/>
              </a:lnSpc>
              <a:spcAft>
                <a:spcPts val="0"/>
              </a:spcAft>
            </a:pPr>
            <a:r>
              <a:rPr sz="2400" b="1">
                <a:solidFill>
                  <a:srgbClr val="17121F"/>
                </a:solidFill>
                <a:latin typeface="Segoe UI"/>
              </a:rPr>
              <a:t>0%</a:t>
            </a:r>
          </a:p>
        </p:txBody>
      </p:sp>
      <p:sp>
        <p:nvSpPr>
          <p:cNvPr id="65" name="TextBox 64"/>
          <p:cNvSpPr txBox="1"/>
          <p:nvPr/>
        </p:nvSpPr>
        <p:spPr>
          <a:xfrm>
            <a:off x="8031480" y="5596128"/>
            <a:ext cx="3471672" cy="548640"/>
          </a:xfrm>
          <a:prstGeom prst="rect">
            <a:avLst/>
          </a:prstGeom>
          <a:noFill/>
        </p:spPr>
        <p:txBody>
          <a:bodyPr wrap="square" lIns="0" rIns="0" tIns="0" bIns="0">
            <a:spAutoFit/>
          </a:bodyPr>
          <a:lstStyle/>
          <a:p>
            <a:pPr algn="l">
              <a:lnSpc>
                <a:spcPct val="115000"/>
              </a:lnSpc>
              <a:spcAft>
                <a:spcPts val="0"/>
              </a:spcAft>
            </a:pPr>
            <a:r>
              <a:rPr sz="1100" b="0">
                <a:solidFill>
                  <a:srgbClr val="6B6478"/>
                </a:solidFill>
                <a:latin typeface="Segoe UI"/>
              </a:rPr>
              <a:t>of verdicts flip across that same swing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09  .  10</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Three results reported because they went against us</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11</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81328"/>
            <a:ext cx="10817352" cy="310896"/>
          </a:xfrm>
          <a:prstGeom prst="rect">
            <a:avLst/>
          </a:prstGeom>
          <a:noFill/>
        </p:spPr>
        <p:txBody>
          <a:bodyPr wrap="square" lIns="0" rIns="0" tIns="0" bIns="0">
            <a:spAutoFit/>
          </a:bodyPr>
          <a:lstStyle/>
          <a:p>
            <a:pPr algn="l">
              <a:lnSpc>
                <a:spcPct val="100000"/>
              </a:lnSpc>
              <a:spcAft>
                <a:spcPts val="0"/>
              </a:spcAft>
            </a:pPr>
            <a:r>
              <a:rPr sz="1400" b="0">
                <a:solidFill>
                  <a:srgbClr val="2E2838"/>
                </a:solidFill>
                <a:latin typeface="Segoe UI"/>
              </a:rPr>
              <a:t>Read the null column before the score. On an imbalanced corpus a policy that flags every row can look respectable while detecting nothing.</a:t>
            </a:r>
          </a:p>
        </p:txBody>
      </p:sp>
      <p:sp>
        <p:nvSpPr>
          <p:cNvPr id="9" name="Rectangle 8"/>
          <p:cNvSpPr/>
          <p:nvPr/>
        </p:nvSpPr>
        <p:spPr>
          <a:xfrm>
            <a:off x="685800" y="1938528"/>
            <a:ext cx="10817352" cy="310896"/>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07108"/>
            <a:ext cx="222358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Benchmark</a:t>
            </a:r>
          </a:p>
        </p:txBody>
      </p:sp>
      <p:sp>
        <p:nvSpPr>
          <p:cNvPr id="11" name="TextBox 10"/>
          <p:cNvSpPr txBox="1"/>
          <p:nvPr/>
        </p:nvSpPr>
        <p:spPr>
          <a:xfrm>
            <a:off x="3119694" y="2007108"/>
            <a:ext cx="1204556"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ControlPlane</a:t>
            </a:r>
          </a:p>
        </p:txBody>
      </p:sp>
      <p:sp>
        <p:nvSpPr>
          <p:cNvPr id="12" name="TextBox 11"/>
          <p:cNvSpPr txBox="1"/>
          <p:nvPr/>
        </p:nvSpPr>
        <p:spPr>
          <a:xfrm>
            <a:off x="4452266" y="2007108"/>
            <a:ext cx="159648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Flag everything null</a:t>
            </a:r>
          </a:p>
        </p:txBody>
      </p:sp>
      <p:sp>
        <p:nvSpPr>
          <p:cNvPr id="13" name="TextBox 12"/>
          <p:cNvSpPr txBox="1"/>
          <p:nvPr/>
        </p:nvSpPr>
        <p:spPr>
          <a:xfrm>
            <a:off x="6176771" y="2007108"/>
            <a:ext cx="89100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Margin</a:t>
            </a:r>
          </a:p>
        </p:txBody>
      </p:sp>
      <p:sp>
        <p:nvSpPr>
          <p:cNvPr id="14" name="TextBox 13"/>
          <p:cNvSpPr txBox="1"/>
          <p:nvPr/>
        </p:nvSpPr>
        <p:spPr>
          <a:xfrm>
            <a:off x="7195796" y="2007108"/>
            <a:ext cx="2772288"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Published comparison</a:t>
            </a:r>
          </a:p>
        </p:txBody>
      </p:sp>
      <p:sp>
        <p:nvSpPr>
          <p:cNvPr id="15" name="TextBox 14"/>
          <p:cNvSpPr txBox="1"/>
          <p:nvPr/>
        </p:nvSpPr>
        <p:spPr>
          <a:xfrm>
            <a:off x="10096100" y="2007108"/>
            <a:ext cx="136132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Verdict</a:t>
            </a:r>
          </a:p>
        </p:txBody>
      </p:sp>
      <p:sp>
        <p:nvSpPr>
          <p:cNvPr id="16" name="Rectangle 15"/>
          <p:cNvSpPr/>
          <p:nvPr/>
        </p:nvSpPr>
        <p:spPr>
          <a:xfrm>
            <a:off x="685800" y="2249424"/>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322068"/>
            <a:ext cx="222358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ToxicChat, AUPRC</a:t>
            </a:r>
          </a:p>
        </p:txBody>
      </p:sp>
      <p:sp>
        <p:nvSpPr>
          <p:cNvPr id="18" name="TextBox 17"/>
          <p:cNvSpPr txBox="1"/>
          <p:nvPr/>
        </p:nvSpPr>
        <p:spPr>
          <a:xfrm>
            <a:off x="3119694" y="2322068"/>
            <a:ext cx="1204556"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0.597</a:t>
            </a:r>
          </a:p>
        </p:txBody>
      </p:sp>
      <p:sp>
        <p:nvSpPr>
          <p:cNvPr id="19" name="TextBox 18"/>
          <p:cNvSpPr txBox="1"/>
          <p:nvPr/>
        </p:nvSpPr>
        <p:spPr>
          <a:xfrm>
            <a:off x="4452266" y="2322068"/>
            <a:ext cx="159648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0.071</a:t>
            </a:r>
          </a:p>
        </p:txBody>
      </p:sp>
      <p:sp>
        <p:nvSpPr>
          <p:cNvPr id="20" name="TextBox 19"/>
          <p:cNvSpPr txBox="1"/>
          <p:nvPr/>
        </p:nvSpPr>
        <p:spPr>
          <a:xfrm>
            <a:off x="6176771" y="2322068"/>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+0.526</a:t>
            </a:r>
          </a:p>
        </p:txBody>
      </p:sp>
      <p:sp>
        <p:nvSpPr>
          <p:cNvPr id="21" name="TextBox 20"/>
          <p:cNvSpPr txBox="1"/>
          <p:nvPr/>
        </p:nvSpPr>
        <p:spPr>
          <a:xfrm>
            <a:off x="7195796" y="2322068"/>
            <a:ext cx="277228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Llama Guard 0.664, OpenAI Mod 0.588</a:t>
            </a:r>
          </a:p>
        </p:txBody>
      </p:sp>
      <p:sp>
        <p:nvSpPr>
          <p:cNvPr id="22" name="TextBox 21"/>
          <p:cNvSpPr txBox="1"/>
          <p:nvPr/>
        </p:nvSpPr>
        <p:spPr>
          <a:xfrm>
            <a:off x="10096100" y="2322068"/>
            <a:ext cx="136132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In band</a:t>
            </a:r>
          </a:p>
        </p:txBody>
      </p:sp>
      <p:sp>
        <p:nvSpPr>
          <p:cNvPr id="23" name="Rectangle 22"/>
          <p:cNvSpPr/>
          <p:nvPr/>
        </p:nvSpPr>
        <p:spPr>
          <a:xfrm>
            <a:off x="685800" y="2578100"/>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2585720"/>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2640584"/>
            <a:ext cx="222358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RAGTruth, F1</a:t>
            </a:r>
          </a:p>
        </p:txBody>
      </p:sp>
      <p:sp>
        <p:nvSpPr>
          <p:cNvPr id="26" name="TextBox 25"/>
          <p:cNvSpPr txBox="1"/>
          <p:nvPr/>
        </p:nvSpPr>
        <p:spPr>
          <a:xfrm>
            <a:off x="3119694" y="2640584"/>
            <a:ext cx="1204556"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0.601</a:t>
            </a:r>
          </a:p>
        </p:txBody>
      </p:sp>
      <p:sp>
        <p:nvSpPr>
          <p:cNvPr id="27" name="TextBox 26"/>
          <p:cNvSpPr txBox="1"/>
          <p:nvPr/>
        </p:nvSpPr>
        <p:spPr>
          <a:xfrm>
            <a:off x="4452266" y="2640584"/>
            <a:ext cx="159648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0.518</a:t>
            </a:r>
          </a:p>
        </p:txBody>
      </p:sp>
      <p:sp>
        <p:nvSpPr>
          <p:cNvPr id="28" name="TextBox 27"/>
          <p:cNvSpPr txBox="1"/>
          <p:nvPr/>
        </p:nvSpPr>
        <p:spPr>
          <a:xfrm>
            <a:off x="6176771" y="2640584"/>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+0.083</a:t>
            </a:r>
          </a:p>
        </p:txBody>
      </p:sp>
      <p:sp>
        <p:nvSpPr>
          <p:cNvPr id="29" name="TextBox 28"/>
          <p:cNvSpPr txBox="1"/>
          <p:nvPr/>
        </p:nvSpPr>
        <p:spPr>
          <a:xfrm>
            <a:off x="7195796" y="2640584"/>
            <a:ext cx="277228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LettuceDetect 0.792, GPT-4 0.634</a:t>
            </a:r>
          </a:p>
        </p:txBody>
      </p:sp>
      <p:sp>
        <p:nvSpPr>
          <p:cNvPr id="30" name="TextBox 29"/>
          <p:cNvSpPr txBox="1"/>
          <p:nvPr/>
        </p:nvSpPr>
        <p:spPr>
          <a:xfrm>
            <a:off x="10096100" y="2640584"/>
            <a:ext cx="136132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In band</a:t>
            </a:r>
          </a:p>
        </p:txBody>
      </p:sp>
      <p:sp>
        <p:nvSpPr>
          <p:cNvPr id="31" name="Rectangle 30"/>
          <p:cNvSpPr/>
          <p:nvPr/>
        </p:nvSpPr>
        <p:spPr>
          <a:xfrm>
            <a:off x="685800" y="2896616"/>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2959100"/>
            <a:ext cx="222358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BeaverTails at 7% harm, F1</a:t>
            </a:r>
          </a:p>
        </p:txBody>
      </p:sp>
      <p:sp>
        <p:nvSpPr>
          <p:cNvPr id="33" name="TextBox 32"/>
          <p:cNvSpPr txBox="1"/>
          <p:nvPr/>
        </p:nvSpPr>
        <p:spPr>
          <a:xfrm>
            <a:off x="3119694" y="2959100"/>
            <a:ext cx="1204556"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0.165</a:t>
            </a:r>
          </a:p>
        </p:txBody>
      </p:sp>
      <p:sp>
        <p:nvSpPr>
          <p:cNvPr id="34" name="TextBox 33"/>
          <p:cNvSpPr txBox="1"/>
          <p:nvPr/>
        </p:nvSpPr>
        <p:spPr>
          <a:xfrm>
            <a:off x="4452266" y="2959100"/>
            <a:ext cx="159648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0.139</a:t>
            </a:r>
          </a:p>
        </p:txBody>
      </p:sp>
      <p:sp>
        <p:nvSpPr>
          <p:cNvPr id="35" name="TextBox 34"/>
          <p:cNvSpPr txBox="1"/>
          <p:nvPr/>
        </p:nvSpPr>
        <p:spPr>
          <a:xfrm>
            <a:off x="6176771" y="2959100"/>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+0.026</a:t>
            </a:r>
          </a:p>
        </p:txBody>
      </p:sp>
      <p:sp>
        <p:nvSpPr>
          <p:cNvPr id="36" name="TextBox 35"/>
          <p:cNvSpPr txBox="1"/>
          <p:nvPr/>
        </p:nvSpPr>
        <p:spPr>
          <a:xfrm>
            <a:off x="7195796" y="2959100"/>
            <a:ext cx="277228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None on our label mapping</a:t>
            </a:r>
          </a:p>
        </p:txBody>
      </p:sp>
      <p:sp>
        <p:nvSpPr>
          <p:cNvPr id="37" name="TextBox 36"/>
          <p:cNvSpPr txBox="1"/>
          <p:nvPr/>
        </p:nvSpPr>
        <p:spPr>
          <a:xfrm>
            <a:off x="10096100" y="2959100"/>
            <a:ext cx="136132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Margin only</a:t>
            </a:r>
          </a:p>
        </p:txBody>
      </p:sp>
      <p:sp>
        <p:nvSpPr>
          <p:cNvPr id="38" name="Rectangle 37"/>
          <p:cNvSpPr/>
          <p:nvPr/>
        </p:nvSpPr>
        <p:spPr>
          <a:xfrm>
            <a:off x="685800" y="3215132"/>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3222752"/>
            <a:ext cx="10817352" cy="310896"/>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3277616"/>
            <a:ext cx="2223582"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Aegis, AUPRC</a:t>
            </a:r>
          </a:p>
        </p:txBody>
      </p:sp>
      <p:sp>
        <p:nvSpPr>
          <p:cNvPr id="41" name="TextBox 40"/>
          <p:cNvSpPr txBox="1"/>
          <p:nvPr/>
        </p:nvSpPr>
        <p:spPr>
          <a:xfrm>
            <a:off x="3119694" y="3277616"/>
            <a:ext cx="1204556"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0.811</a:t>
            </a:r>
          </a:p>
        </p:txBody>
      </p:sp>
      <p:sp>
        <p:nvSpPr>
          <p:cNvPr id="42" name="TextBox 41"/>
          <p:cNvSpPr txBox="1"/>
          <p:nvPr/>
        </p:nvSpPr>
        <p:spPr>
          <a:xfrm>
            <a:off x="4452266" y="3277616"/>
            <a:ext cx="159648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0.661</a:t>
            </a:r>
          </a:p>
        </p:txBody>
      </p:sp>
      <p:sp>
        <p:nvSpPr>
          <p:cNvPr id="43" name="TextBox 42"/>
          <p:cNvSpPr txBox="1"/>
          <p:nvPr/>
        </p:nvSpPr>
        <p:spPr>
          <a:xfrm>
            <a:off x="6176771" y="3277616"/>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+0.151</a:t>
            </a:r>
          </a:p>
        </p:txBody>
      </p:sp>
      <p:sp>
        <p:nvSpPr>
          <p:cNvPr id="44" name="TextBox 43"/>
          <p:cNvSpPr txBox="1"/>
          <p:nvPr/>
        </p:nvSpPr>
        <p:spPr>
          <a:xfrm>
            <a:off x="7195796" y="3277616"/>
            <a:ext cx="277228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Band 0.860 to 0.941</a:t>
            </a:r>
          </a:p>
        </p:txBody>
      </p:sp>
      <p:sp>
        <p:nvSpPr>
          <p:cNvPr id="45" name="TextBox 44"/>
          <p:cNvSpPr txBox="1"/>
          <p:nvPr/>
        </p:nvSpPr>
        <p:spPr>
          <a:xfrm>
            <a:off x="10096100" y="3277616"/>
            <a:ext cx="1361329"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Below band, failed</a:t>
            </a:r>
          </a:p>
        </p:txBody>
      </p:sp>
      <p:sp>
        <p:nvSpPr>
          <p:cNvPr id="46" name="Rectangle 45"/>
          <p:cNvSpPr/>
          <p:nvPr/>
        </p:nvSpPr>
        <p:spPr>
          <a:xfrm>
            <a:off x="685800" y="353364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68096" y="3596132"/>
            <a:ext cx="222358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OR-Bench, AUC</a:t>
            </a:r>
          </a:p>
        </p:txBody>
      </p:sp>
      <p:sp>
        <p:nvSpPr>
          <p:cNvPr id="48" name="TextBox 47"/>
          <p:cNvSpPr txBox="1"/>
          <p:nvPr/>
        </p:nvSpPr>
        <p:spPr>
          <a:xfrm>
            <a:off x="3119694" y="3596132"/>
            <a:ext cx="1204556"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0.784</a:t>
            </a:r>
          </a:p>
        </p:txBody>
      </p:sp>
      <p:sp>
        <p:nvSpPr>
          <p:cNvPr id="49" name="TextBox 48"/>
          <p:cNvSpPr txBox="1"/>
          <p:nvPr/>
        </p:nvSpPr>
        <p:spPr>
          <a:xfrm>
            <a:off x="4452266" y="3596132"/>
            <a:ext cx="159648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0.500</a:t>
            </a:r>
          </a:p>
        </p:txBody>
      </p:sp>
      <p:sp>
        <p:nvSpPr>
          <p:cNvPr id="50" name="TextBox 49"/>
          <p:cNvSpPr txBox="1"/>
          <p:nvPr/>
        </p:nvSpPr>
        <p:spPr>
          <a:xfrm>
            <a:off x="6176771" y="3596132"/>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+0.284</a:t>
            </a:r>
          </a:p>
        </p:txBody>
      </p:sp>
      <p:sp>
        <p:nvSpPr>
          <p:cNvPr id="51" name="TextBox 50"/>
          <p:cNvSpPr txBox="1"/>
          <p:nvPr/>
        </p:nvSpPr>
        <p:spPr>
          <a:xfrm>
            <a:off x="7195796" y="3596132"/>
            <a:ext cx="2772288"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Operating point compared separately</a:t>
            </a:r>
          </a:p>
        </p:txBody>
      </p:sp>
      <p:sp>
        <p:nvSpPr>
          <p:cNvPr id="52" name="TextBox 51"/>
          <p:cNvSpPr txBox="1"/>
          <p:nvPr/>
        </p:nvSpPr>
        <p:spPr>
          <a:xfrm>
            <a:off x="10096100" y="3596132"/>
            <a:ext cx="136132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Partial</a:t>
            </a:r>
          </a:p>
        </p:txBody>
      </p:sp>
      <p:sp>
        <p:nvSpPr>
          <p:cNvPr id="53" name="Rectangle 52"/>
          <p:cNvSpPr/>
          <p:nvPr/>
        </p:nvSpPr>
        <p:spPr>
          <a:xfrm>
            <a:off x="685800" y="3852164"/>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 y="4160520"/>
            <a:ext cx="10817352" cy="3657600"/>
          </a:xfrm>
          <a:prstGeom prst="rect">
            <a:avLst/>
          </a:prstGeom>
          <a:noFill/>
        </p:spPr>
        <p:txBody>
          <a:bodyPr wrap="square" lIns="0" rIns="0" tIns="0" bIns="0">
            <a:spAutoFit/>
          </a:bodyPr>
          <a:lstStyle/>
          <a:p>
            <a:pPr algn="l">
              <a:lnSpc>
                <a:spcPct val="120000"/>
              </a:lnSpc>
              <a:spcAft>
                <a:spcPts val="100"/>
              </a:spcAft>
            </a:pPr>
            <a:r>
              <a:rPr sz="1250" b="1">
                <a:solidFill>
                  <a:srgbClr val="17121F"/>
                </a:solidFill>
                <a:latin typeface="Segoe UI"/>
              </a:rPr>
              <a:t>Allocation is not universally better than a well tuned fixed rate policy. </a:t>
            </a:r>
          </a:p>
          <a:p>
            <a:pPr algn="l">
              <a:lnSpc>
                <a:spcPct val="120000"/>
              </a:lnSpc>
              <a:spcAft>
                <a:spcPts val="800"/>
              </a:spcAft>
            </a:pPr>
            <a:r>
              <a:rPr sz="1250" b="0">
                <a:solidFill>
                  <a:srgbClr val="2E2838"/>
                </a:solidFill>
                <a:latin typeface="Segoe UI"/>
              </a:rPr>
              <a:t>At matched spend it wins 5 of 7 budgets on our corpus and only 1 of 7 on Aegis. It helps when the harm mix varies and blanket cheap coverage is unaffordable, and both conditions are computable before deployment.</a:t>
            </a:r>
          </a:p>
          <a:p>
            <a:pPr algn="l">
              <a:lnSpc>
                <a:spcPct val="120000"/>
              </a:lnSpc>
              <a:spcAft>
                <a:spcPts val="100"/>
              </a:spcAft>
            </a:pPr>
            <a:r>
              <a:rPr sz="1250" b="1">
                <a:solidFill>
                  <a:srgbClr val="17121F"/>
                </a:solidFill>
                <a:latin typeface="Segoe UI"/>
              </a:rPr>
              <a:t>The learning loop currently refuses on all three routes. </a:t>
            </a:r>
          </a:p>
          <a:p>
            <a:pPr algn="l">
              <a:lnSpc>
                <a:spcPct val="120000"/>
              </a:lnSpc>
              <a:spcAft>
                <a:spcPts val="800"/>
              </a:spcAft>
            </a:pPr>
            <a:r>
              <a:rPr sz="1250" b="0">
                <a:solidFill>
                  <a:srgbClr val="2E2838"/>
                </a:solidFill>
                <a:latin typeface="Segoe UI"/>
              </a:rPr>
              <a:t>A single pass over 1,500 rows yields 73 usable labelled pairs against roughly 100 per route needed, so make relearn declines to release and says why. That is the gate working.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13</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Current validation boundaries</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12</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481328"/>
            <a:ext cx="10817352" cy="310896"/>
          </a:xfrm>
          <a:prstGeom prst="rect">
            <a:avLst/>
          </a:prstGeom>
          <a:noFill/>
        </p:spPr>
        <p:txBody>
          <a:bodyPr wrap="square" lIns="0" rIns="0" tIns="0" bIns="0">
            <a:spAutoFit/>
          </a:bodyPr>
          <a:lstStyle/>
          <a:p>
            <a:pPr algn="l">
              <a:lnSpc>
                <a:spcPct val="100000"/>
              </a:lnSpc>
              <a:spcAft>
                <a:spcPts val="0"/>
              </a:spcAft>
            </a:pPr>
            <a:r>
              <a:rPr sz="1400" b="0">
                <a:solidFill>
                  <a:srgbClr val="2E2838"/>
                </a:solidFill>
                <a:latin typeface="Segoe UI"/>
              </a:rPr>
              <a:t>Being straight about this is more useful than claiming readiness. This is what a production deployment would have to close.</a:t>
            </a:r>
          </a:p>
        </p:txBody>
      </p:sp>
      <p:sp>
        <p:nvSpPr>
          <p:cNvPr id="9" name="Rectangle 8"/>
          <p:cNvSpPr/>
          <p:nvPr/>
        </p:nvSpPr>
        <p:spPr>
          <a:xfrm>
            <a:off x="685800" y="1938528"/>
            <a:ext cx="10817352" cy="365760"/>
          </a:xfrm>
          <a:prstGeom prst="rect">
            <a:avLst/>
          </a:prstGeom>
          <a:solidFill>
            <a:srgbClr val="F1E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07108"/>
            <a:ext cx="2929061"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Boundary</a:t>
            </a:r>
          </a:p>
        </p:txBody>
      </p:sp>
      <p:sp>
        <p:nvSpPr>
          <p:cNvPr id="11" name="TextBox 10"/>
          <p:cNvSpPr txBox="1"/>
          <p:nvPr/>
        </p:nvSpPr>
        <p:spPr>
          <a:xfrm>
            <a:off x="3825173" y="2007108"/>
            <a:ext cx="891009"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Severity</a:t>
            </a:r>
          </a:p>
        </p:txBody>
      </p:sp>
      <p:sp>
        <p:nvSpPr>
          <p:cNvPr id="12" name="TextBox 11"/>
          <p:cNvSpPr txBox="1"/>
          <p:nvPr/>
        </p:nvSpPr>
        <p:spPr>
          <a:xfrm>
            <a:off x="4844198" y="2007108"/>
            <a:ext cx="6613232" cy="219456"/>
          </a:xfrm>
          <a:prstGeom prst="rect">
            <a:avLst/>
          </a:prstGeom>
          <a:noFill/>
        </p:spPr>
        <p:txBody>
          <a:bodyPr wrap="square" lIns="0" rIns="0" tIns="0" bIns="0">
            <a:spAutoFit/>
          </a:bodyPr>
          <a:lstStyle/>
          <a:p>
            <a:pPr algn="l">
              <a:lnSpc>
                <a:spcPct val="100000"/>
              </a:lnSpc>
              <a:spcAft>
                <a:spcPts val="0"/>
              </a:spcAft>
            </a:pPr>
            <a:r>
              <a:rPr sz="1000" b="1">
                <a:solidFill>
                  <a:srgbClr val="17121F"/>
                </a:solidFill>
                <a:latin typeface="Segoe UI"/>
              </a:rPr>
              <a:t>What it means and what closes it</a:t>
            </a:r>
          </a:p>
        </p:txBody>
      </p:sp>
      <p:sp>
        <p:nvSpPr>
          <p:cNvPr id="13" name="Rectangle 12"/>
          <p:cNvSpPr/>
          <p:nvPr/>
        </p:nvSpPr>
        <p:spPr>
          <a:xfrm>
            <a:off x="685800" y="2304288"/>
            <a:ext cx="10817352" cy="1778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2376932"/>
            <a:ext cx="2929061"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Calibration fitted on synthetic traffic</a:t>
            </a:r>
          </a:p>
        </p:txBody>
      </p:sp>
      <p:sp>
        <p:nvSpPr>
          <p:cNvPr id="15" name="TextBox 14"/>
          <p:cNvSpPr txBox="1"/>
          <p:nvPr/>
        </p:nvSpPr>
        <p:spPr>
          <a:xfrm>
            <a:off x="3825173" y="2376932"/>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High</a:t>
            </a:r>
          </a:p>
        </p:txBody>
      </p:sp>
      <p:sp>
        <p:nvSpPr>
          <p:cNvPr id="16" name="TextBox 15"/>
          <p:cNvSpPr txBox="1"/>
          <p:nvPr/>
        </p:nvSpPr>
        <p:spPr>
          <a:xfrm>
            <a:off x="4844198" y="2376932"/>
            <a:ext cx="661323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Maps and thresholds do not transfer. Roughly 500 labelled rows per route, about four weeks of one reviewer</a:t>
            </a:r>
          </a:p>
        </p:txBody>
      </p:sp>
      <p:sp>
        <p:nvSpPr>
          <p:cNvPr id="17" name="Rectangle 16"/>
          <p:cNvSpPr/>
          <p:nvPr/>
        </p:nvSpPr>
        <p:spPr>
          <a:xfrm>
            <a:off x="685800" y="268782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2695448"/>
            <a:ext cx="10817352" cy="365760"/>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2750312"/>
            <a:ext cx="2929061"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Drift breaks the bound silently</a:t>
            </a:r>
          </a:p>
        </p:txBody>
      </p:sp>
      <p:sp>
        <p:nvSpPr>
          <p:cNvPr id="20" name="TextBox 19"/>
          <p:cNvSpPr txBox="1"/>
          <p:nvPr/>
        </p:nvSpPr>
        <p:spPr>
          <a:xfrm>
            <a:off x="3825173" y="2750312"/>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High</a:t>
            </a:r>
          </a:p>
        </p:txBody>
      </p:sp>
      <p:sp>
        <p:nvSpPr>
          <p:cNvPr id="21" name="TextBox 20"/>
          <p:cNvSpPr txBox="1"/>
          <p:nvPr/>
        </p:nvSpPr>
        <p:spPr>
          <a:xfrm>
            <a:off x="4844198" y="2750312"/>
            <a:ext cx="661323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The guarantee is valid only for the distribution it was calibrated on. Drift detection is not built</a:t>
            </a:r>
          </a:p>
        </p:txBody>
      </p:sp>
      <p:sp>
        <p:nvSpPr>
          <p:cNvPr id="22" name="Rectangle 21"/>
          <p:cNvSpPr/>
          <p:nvPr/>
        </p:nvSpPr>
        <p:spPr>
          <a:xfrm>
            <a:off x="685800" y="306120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3123692"/>
            <a:ext cx="2929061"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Tier 2 is a deterministic stand in</a:t>
            </a:r>
          </a:p>
        </p:txBody>
      </p:sp>
      <p:sp>
        <p:nvSpPr>
          <p:cNvPr id="24" name="TextBox 23"/>
          <p:cNvSpPr txBox="1"/>
          <p:nvPr/>
        </p:nvSpPr>
        <p:spPr>
          <a:xfrm>
            <a:off x="3825173" y="3123692"/>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Medium</a:t>
            </a:r>
          </a:p>
        </p:txBody>
      </p:sp>
      <p:sp>
        <p:nvSpPr>
          <p:cNvPr id="25" name="TextBox 24"/>
          <p:cNvSpPr txBox="1"/>
          <p:nvPr/>
        </p:nvSpPr>
        <p:spPr>
          <a:xfrm>
            <a:off x="4844198" y="3123692"/>
            <a:ext cx="661323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The adapter exists and two real adapters are written against it. A production judge must be built and re measured</a:t>
            </a:r>
          </a:p>
        </p:txBody>
      </p:sp>
      <p:sp>
        <p:nvSpPr>
          <p:cNvPr id="26" name="Rectangle 25"/>
          <p:cNvSpPr/>
          <p:nvPr/>
        </p:nvSpPr>
        <p:spPr>
          <a:xfrm>
            <a:off x="685800" y="343458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 y="3442208"/>
            <a:ext cx="10817352" cy="365760"/>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497072"/>
            <a:ext cx="2929061"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Single process state</a:t>
            </a:r>
          </a:p>
        </p:txBody>
      </p:sp>
      <p:sp>
        <p:nvSpPr>
          <p:cNvPr id="29" name="TextBox 28"/>
          <p:cNvSpPr txBox="1"/>
          <p:nvPr/>
        </p:nvSpPr>
        <p:spPr>
          <a:xfrm>
            <a:off x="3825173" y="3497072"/>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Medium</a:t>
            </a:r>
          </a:p>
        </p:txBody>
      </p:sp>
      <p:sp>
        <p:nvSpPr>
          <p:cNvPr id="30" name="TextBox 29"/>
          <p:cNvSpPr txBox="1"/>
          <p:nvPr/>
        </p:nvSpPr>
        <p:spPr>
          <a:xfrm>
            <a:off x="4844198" y="3497072"/>
            <a:ext cx="661323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The ledger and budget controller assume one process. Multiple workers need shared state</a:t>
            </a:r>
          </a:p>
        </p:txBody>
      </p:sp>
      <p:sp>
        <p:nvSpPr>
          <p:cNvPr id="31" name="Rectangle 30"/>
          <p:cNvSpPr/>
          <p:nvPr/>
        </p:nvSpPr>
        <p:spPr>
          <a:xfrm>
            <a:off x="685800" y="380796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3870452"/>
            <a:ext cx="2929061"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Effect gate has no durable lease</a:t>
            </a:r>
          </a:p>
        </p:txBody>
      </p:sp>
      <p:sp>
        <p:nvSpPr>
          <p:cNvPr id="33" name="TextBox 32"/>
          <p:cNvSpPr txBox="1"/>
          <p:nvPr/>
        </p:nvSpPr>
        <p:spPr>
          <a:xfrm>
            <a:off x="3825173" y="3870452"/>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Medium</a:t>
            </a:r>
          </a:p>
        </p:txBody>
      </p:sp>
      <p:sp>
        <p:nvSpPr>
          <p:cNvPr id="34" name="TextBox 33"/>
          <p:cNvSpPr txBox="1"/>
          <p:nvPr/>
        </p:nvSpPr>
        <p:spPr>
          <a:xfrm>
            <a:off x="4844198" y="3870452"/>
            <a:ext cx="661323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It decides and records. It does not hold a lock across a crash</a:t>
            </a:r>
          </a:p>
        </p:txBody>
      </p:sp>
      <p:sp>
        <p:nvSpPr>
          <p:cNvPr id="35" name="Rectangle 34"/>
          <p:cNvSpPr/>
          <p:nvPr/>
        </p:nvSpPr>
        <p:spPr>
          <a:xfrm>
            <a:off x="685800" y="418134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5800" y="4188968"/>
            <a:ext cx="10817352" cy="365760"/>
          </a:xfrm>
          <a:prstGeom prst="rect">
            <a:avLst/>
          </a:prstGeom>
          <a:solidFill>
            <a:srgbClr val="FBF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243832"/>
            <a:ext cx="2929061" cy="237744"/>
          </a:xfrm>
          <a:prstGeom prst="rect">
            <a:avLst/>
          </a:prstGeom>
          <a:noFill/>
        </p:spPr>
        <p:txBody>
          <a:bodyPr wrap="square" lIns="0" rIns="0" tIns="0" bIns="0">
            <a:spAutoFit/>
          </a:bodyPr>
          <a:lstStyle/>
          <a:p>
            <a:pPr algn="l">
              <a:lnSpc>
                <a:spcPct val="100000"/>
              </a:lnSpc>
              <a:spcAft>
                <a:spcPts val="0"/>
              </a:spcAft>
            </a:pPr>
            <a:r>
              <a:rPr sz="1100" b="1">
                <a:solidFill>
                  <a:srgbClr val="17121F"/>
                </a:solidFill>
                <a:latin typeface="Segoe UI"/>
              </a:rPr>
              <a:t>Consequence prices need finance sign off</a:t>
            </a:r>
          </a:p>
        </p:txBody>
      </p:sp>
      <p:sp>
        <p:nvSpPr>
          <p:cNvPr id="38" name="TextBox 37"/>
          <p:cNvSpPr txBox="1"/>
          <p:nvPr/>
        </p:nvSpPr>
        <p:spPr>
          <a:xfrm>
            <a:off x="3825173" y="4243832"/>
            <a:ext cx="891009"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Low</a:t>
            </a:r>
          </a:p>
        </p:txBody>
      </p:sp>
      <p:sp>
        <p:nvSpPr>
          <p:cNvPr id="39" name="TextBox 38"/>
          <p:cNvSpPr txBox="1"/>
          <p:nvPr/>
        </p:nvSpPr>
        <p:spPr>
          <a:xfrm>
            <a:off x="4844198" y="4243832"/>
            <a:ext cx="6613232" cy="237744"/>
          </a:xfrm>
          <a:prstGeom prst="rect">
            <a:avLst/>
          </a:prstGeom>
          <a:noFill/>
        </p:spPr>
        <p:txBody>
          <a:bodyPr wrap="square" lIns="0" rIns="0" tIns="0" bIns="0">
            <a:spAutoFit/>
          </a:bodyPr>
          <a:lstStyle/>
          <a:p>
            <a:pPr algn="l">
              <a:lnSpc>
                <a:spcPct val="100000"/>
              </a:lnSpc>
              <a:spcAft>
                <a:spcPts val="0"/>
              </a:spcAft>
            </a:pPr>
            <a:r>
              <a:rPr sz="1100" b="0">
                <a:solidFill>
                  <a:srgbClr val="2E2838"/>
                </a:solidFill>
                <a:latin typeface="Segoe UI"/>
              </a:rPr>
              <a:t>Getting this wrong costs money rather than safety, because price does not enter the release rule</a:t>
            </a:r>
          </a:p>
        </p:txBody>
      </p:sp>
      <p:sp>
        <p:nvSpPr>
          <p:cNvPr id="40" name="Rectangle 39"/>
          <p:cNvSpPr/>
          <p:nvPr/>
        </p:nvSpPr>
        <p:spPr>
          <a:xfrm>
            <a:off x="685800" y="4554728"/>
            <a:ext cx="10817352" cy="7620"/>
          </a:xfrm>
          <a:prstGeom prst="rect">
            <a:avLst/>
          </a:prstGeom>
          <a:solidFill>
            <a:srgbClr val="E3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 y="5074920"/>
            <a:ext cx="10817352" cy="1005840"/>
          </a:xfrm>
          <a:prstGeom prst="rect">
            <a:avLst/>
          </a:prstGeom>
          <a:solidFill>
            <a:srgbClr val="FFF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85800" y="5074920"/>
            <a:ext cx="43180" cy="1005840"/>
          </a:xfrm>
          <a:prstGeom prst="rect">
            <a:avLst/>
          </a:prstGeom>
          <a:solidFill>
            <a:srgbClr val="9A5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193792"/>
            <a:ext cx="10415016" cy="786384"/>
          </a:xfrm>
          <a:prstGeom prst="rect">
            <a:avLst/>
          </a:prstGeom>
          <a:noFill/>
        </p:spPr>
        <p:txBody>
          <a:bodyPr wrap="square" lIns="0" rIns="0" tIns="0" bIns="0">
            <a:spAutoFit/>
          </a:bodyPr>
          <a:lstStyle/>
          <a:p>
            <a:pPr algn="l">
              <a:lnSpc>
                <a:spcPct val="116000"/>
              </a:lnSpc>
              <a:spcAft>
                <a:spcPts val="300"/>
              </a:spcAft>
            </a:pPr>
            <a:r>
              <a:rPr sz="1200" b="1">
                <a:solidFill>
                  <a:srgbClr val="9A5B00"/>
                </a:solidFill>
                <a:latin typeface="Segoe UI"/>
              </a:rPr>
              <a:t>Most reviewer labels cannot be learned from. </a:t>
            </a:r>
          </a:p>
          <a:p>
            <a:pPr algn="l">
              <a:lnSpc>
                <a:spcPct val="116000"/>
              </a:lnSpc>
              <a:spcAft>
                <a:spcPts val="0"/>
              </a:spcAft>
            </a:pPr>
            <a:r>
              <a:rPr sz="1200" b="0">
                <a:solidFill>
                  <a:srgbClr val="2E2838"/>
                </a:solidFill>
                <a:latin typeface="Segoe UI"/>
              </a:rPr>
              <a:t>The queue serves by value, so harmful rows are likelier to be reviewed within the raised population. That is selection inside a stratum and no stratum level weight undoes it. The sample runs 37.2% harmful against 18.4% in traffic, and weighting moved it only to 38.2%. That is why one reviewer slot in five is filled at random.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84048"/>
            <a:ext cx="10058400" cy="228600"/>
          </a:xfrm>
          <a:prstGeom prst="rect">
            <a:avLst/>
          </a:prstGeom>
          <a:noFill/>
        </p:spPr>
        <p:txBody>
          <a:bodyPr wrap="square" lIns="0" rIns="0" tIns="0" bIns="0">
            <a:spAutoFit/>
          </a:bodyPr>
          <a:lstStyle/>
          <a:p>
            <a:pPr algn="l">
              <a:lnSpc>
                <a:spcPct val="100000"/>
              </a:lnSpc>
              <a:spcAft>
                <a:spcPts val="0"/>
              </a:spcAft>
            </a:pPr>
            <a:r>
              <a:rPr sz="1000" b="1">
                <a:solidFill>
                  <a:srgbClr val="6D28D9"/>
                </a:solidFill>
                <a:latin typeface="Segoe UI"/>
              </a:rPr>
              <a:t>14</a:t>
            </a:r>
          </a:p>
        </p:txBody>
      </p:sp>
      <p:sp>
        <p:nvSpPr>
          <p:cNvPr id="4" name="TextBox 3"/>
          <p:cNvSpPr txBox="1"/>
          <p:nvPr/>
        </p:nvSpPr>
        <p:spPr>
          <a:xfrm>
            <a:off x="685800" y="621792"/>
            <a:ext cx="10789920" cy="502920"/>
          </a:xfrm>
          <a:prstGeom prst="rect">
            <a:avLst/>
          </a:prstGeom>
          <a:noFill/>
        </p:spPr>
        <p:txBody>
          <a:bodyPr wrap="square" lIns="0" rIns="0" tIns="0" bIns="0">
            <a:spAutoFit/>
          </a:bodyPr>
          <a:lstStyle/>
          <a:p>
            <a:pPr algn="l">
              <a:lnSpc>
                <a:spcPct val="100000"/>
              </a:lnSpc>
              <a:spcAft>
                <a:spcPts val="0"/>
              </a:spcAft>
            </a:pPr>
            <a:r>
              <a:rPr sz="2700" b="1">
                <a:solidFill>
                  <a:srgbClr val="17121F"/>
                </a:solidFill>
                <a:latin typeface="Segoe UI"/>
              </a:rPr>
              <a:t>Conclusion</a:t>
            </a:r>
          </a:p>
        </p:txBody>
      </p:sp>
      <p:sp>
        <p:nvSpPr>
          <p:cNvPr id="5" name="Rectangle 4"/>
          <p:cNvSpPr/>
          <p:nvPr/>
        </p:nvSpPr>
        <p:spPr>
          <a:xfrm>
            <a:off x="685800" y="1207008"/>
            <a:ext cx="10817352" cy="279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81360" y="6345936"/>
            <a:ext cx="640080" cy="228600"/>
          </a:xfrm>
          <a:prstGeom prst="rect">
            <a:avLst/>
          </a:prstGeom>
          <a:noFill/>
        </p:spPr>
        <p:txBody>
          <a:bodyPr wrap="square" lIns="0" rIns="0" tIns="0" bIns="0">
            <a:spAutoFit/>
          </a:bodyPr>
          <a:lstStyle/>
          <a:p>
            <a:pPr algn="r">
              <a:lnSpc>
                <a:spcPct val="100000"/>
              </a:lnSpc>
              <a:spcAft>
                <a:spcPts val="0"/>
              </a:spcAft>
            </a:pPr>
            <a:r>
              <a:rPr sz="1000" b="1">
                <a:solidFill>
                  <a:srgbClr val="6B6478"/>
                </a:solidFill>
                <a:latin typeface="Segoe UI"/>
              </a:rPr>
              <a:t>13</a:t>
            </a:r>
          </a:p>
        </p:txBody>
      </p:sp>
      <p:sp>
        <p:nvSpPr>
          <p:cNvPr id="7" name="TextBox 6"/>
          <p:cNvSpPr txBox="1"/>
          <p:nvPr/>
        </p:nvSpPr>
        <p:spPr>
          <a:xfrm>
            <a:off x="685800" y="6345936"/>
            <a:ext cx="5486400" cy="228600"/>
          </a:xfrm>
          <a:prstGeom prst="rect">
            <a:avLst/>
          </a:prstGeom>
          <a:noFill/>
        </p:spPr>
        <p:txBody>
          <a:bodyPr wrap="square" lIns="0" rIns="0" tIns="0" bIns="0">
            <a:spAutoFit/>
          </a:bodyPr>
          <a:lstStyle/>
          <a:p>
            <a:pPr algn="l">
              <a:lnSpc>
                <a:spcPct val="100000"/>
              </a:lnSpc>
              <a:spcAft>
                <a:spcPts val="0"/>
              </a:spcAft>
            </a:pPr>
            <a:r>
              <a:rPr sz="900" b="0">
                <a:solidFill>
                  <a:srgbClr val="6B6478"/>
                </a:solidFill>
                <a:latin typeface="Segoe UI"/>
              </a:rPr>
              <a:t>ControlPlane  .  Detailed Solution Document</a:t>
            </a:r>
          </a:p>
        </p:txBody>
      </p:sp>
      <p:sp>
        <p:nvSpPr>
          <p:cNvPr id="8" name="TextBox 7"/>
          <p:cNvSpPr txBox="1"/>
          <p:nvPr/>
        </p:nvSpPr>
        <p:spPr>
          <a:xfrm>
            <a:off x="685800" y="1600200"/>
            <a:ext cx="10817352" cy="914400"/>
          </a:xfrm>
          <a:prstGeom prst="rect">
            <a:avLst/>
          </a:prstGeom>
          <a:noFill/>
        </p:spPr>
        <p:txBody>
          <a:bodyPr wrap="square" lIns="0" rIns="0" tIns="0" bIns="0">
            <a:spAutoFit/>
          </a:bodyPr>
          <a:lstStyle/>
          <a:p>
            <a:pPr algn="l">
              <a:lnSpc>
                <a:spcPct val="130000"/>
              </a:lnSpc>
              <a:spcAft>
                <a:spcPts val="0"/>
              </a:spcAft>
            </a:pPr>
            <a:r>
              <a:rPr sz="1600" b="0">
                <a:solidFill>
                  <a:srgbClr val="2E2838"/>
                </a:solidFill>
                <a:latin typeface="Segoe UI"/>
              </a:rPr>
              <a:t>ControlPlane demonstrates that verification of AI output can be run as a priced decision rather than a fixed rule. Doing so is worth roughly 90% of the protection of checking everything for a tenth of the compute, while holding a safety bound the budget cannot switch off and producing a record that can be recomputed rather than trusted.</a:t>
            </a:r>
          </a:p>
        </p:txBody>
      </p:sp>
      <p:sp>
        <p:nvSpPr>
          <p:cNvPr id="9" name="TextBox 8"/>
          <p:cNvSpPr txBox="1"/>
          <p:nvPr/>
        </p:nvSpPr>
        <p:spPr>
          <a:xfrm>
            <a:off x="685800" y="2788920"/>
            <a:ext cx="10817352" cy="731520"/>
          </a:xfrm>
          <a:prstGeom prst="rect">
            <a:avLst/>
          </a:prstGeom>
          <a:noFill/>
        </p:spPr>
        <p:txBody>
          <a:bodyPr wrap="square" lIns="0" rIns="0" tIns="0" bIns="0">
            <a:spAutoFit/>
          </a:bodyPr>
          <a:lstStyle/>
          <a:p>
            <a:pPr algn="l">
              <a:lnSpc>
                <a:spcPct val="125000"/>
              </a:lnSpc>
              <a:spcAft>
                <a:spcPts val="0"/>
              </a:spcAft>
            </a:pPr>
            <a:r>
              <a:rPr sz="1400" b="0">
                <a:solidFill>
                  <a:srgbClr val="2E2838"/>
                </a:solidFill>
                <a:latin typeface="Segoe UI"/>
              </a:rPr>
              <a:t>It also demonstrates the limits of that claim honestly. Allocation helps under conditions computable in advance and does not help outside them. The detectors are stubs, which is what makes the allocation result attributable and is the first thing a deployment would replace. The reviewer queue, not the compute budget, is where the money and the risk actually sit.</a:t>
            </a:r>
          </a:p>
        </p:txBody>
      </p:sp>
      <p:sp>
        <p:nvSpPr>
          <p:cNvPr id="10" name="Rectangle 9"/>
          <p:cNvSpPr/>
          <p:nvPr/>
        </p:nvSpPr>
        <p:spPr>
          <a:xfrm>
            <a:off x="685800" y="3977639"/>
            <a:ext cx="10817352" cy="1005840"/>
          </a:xfrm>
          <a:prstGeom prst="rect">
            <a:avLst/>
          </a:prstGeom>
          <a:solidFill>
            <a:srgbClr val="F8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977639"/>
            <a:ext cx="43180" cy="100584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4096511"/>
            <a:ext cx="10415016" cy="786384"/>
          </a:xfrm>
          <a:prstGeom prst="rect">
            <a:avLst/>
          </a:prstGeom>
          <a:noFill/>
        </p:spPr>
        <p:txBody>
          <a:bodyPr wrap="square" lIns="0" rIns="0" tIns="0" bIns="0">
            <a:spAutoFit/>
          </a:bodyPr>
          <a:lstStyle/>
          <a:p>
            <a:pPr algn="l">
              <a:lnSpc>
                <a:spcPct val="116000"/>
              </a:lnSpc>
              <a:spcAft>
                <a:spcPts val="300"/>
              </a:spcAft>
            </a:pPr>
            <a:r>
              <a:rPr sz="1200" b="1">
                <a:solidFill>
                  <a:srgbClr val="3B0764"/>
                </a:solidFill>
                <a:latin typeface="Segoe UI"/>
              </a:rPr>
              <a:t>The next step is the one the evidence points at. </a:t>
            </a:r>
          </a:p>
          <a:p>
            <a:pPr algn="l">
              <a:lnSpc>
                <a:spcPct val="116000"/>
              </a:lnSpc>
              <a:spcAft>
                <a:spcPts val="0"/>
              </a:spcAft>
            </a:pPr>
            <a:r>
              <a:rPr sz="1200" b="0">
                <a:solidFill>
                  <a:srgbClr val="2E2838"/>
                </a:solidFill>
                <a:latin typeface="Segoe UI"/>
              </a:rPr>
              <a:t>Take one route in one enterprise, run the gateway in shadow mode beside the existing stack, put a real judge behind the Tier 2 adapter, and refit calibration on that route's own labelled traffic until the learning loop stops refusing to release. Everything needed to do that is in this repository.</a:t>
            </a:r>
          </a:p>
        </p:txBody>
      </p:sp>
      <p:sp>
        <p:nvSpPr>
          <p:cNvPr id="13" name="TextBox 12"/>
          <p:cNvSpPr txBox="1"/>
          <p:nvPr/>
        </p:nvSpPr>
        <p:spPr>
          <a:xfrm>
            <a:off x="685800" y="5349240"/>
            <a:ext cx="10817352" cy="365760"/>
          </a:xfrm>
          <a:prstGeom prst="rect">
            <a:avLst/>
          </a:prstGeom>
          <a:noFill/>
        </p:spPr>
        <p:txBody>
          <a:bodyPr wrap="square" lIns="0" rIns="0" tIns="0" bIns="0">
            <a:spAutoFit/>
          </a:bodyPr>
          <a:lstStyle/>
          <a:p>
            <a:pPr algn="l">
              <a:lnSpc>
                <a:spcPct val="100000"/>
              </a:lnSpc>
              <a:spcAft>
                <a:spcPts val="0"/>
              </a:spcAft>
            </a:pPr>
            <a:r>
              <a:rPr sz="1300" b="1">
                <a:solidFill>
                  <a:srgbClr val="6D28D9"/>
                </a:solidFill>
                <a:latin typeface="Segoe UI"/>
              </a:rPr>
              <a:t>github.com/Advait-Pathak9222/BurningShadows      .      make demo      .      make prototype      .      ./run_submission.sh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